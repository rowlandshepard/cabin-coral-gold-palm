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4"/>
  </p:notesMasterIdLst>
  <p:handoutMasterIdLst>
    <p:handoutMasterId r:id="rId75"/>
  </p:handoutMasterIdLst>
  <p:sldIdLst>
    <p:sldId id="409" r:id="rId2"/>
    <p:sldId id="1000" r:id="rId3"/>
    <p:sldId id="560" r:id="rId4"/>
    <p:sldId id="772" r:id="rId5"/>
    <p:sldId id="1002" r:id="rId6"/>
    <p:sldId id="1004" r:id="rId7"/>
    <p:sldId id="1048" r:id="rId8"/>
    <p:sldId id="1049" r:id="rId9"/>
    <p:sldId id="1050" r:id="rId10"/>
    <p:sldId id="1051" r:id="rId11"/>
    <p:sldId id="1052" r:id="rId12"/>
    <p:sldId id="1053" r:id="rId13"/>
    <p:sldId id="1025" r:id="rId14"/>
    <p:sldId id="1028" r:id="rId15"/>
    <p:sldId id="1031" r:id="rId16"/>
    <p:sldId id="1032" r:id="rId17"/>
    <p:sldId id="1033" r:id="rId18"/>
    <p:sldId id="1054" r:id="rId19"/>
    <p:sldId id="1042" r:id="rId20"/>
    <p:sldId id="1043" r:id="rId21"/>
    <p:sldId id="1044" r:id="rId22"/>
    <p:sldId id="1045" r:id="rId23"/>
    <p:sldId id="1046" r:id="rId24"/>
    <p:sldId id="556" r:id="rId25"/>
    <p:sldId id="601" r:id="rId26"/>
    <p:sldId id="533" r:id="rId27"/>
    <p:sldId id="535" r:id="rId28"/>
    <p:sldId id="1055" r:id="rId29"/>
    <p:sldId id="1056" r:id="rId30"/>
    <p:sldId id="1057" r:id="rId31"/>
    <p:sldId id="1058" r:id="rId32"/>
    <p:sldId id="1059" r:id="rId33"/>
    <p:sldId id="773" r:id="rId34"/>
    <p:sldId id="562" r:id="rId35"/>
    <p:sldId id="596" r:id="rId36"/>
    <p:sldId id="597" r:id="rId37"/>
    <p:sldId id="598" r:id="rId38"/>
    <p:sldId id="551" r:id="rId39"/>
    <p:sldId id="780" r:id="rId40"/>
    <p:sldId id="600" r:id="rId41"/>
    <p:sldId id="311" r:id="rId42"/>
    <p:sldId id="777" r:id="rId43"/>
    <p:sldId id="590" r:id="rId44"/>
    <p:sldId id="552" r:id="rId45"/>
    <p:sldId id="778" r:id="rId46"/>
    <p:sldId id="1013" r:id="rId47"/>
    <p:sldId id="310" r:id="rId48"/>
    <p:sldId id="354" r:id="rId49"/>
    <p:sldId id="306" r:id="rId50"/>
    <p:sldId id="385" r:id="rId51"/>
    <p:sldId id="387" r:id="rId52"/>
    <p:sldId id="1034" r:id="rId53"/>
    <p:sldId id="337" r:id="rId54"/>
    <p:sldId id="295" r:id="rId55"/>
    <p:sldId id="322" r:id="rId56"/>
    <p:sldId id="291" r:id="rId57"/>
    <p:sldId id="771" r:id="rId58"/>
    <p:sldId id="355" r:id="rId59"/>
    <p:sldId id="1035" r:id="rId60"/>
    <p:sldId id="292" r:id="rId61"/>
    <p:sldId id="1036" r:id="rId62"/>
    <p:sldId id="348" r:id="rId63"/>
    <p:sldId id="293" r:id="rId64"/>
    <p:sldId id="376" r:id="rId65"/>
    <p:sldId id="315" r:id="rId66"/>
    <p:sldId id="390" r:id="rId67"/>
    <p:sldId id="440" r:id="rId68"/>
    <p:sldId id="297" r:id="rId69"/>
    <p:sldId id="377" r:id="rId70"/>
    <p:sldId id="318" r:id="rId71"/>
    <p:sldId id="1060" r:id="rId72"/>
    <p:sldId id="1018" r:id="rId7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7914"/>
    <a:srgbClr val="00F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45" autoAdjust="0"/>
    <p:restoredTop sz="59008" autoAdjust="0"/>
  </p:normalViewPr>
  <p:slideViewPr>
    <p:cSldViewPr>
      <p:cViewPr varScale="1">
        <p:scale>
          <a:sx n="58" d="100"/>
          <a:sy n="58" d="100"/>
        </p:scale>
        <p:origin x="21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299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Bailey" userId="f95cb44c-0b1c-4fd4-84ea-f3ed26a226ee" providerId="ADAL" clId="{D4566CDA-A36F-D141-BC6F-ACAFB7874201}"/>
    <pc:docChg chg="modSld">
      <pc:chgData name="Amanda Bailey" userId="f95cb44c-0b1c-4fd4-84ea-f3ed26a226ee" providerId="ADAL" clId="{D4566CDA-A36F-D141-BC6F-ACAFB7874201}" dt="2019-12-26T03:39:09.304" v="3" actId="20577"/>
      <pc:docMkLst>
        <pc:docMk/>
      </pc:docMkLst>
      <pc:sldChg chg="modNotesTx">
        <pc:chgData name="Amanda Bailey" userId="f95cb44c-0b1c-4fd4-84ea-f3ed26a226ee" providerId="ADAL" clId="{D4566CDA-A36F-D141-BC6F-ACAFB7874201}" dt="2019-12-26T03:39:09.304" v="3" actId="20577"/>
        <pc:sldMkLst>
          <pc:docMk/>
          <pc:sldMk cId="2342414409" sldId="600"/>
        </pc:sldMkLst>
      </pc:sldChg>
      <pc:sldChg chg="modNotesTx">
        <pc:chgData name="Amanda Bailey" userId="f95cb44c-0b1c-4fd4-84ea-f3ed26a226ee" providerId="ADAL" clId="{D4566CDA-A36F-D141-BC6F-ACAFB7874201}" dt="2019-12-26T03:38:30.693" v="0" actId="20577"/>
        <pc:sldMkLst>
          <pc:docMk/>
          <pc:sldMk cId="2038313753" sldId="780"/>
        </pc:sldMkLst>
      </pc:sldChg>
    </pc:docChg>
  </pc:docChgLst>
  <pc:docChgLst>
    <pc:chgData name="Amanda Bailey" userId="f95cb44c-0b1c-4fd4-84ea-f3ed26a226ee" providerId="ADAL" clId="{16C4347D-FACE-7A4E-A3B7-F2B5AE8CA228}"/>
    <pc:docChg chg="custSel addSld delSld modSld">
      <pc:chgData name="Amanda Bailey" userId="f95cb44c-0b1c-4fd4-84ea-f3ed26a226ee" providerId="ADAL" clId="{16C4347D-FACE-7A4E-A3B7-F2B5AE8CA228}" dt="2019-12-24T00:02:54.695" v="38" actId="27636"/>
      <pc:docMkLst>
        <pc:docMk/>
      </pc:docMkLst>
      <pc:sldChg chg="modSp">
        <pc:chgData name="Amanda Bailey" userId="f95cb44c-0b1c-4fd4-84ea-f3ed26a226ee" providerId="ADAL" clId="{16C4347D-FACE-7A4E-A3B7-F2B5AE8CA228}" dt="2019-12-24T00:02:21.450" v="31" actId="207"/>
        <pc:sldMkLst>
          <pc:docMk/>
          <pc:sldMk cId="3263162821" sldId="276"/>
        </pc:sldMkLst>
        <pc:spChg chg="mod">
          <ac:chgData name="Amanda Bailey" userId="f95cb44c-0b1c-4fd4-84ea-f3ed26a226ee" providerId="ADAL" clId="{16C4347D-FACE-7A4E-A3B7-F2B5AE8CA228}" dt="2019-12-24T00:02:21.450" v="31" actId="207"/>
          <ac:spMkLst>
            <pc:docMk/>
            <pc:sldMk cId="3263162821" sldId="276"/>
            <ac:spMk id="409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13.048" v="30" actId="207"/>
        <pc:sldMkLst>
          <pc:docMk/>
          <pc:sldMk cId="988086745" sldId="311"/>
        </pc:sldMkLst>
        <pc:spChg chg="mod">
          <ac:chgData name="Amanda Bailey" userId="f95cb44c-0b1c-4fd4-84ea-f3ed26a226ee" providerId="ADAL" clId="{16C4347D-FACE-7A4E-A3B7-F2B5AE8CA228}" dt="2019-12-24T00:02:13.048" v="30" actId="207"/>
          <ac:spMkLst>
            <pc:docMk/>
            <pc:sldMk cId="988086745" sldId="311"/>
            <ac:spMk id="13" creationId="{040ED880-07DE-1841-BEC1-EAC18221CB06}"/>
          </ac:spMkLst>
        </pc:spChg>
      </pc:sldChg>
      <pc:sldChg chg="modSp">
        <pc:chgData name="Amanda Bailey" userId="f95cb44c-0b1c-4fd4-84ea-f3ed26a226ee" providerId="ADAL" clId="{16C4347D-FACE-7A4E-A3B7-F2B5AE8CA228}" dt="2019-12-24T00:01:07.567" v="17" actId="207"/>
        <pc:sldMkLst>
          <pc:docMk/>
          <pc:sldMk cId="3644414432" sldId="535"/>
        </pc:sldMkLst>
        <pc:spChg chg="mod">
          <ac:chgData name="Amanda Bailey" userId="f95cb44c-0b1c-4fd4-84ea-f3ed26a226ee" providerId="ADAL" clId="{16C4347D-FACE-7A4E-A3B7-F2B5AE8CA228}" dt="2019-12-24T00:01:07.567" v="17" actId="207"/>
          <ac:spMkLst>
            <pc:docMk/>
            <pc:sldMk cId="3644414432" sldId="535"/>
            <ac:spMk id="40963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11.227" v="18" actId="207"/>
        <pc:sldMkLst>
          <pc:docMk/>
          <pc:sldMk cId="3410541835" sldId="537"/>
        </pc:sldMkLst>
        <pc:spChg chg="mod">
          <ac:chgData name="Amanda Bailey" userId="f95cb44c-0b1c-4fd4-84ea-f3ed26a226ee" providerId="ADAL" clId="{16C4347D-FACE-7A4E-A3B7-F2B5AE8CA228}" dt="2019-12-24T00:01:11.227" v="18" actId="207"/>
          <ac:spMkLst>
            <pc:docMk/>
            <pc:sldMk cId="3410541835" sldId="537"/>
            <ac:spMk id="7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34.910" v="11" actId="207"/>
        <pc:sldMkLst>
          <pc:docMk/>
          <pc:sldMk cId="3420671172" sldId="542"/>
        </pc:sldMkLst>
        <pc:spChg chg="mod">
          <ac:chgData name="Amanda Bailey" userId="f95cb44c-0b1c-4fd4-84ea-f3ed26a226ee" providerId="ADAL" clId="{16C4347D-FACE-7A4E-A3B7-F2B5AE8CA228}" dt="2019-12-24T00:00:34.910" v="11" actId="207"/>
          <ac:spMkLst>
            <pc:docMk/>
            <pc:sldMk cId="3420671172" sldId="542"/>
            <ac:spMk id="3481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27.521" v="9" actId="207"/>
        <pc:sldMkLst>
          <pc:docMk/>
          <pc:sldMk cId="2957816603" sldId="544"/>
        </pc:sldMkLst>
        <pc:spChg chg="mod">
          <ac:chgData name="Amanda Bailey" userId="f95cb44c-0b1c-4fd4-84ea-f3ed26a226ee" providerId="ADAL" clId="{16C4347D-FACE-7A4E-A3B7-F2B5AE8CA228}" dt="2019-12-24T00:00:27.521" v="9" actId="207"/>
          <ac:spMkLst>
            <pc:docMk/>
            <pc:sldMk cId="2957816603" sldId="544"/>
            <ac:spMk id="3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30.277" v="22" actId="207"/>
        <pc:sldMkLst>
          <pc:docMk/>
          <pc:sldMk cId="2190328347" sldId="545"/>
        </pc:sldMkLst>
        <pc:spChg chg="mod">
          <ac:chgData name="Amanda Bailey" userId="f95cb44c-0b1c-4fd4-84ea-f3ed26a226ee" providerId="ADAL" clId="{16C4347D-FACE-7A4E-A3B7-F2B5AE8CA228}" dt="2019-12-24T00:01:30.277" v="22" actId="207"/>
          <ac:spMkLst>
            <pc:docMk/>
            <pc:sldMk cId="2190328347" sldId="545"/>
            <ac:spMk id="21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26.980" v="21" actId="207"/>
        <pc:sldMkLst>
          <pc:docMk/>
          <pc:sldMk cId="624948336" sldId="546"/>
        </pc:sldMkLst>
        <pc:spChg chg="mod">
          <ac:chgData name="Amanda Bailey" userId="f95cb44c-0b1c-4fd4-84ea-f3ed26a226ee" providerId="ADAL" clId="{16C4347D-FACE-7A4E-A3B7-F2B5AE8CA228}" dt="2019-12-24T00:01:26.980" v="21" actId="207"/>
          <ac:spMkLst>
            <pc:docMk/>
            <pc:sldMk cId="624948336" sldId="546"/>
            <ac:spMk id="17411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59.252" v="27" actId="1076"/>
        <pc:sldMkLst>
          <pc:docMk/>
          <pc:sldMk cId="1279651111" sldId="551"/>
        </pc:sldMkLst>
        <pc:spChg chg="mod">
          <ac:chgData name="Amanda Bailey" userId="f95cb44c-0b1c-4fd4-84ea-f3ed26a226ee" providerId="ADAL" clId="{16C4347D-FACE-7A4E-A3B7-F2B5AE8CA228}" dt="2019-12-24T00:01:59.252" v="27" actId="1076"/>
          <ac:spMkLst>
            <pc:docMk/>
            <pc:sldMk cId="1279651111" sldId="551"/>
            <ac:spMk id="41" creationId="{00000000-0000-0000-0000-000000000000}"/>
          </ac:spMkLst>
        </pc:spChg>
        <pc:spChg chg="mod">
          <ac:chgData name="Amanda Bailey" userId="f95cb44c-0b1c-4fd4-84ea-f3ed26a226ee" providerId="ADAL" clId="{16C4347D-FACE-7A4E-A3B7-F2B5AE8CA228}" dt="2019-12-24T00:01:53.566" v="26" actId="14100"/>
          <ac:spMkLst>
            <pc:docMk/>
            <pc:sldMk cId="1279651111" sldId="551"/>
            <ac:spMk id="26627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19.055" v="20" actId="207"/>
        <pc:sldMkLst>
          <pc:docMk/>
          <pc:sldMk cId="4010495303" sldId="555"/>
        </pc:sldMkLst>
        <pc:spChg chg="mod">
          <ac:chgData name="Amanda Bailey" userId="f95cb44c-0b1c-4fd4-84ea-f3ed26a226ee" providerId="ADAL" clId="{16C4347D-FACE-7A4E-A3B7-F2B5AE8CA228}" dt="2019-12-24T00:01:19.055" v="20" actId="207"/>
          <ac:spMkLst>
            <pc:docMk/>
            <pc:sldMk cId="4010495303" sldId="555"/>
            <ac:spMk id="6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39.319" v="12" actId="207"/>
        <pc:sldMkLst>
          <pc:docMk/>
          <pc:sldMk cId="2867485417" sldId="556"/>
        </pc:sldMkLst>
        <pc:spChg chg="mod">
          <ac:chgData name="Amanda Bailey" userId="f95cb44c-0b1c-4fd4-84ea-f3ed26a226ee" providerId="ADAL" clId="{16C4347D-FACE-7A4E-A3B7-F2B5AE8CA228}" dt="2019-12-24T00:00:39.319" v="12" actId="207"/>
          <ac:spMkLst>
            <pc:docMk/>
            <pc:sldMk cId="2867485417" sldId="556"/>
            <ac:spMk id="25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19.579" v="7" actId="207"/>
        <pc:sldMkLst>
          <pc:docMk/>
          <pc:sldMk cId="1332403743" sldId="559"/>
        </pc:sldMkLst>
        <pc:spChg chg="mod">
          <ac:chgData name="Amanda Bailey" userId="f95cb44c-0b1c-4fd4-84ea-f3ed26a226ee" providerId="ADAL" clId="{16C4347D-FACE-7A4E-A3B7-F2B5AE8CA228}" dt="2019-12-24T00:00:19.579" v="7" actId="207"/>
          <ac:spMkLst>
            <pc:docMk/>
            <pc:sldMk cId="1332403743" sldId="559"/>
            <ac:spMk id="11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09.619" v="6" actId="207"/>
        <pc:sldMkLst>
          <pc:docMk/>
          <pc:sldMk cId="1294199628" sldId="560"/>
        </pc:sldMkLst>
        <pc:spChg chg="mod">
          <ac:chgData name="Amanda Bailey" userId="f95cb44c-0b1c-4fd4-84ea-f3ed26a226ee" providerId="ADAL" clId="{16C4347D-FACE-7A4E-A3B7-F2B5AE8CA228}" dt="2019-12-24T00:00:09.619" v="6" actId="207"/>
          <ac:spMkLst>
            <pc:docMk/>
            <pc:sldMk cId="1294199628" sldId="560"/>
            <ac:spMk id="15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30.713" v="10" actId="207"/>
        <pc:sldMkLst>
          <pc:docMk/>
          <pc:sldMk cId="1219333052" sldId="567"/>
        </pc:sldMkLst>
        <pc:spChg chg="mod">
          <ac:chgData name="Amanda Bailey" userId="f95cb44c-0b1c-4fd4-84ea-f3ed26a226ee" providerId="ADAL" clId="{16C4347D-FACE-7A4E-A3B7-F2B5AE8CA228}" dt="2019-12-24T00:00:30.713" v="10" actId="207"/>
          <ac:spMkLst>
            <pc:docMk/>
            <pc:sldMk cId="1219333052" sldId="567"/>
            <ac:spMk id="2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01.924" v="5" actId="207"/>
        <pc:sldMkLst>
          <pc:docMk/>
          <pc:sldMk cId="3016878129" sldId="584"/>
        </pc:sldMkLst>
        <pc:spChg chg="mod">
          <ac:chgData name="Amanda Bailey" userId="f95cb44c-0b1c-4fd4-84ea-f3ed26a226ee" providerId="ADAL" clId="{16C4347D-FACE-7A4E-A3B7-F2B5AE8CA228}" dt="2019-12-24T00:00:01.924" v="5" actId="207"/>
          <ac:spMkLst>
            <pc:docMk/>
            <pc:sldMk cId="3016878129" sldId="584"/>
            <ac:spMk id="6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0:24.440" v="8" actId="207"/>
        <pc:sldMkLst>
          <pc:docMk/>
          <pc:sldMk cId="510053296" sldId="586"/>
        </pc:sldMkLst>
        <pc:spChg chg="mod">
          <ac:chgData name="Amanda Bailey" userId="f95cb44c-0b1c-4fd4-84ea-f3ed26a226ee" providerId="ADAL" clId="{16C4347D-FACE-7A4E-A3B7-F2B5AE8CA228}" dt="2019-12-24T00:00:24.440" v="8" actId="207"/>
          <ac:spMkLst>
            <pc:docMk/>
            <pc:sldMk cId="510053296" sldId="586"/>
            <ac:spMk id="3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34.164" v="23" actId="207"/>
        <pc:sldMkLst>
          <pc:docMk/>
          <pc:sldMk cId="1450175856" sldId="595"/>
        </pc:sldMkLst>
        <pc:spChg chg="mod">
          <ac:chgData name="Amanda Bailey" userId="f95cb44c-0b1c-4fd4-84ea-f3ed26a226ee" providerId="ADAL" clId="{16C4347D-FACE-7A4E-A3B7-F2B5AE8CA228}" dt="2019-12-24T00:01:34.164" v="23" actId="207"/>
          <ac:spMkLst>
            <pc:docMk/>
            <pc:sldMk cId="1450175856" sldId="595"/>
            <ac:spMk id="17411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09.617" v="29" actId="207"/>
        <pc:sldMkLst>
          <pc:docMk/>
          <pc:sldMk cId="2342414409" sldId="600"/>
        </pc:sldMkLst>
        <pc:spChg chg="mod">
          <ac:chgData name="Amanda Bailey" userId="f95cb44c-0b1c-4fd4-84ea-f3ed26a226ee" providerId="ADAL" clId="{16C4347D-FACE-7A4E-A3B7-F2B5AE8CA228}" dt="2019-12-24T00:02:09.617" v="29" actId="207"/>
          <ac:spMkLst>
            <pc:docMk/>
            <pc:sldMk cId="2342414409" sldId="600"/>
            <ac:spMk id="7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00.922" v="16" actId="115"/>
        <pc:sldMkLst>
          <pc:docMk/>
          <pc:sldMk cId="3313582006" sldId="601"/>
        </pc:sldMkLst>
        <pc:spChg chg="mod">
          <ac:chgData name="Amanda Bailey" userId="f95cb44c-0b1c-4fd4-84ea-f3ed26a226ee" providerId="ADAL" clId="{16C4347D-FACE-7A4E-A3B7-F2B5AE8CA228}" dt="2019-12-24T00:00:46.461" v="14" actId="207"/>
          <ac:spMkLst>
            <pc:docMk/>
            <pc:sldMk cId="3313582006" sldId="601"/>
            <ac:spMk id="37891" creationId="{00000000-0000-0000-0000-000000000000}"/>
          </ac:spMkLst>
        </pc:spChg>
        <pc:spChg chg="mod">
          <ac:chgData name="Amanda Bailey" userId="f95cb44c-0b1c-4fd4-84ea-f3ed26a226ee" providerId="ADAL" clId="{16C4347D-FACE-7A4E-A3B7-F2B5AE8CA228}" dt="2019-12-24T00:01:00.922" v="16" actId="115"/>
          <ac:spMkLst>
            <pc:docMk/>
            <pc:sldMk cId="3313582006" sldId="601"/>
            <ac:spMk id="37892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1:14.791" v="19" actId="207"/>
        <pc:sldMkLst>
          <pc:docMk/>
          <pc:sldMk cId="3920098983" sldId="776"/>
        </pc:sldMkLst>
        <pc:spChg chg="mod">
          <ac:chgData name="Amanda Bailey" userId="f95cb44c-0b1c-4fd4-84ea-f3ed26a226ee" providerId="ADAL" clId="{16C4347D-FACE-7A4E-A3B7-F2B5AE8CA228}" dt="2019-12-24T00:01:14.791" v="19" actId="207"/>
          <ac:spMkLst>
            <pc:docMk/>
            <pc:sldMk cId="3920098983" sldId="776"/>
            <ac:spMk id="7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05.756" v="28" actId="207"/>
        <pc:sldMkLst>
          <pc:docMk/>
          <pc:sldMk cId="2038313753" sldId="780"/>
        </pc:sldMkLst>
        <pc:spChg chg="mod">
          <ac:chgData name="Amanda Bailey" userId="f95cb44c-0b1c-4fd4-84ea-f3ed26a226ee" providerId="ADAL" clId="{16C4347D-FACE-7A4E-A3B7-F2B5AE8CA228}" dt="2019-12-24T00:02:05.756" v="28" actId="207"/>
          <ac:spMkLst>
            <pc:docMk/>
            <pc:sldMk cId="2038313753" sldId="780"/>
            <ac:spMk id="7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26.075" v="32" actId="207"/>
        <pc:sldMkLst>
          <pc:docMk/>
          <pc:sldMk cId="927834014" sldId="1019"/>
        </pc:sldMkLst>
        <pc:spChg chg="mod">
          <ac:chgData name="Amanda Bailey" userId="f95cb44c-0b1c-4fd4-84ea-f3ed26a226ee" providerId="ADAL" clId="{16C4347D-FACE-7A4E-A3B7-F2B5AE8CA228}" dt="2019-12-24T00:02:26.075" v="32" actId="207"/>
          <ac:spMkLst>
            <pc:docMk/>
            <pc:sldMk cId="927834014" sldId="1019"/>
            <ac:spMk id="409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29.575" v="33" actId="207"/>
        <pc:sldMkLst>
          <pc:docMk/>
          <pc:sldMk cId="1579284051" sldId="1020"/>
        </pc:sldMkLst>
        <pc:spChg chg="mod">
          <ac:chgData name="Amanda Bailey" userId="f95cb44c-0b1c-4fd4-84ea-f3ed26a226ee" providerId="ADAL" clId="{16C4347D-FACE-7A4E-A3B7-F2B5AE8CA228}" dt="2019-12-24T00:02:29.575" v="33" actId="207"/>
          <ac:spMkLst>
            <pc:docMk/>
            <pc:sldMk cId="1579284051" sldId="1020"/>
            <ac:spMk id="409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33.176" v="34" actId="207"/>
        <pc:sldMkLst>
          <pc:docMk/>
          <pc:sldMk cId="1270922126" sldId="1021"/>
        </pc:sldMkLst>
        <pc:spChg chg="mod">
          <ac:chgData name="Amanda Bailey" userId="f95cb44c-0b1c-4fd4-84ea-f3ed26a226ee" providerId="ADAL" clId="{16C4347D-FACE-7A4E-A3B7-F2B5AE8CA228}" dt="2019-12-24T00:02:33.176" v="34" actId="207"/>
          <ac:spMkLst>
            <pc:docMk/>
            <pc:sldMk cId="1270922126" sldId="1021"/>
            <ac:spMk id="409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54.695" v="38" actId="27636"/>
        <pc:sldMkLst>
          <pc:docMk/>
          <pc:sldMk cId="175791211" sldId="1023"/>
        </pc:sldMkLst>
        <pc:spChg chg="mod">
          <ac:chgData name="Amanda Bailey" userId="f95cb44c-0b1c-4fd4-84ea-f3ed26a226ee" providerId="ADAL" clId="{16C4347D-FACE-7A4E-A3B7-F2B5AE8CA228}" dt="2019-12-24T00:02:54.695" v="38" actId="27636"/>
          <ac:spMkLst>
            <pc:docMk/>
            <pc:sldMk cId="175791211" sldId="1023"/>
            <ac:spMk id="4099" creationId="{00000000-0000-0000-0000-000000000000}"/>
          </ac:spMkLst>
        </pc:spChg>
      </pc:sldChg>
      <pc:sldChg chg="modSp">
        <pc:chgData name="Amanda Bailey" userId="f95cb44c-0b1c-4fd4-84ea-f3ed26a226ee" providerId="ADAL" clId="{16C4347D-FACE-7A4E-A3B7-F2B5AE8CA228}" dt="2019-12-24T00:02:40.062" v="35" actId="207"/>
        <pc:sldMkLst>
          <pc:docMk/>
          <pc:sldMk cId="1185548451" sldId="1024"/>
        </pc:sldMkLst>
        <pc:spChg chg="mod">
          <ac:chgData name="Amanda Bailey" userId="f95cb44c-0b1c-4fd4-84ea-f3ed26a226ee" providerId="ADAL" clId="{16C4347D-FACE-7A4E-A3B7-F2B5AE8CA228}" dt="2019-12-24T00:02:40.062" v="35" actId="207"/>
          <ac:spMkLst>
            <pc:docMk/>
            <pc:sldMk cId="1185548451" sldId="1024"/>
            <ac:spMk id="4099" creationId="{00000000-0000-0000-0000-000000000000}"/>
          </ac:spMkLst>
        </pc:spChg>
      </pc:sldChg>
      <pc:sldChg chg="addSp delSp modSp add">
        <pc:chgData name="Amanda Bailey" userId="f95cb44c-0b1c-4fd4-84ea-f3ed26a226ee" providerId="ADAL" clId="{16C4347D-FACE-7A4E-A3B7-F2B5AE8CA228}" dt="2019-12-23T23:59:40.619" v="3"/>
        <pc:sldMkLst>
          <pc:docMk/>
          <pc:sldMk cId="4055833594" sldId="1031"/>
        </pc:sldMkLst>
        <pc:spChg chg="add del mod">
          <ac:chgData name="Amanda Bailey" userId="f95cb44c-0b1c-4fd4-84ea-f3ed26a226ee" providerId="ADAL" clId="{16C4347D-FACE-7A4E-A3B7-F2B5AE8CA228}" dt="2019-12-23T23:59:40.138" v="2" actId="478"/>
          <ac:spMkLst>
            <pc:docMk/>
            <pc:sldMk cId="4055833594" sldId="1031"/>
            <ac:spMk id="3" creationId="{D317E0D5-1E45-E242-B5A9-FCA27991350E}"/>
          </ac:spMkLst>
        </pc:spChg>
        <pc:spChg chg="del">
          <ac:chgData name="Amanda Bailey" userId="f95cb44c-0b1c-4fd4-84ea-f3ed26a226ee" providerId="ADAL" clId="{16C4347D-FACE-7A4E-A3B7-F2B5AE8CA228}" dt="2019-12-23T23:59:38.056" v="1" actId="478"/>
          <ac:spMkLst>
            <pc:docMk/>
            <pc:sldMk cId="4055833594" sldId="1031"/>
            <ac:spMk id="4" creationId="{CB27A73D-854D-C440-BDAF-F90C6F468F90}"/>
          </ac:spMkLst>
        </pc:spChg>
        <pc:spChg chg="add">
          <ac:chgData name="Amanda Bailey" userId="f95cb44c-0b1c-4fd4-84ea-f3ed26a226ee" providerId="ADAL" clId="{16C4347D-FACE-7A4E-A3B7-F2B5AE8CA228}" dt="2019-12-23T23:59:40.619" v="3"/>
          <ac:spMkLst>
            <pc:docMk/>
            <pc:sldMk cId="4055833594" sldId="1031"/>
            <ac:spMk id="7" creationId="{7376E66F-1980-F34A-9775-E65A39A677B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D22EDC4-C449-43CA-A373-ACAF636DC3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528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3795B24-735A-4C40-801A-793AE8891B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51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6D2F413E-12FB-42AE-AC4D-BC3149114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2AABEEA3-E67E-4D20-BC93-C2E13085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F43BC891-DC73-446D-B04B-DA716DA6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35692E-BDC6-4658-AAF6-BF6A16BD1143}" type="slidenum">
              <a:rPr lang="en-US" altLang="en-US" smtClean="0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71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142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Each of these images shows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cells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from a different part of the body.  Remembering that structure is related to function, which image shows cells from the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skin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?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Wait for answers, then (*CLICK*)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4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Each of these images shows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cells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from a different part of the body.  Remembering that structure is related to function, which image shows cells from the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respiratory tract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?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Wait for answers, then (*CLICK*)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40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Each of these images shows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cells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from a different part of the body.  Remembering that structure is related to function, which image shows cells from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skeletal muscle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?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Wait for answers, then (*CLICK*)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16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7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3870075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8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508858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9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1818398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10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34960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11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706627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12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881514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13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13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2526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14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14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7153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15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15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8754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16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16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6157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17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17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1758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F694F3-E27C-4258-8F87-F4971BF19C88}" type="slidenum">
              <a:rPr lang="en-US" altLang="en-US" baseline="0"/>
              <a:pPr/>
              <a:t>18</a:t>
            </a:fld>
            <a:endParaRPr lang="en-US" altLang="en-US" baseline="0"/>
          </a:p>
        </p:txBody>
      </p:sp>
    </p:spTree>
    <p:extLst>
      <p:ext uri="{BB962C8B-B14F-4D97-AF65-F5344CB8AC3E}">
        <p14:creationId xmlns:p14="http://schemas.microsoft.com/office/powerpoint/2010/main" val="2877363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41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10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761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43877E-D949-4505-9E6C-AEAC686EB29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607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79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AA082E-E967-422B-9681-6B713E8F02C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i="1" baseline="0" dirty="0"/>
          </a:p>
        </p:txBody>
      </p:sp>
    </p:spTree>
    <p:extLst>
      <p:ext uri="{BB962C8B-B14F-4D97-AF65-F5344CB8AC3E}">
        <p14:creationId xmlns:p14="http://schemas.microsoft.com/office/powerpoint/2010/main" val="4249892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152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CCB198-826A-4424-B523-C1231B0A08B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6728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2F0153-C283-4469-BB52-A9B42BF8195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827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2F0153-C283-4469-BB52-A9B42BF8195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188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27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22DCE6-48DA-41D8-A80D-F73031D32EF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z="1200" kern="1200" baseline="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201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7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847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998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920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i="1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672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85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3C799C-9207-4EEA-A04E-1C3B473D85F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5973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103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23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41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41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1108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42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42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90213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35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6720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45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45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z="1200" u="sng" kern="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41139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E106B5C7-017D-EF43-B312-FF7B96640BC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EDF70F01-EE99-C34B-8FE9-412D4D8F26C5}" type="slidenum">
              <a:rPr lang="en-US" altLang="en-US" sz="1200">
                <a:ea typeface="ヒラギノ角ゴ Pro W3" panose="020B0300000000000000" pitchFamily="34" charset="-128"/>
              </a:rPr>
              <a:pPr algn="r"/>
              <a:t>46</a:t>
            </a:fld>
            <a:endParaRPr lang="en-US" altLang="en-US" sz="1200">
              <a:ea typeface="ヒラギノ角ゴ Pro W3" panose="020B0300000000000000" pitchFamily="34" charset="-128"/>
            </a:endParaRPr>
          </a:p>
        </p:txBody>
      </p:sp>
      <p:sp>
        <p:nvSpPr>
          <p:cNvPr id="59394" name="Rectangle 7">
            <a:extLst>
              <a:ext uri="{FF2B5EF4-FFF2-40B4-BE49-F238E27FC236}">
                <a16:creationId xmlns:a16="http://schemas.microsoft.com/office/drawing/2014/main" id="{489E4E6E-AE70-744A-8640-D19ACAF71A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E1ABDCA-C210-A440-A6C3-6DF32D5CC80F}" type="slidenum">
              <a:rPr lang="en-US" altLang="en-US" sz="1200">
                <a:latin typeface="Times New Roman" panose="02020603050405020304" pitchFamily="18" charset="0"/>
                <a:ea typeface="ヒラギノ角ゴ Pro W3" panose="020B0300000000000000" pitchFamily="34" charset="-128"/>
                <a:sym typeface="Symbol" pitchFamily="2" charset="2"/>
              </a:rPr>
              <a:pPr algn="r"/>
              <a:t>46</a:t>
            </a:fld>
            <a:endParaRPr lang="en-US" altLang="en-US" sz="1200">
              <a:latin typeface="Times New Roman" panose="02020603050405020304" pitchFamily="18" charset="0"/>
              <a:ea typeface="ヒラギノ角ゴ Pro W3" panose="020B0300000000000000" pitchFamily="34" charset="-128"/>
              <a:sym typeface="Symbol" pitchFamily="2" charset="2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38AC47-13B3-3445-A915-76B6CD1D8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7ACD669-2973-A148-A972-A49D8877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b="0" i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57659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161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257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644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774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050C8D-91D6-4343-B879-C87EDDFAAF54}" type="slidenum">
              <a:rPr lang="en-US"/>
              <a:pPr/>
              <a:t>51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41446557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050C8D-91D6-4343-B879-C87EDDFAAF54}" type="slidenum">
              <a:rPr lang="en-US"/>
              <a:pPr/>
              <a:t>52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8316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E77FCE-2C9D-4440-BF70-4ACB7D793BB4}" type="slidenum">
              <a:rPr lang="en-US"/>
              <a:pPr/>
              <a:t>53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solidFill>
                <a:srgbClr val="000000"/>
              </a:solidFill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0254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2C0294-2CFB-402F-8CF4-40B8B1C40BCD}" type="slidenum">
              <a:rPr lang="en-US"/>
              <a:pPr/>
              <a:t>54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7602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67F8F7-5584-469B-A3AA-0A7646B59603}" type="slidenum">
              <a:rPr lang="en-US"/>
              <a:pPr/>
              <a:t>55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0854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A23826-73CF-4795-9F0E-5AF7D80E1B2B}" type="slidenum">
              <a:rPr lang="en-US"/>
              <a:pPr/>
              <a:t>56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5782296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 eaLnBrk="0" hangingPunct="0"/>
            <a:fld id="{D018A5CF-99B9-F24F-AE22-350A4A738F72}" type="slidenum">
              <a:rPr lang="en-US" sz="1200">
                <a:latin typeface="Times" charset="0"/>
              </a:rPr>
              <a:pPr algn="r" eaLnBrk="0" hangingPunct="0"/>
              <a:t>57</a:t>
            </a:fld>
            <a:endParaRPr lang="en-US" sz="1200">
              <a:latin typeface="Times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>
            <a:solidFill>
              <a:srgbClr val="000000"/>
            </a:solidFill>
          </a:ln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15448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9BC1EC-683E-4E3B-B401-C6DC9BA3BEA1}" type="slidenum">
              <a:rPr lang="en-US"/>
              <a:pPr/>
              <a:t>58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3311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63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7722BF-3A5F-41EC-BC11-8D64F762D2BD}" type="slidenum">
              <a:rPr lang="en-US"/>
              <a:pPr/>
              <a:t>60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937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966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42BC41-89B7-4D01-AD26-8387A79C22D7}" type="slidenum">
              <a:rPr lang="en-US"/>
              <a:pPr/>
              <a:t>62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4795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B15A9-99BD-41BD-A573-44F1E6C6A3C8}" type="slidenum">
              <a:rPr lang="en-US"/>
              <a:pPr/>
              <a:t>63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133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 eaLnBrk="0" hangingPunct="0"/>
            <a:fld id="{1D0249ED-A196-3A48-A1F7-27D68299FC50}" type="slidenum">
              <a:rPr lang="en-US" sz="1200">
                <a:latin typeface="Times" charset="0"/>
              </a:rPr>
              <a:pPr algn="r" eaLnBrk="0" hangingPunct="0"/>
              <a:t>64</a:t>
            </a:fld>
            <a:endParaRPr lang="en-US" sz="1200">
              <a:latin typeface="Times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3909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1D67D9-B690-4D64-BB26-CEF9F304C544}" type="slidenum">
              <a:rPr lang="en-US"/>
              <a:pPr/>
              <a:t>65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0529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D54D678-9A1D-844C-888C-85455C4D3EBC}" type="slidenum">
              <a:rPr lang="en-US" sz="1200">
                <a:latin typeface="Times New Roman" charset="0"/>
              </a:rPr>
              <a:pPr eaLnBrk="1" hangingPunct="1"/>
              <a:t>66</a:t>
            </a:fld>
            <a:endParaRPr lang="en-US" sz="1200">
              <a:latin typeface="Times New Roman" charset="0"/>
            </a:endParaRPr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27765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8043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5DD743-1C70-43A2-8F7A-9787D24BDAA4}" type="slidenum">
              <a:rPr lang="en-US"/>
              <a:pPr/>
              <a:t>68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0270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 eaLnBrk="0" hangingPunct="0"/>
            <a:fld id="{1D0249ED-A196-3A48-A1F7-27D68299FC50}" type="slidenum">
              <a:rPr lang="en-US" sz="1200">
                <a:latin typeface="Times" charset="0"/>
              </a:rPr>
              <a:pPr algn="r" eaLnBrk="0" hangingPunct="0"/>
              <a:t>69</a:t>
            </a:fld>
            <a:endParaRPr lang="en-US" sz="1200">
              <a:latin typeface="Times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273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D9B0FD-5823-45C6-8B5C-694CEDCD263C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7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23040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C9053-9317-4E48-83F6-BB597F8267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2CDB3-B3C4-42C4-B65B-7A0C5BFDDA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12148-C500-43BA-8AFC-13ED4F729A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385DA-14EF-4795-A327-A53FD4EA60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398A5-B643-4B6E-8D8D-D9D58405B2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C1903-608A-4E0A-98EC-C1D1B2B372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AA386-33DA-4837-8816-81AD312BBF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877E6-A2CB-4D85-918E-813812368F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A80EB-FEF2-48C7-87F8-2E5D569BF5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123B5-DD32-4F29-BF64-62976E74CA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A8AFF-0605-4625-AFE3-526BE42E9D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oBar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096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  <a:prstGeom prst="rect">
            <a:avLst/>
          </a:prstGeom>
        </p:spPr>
        <p:txBody>
          <a:bodyPr/>
          <a:lstStyle>
            <a:lvl1pPr>
              <a:spcAft>
                <a:spcPts val="800"/>
              </a:spcAft>
              <a:defRPr sz="2400"/>
            </a:lvl1pPr>
            <a:lvl2pPr>
              <a:spcAft>
                <a:spcPts val="800"/>
              </a:spcAft>
              <a:defRPr sz="2000"/>
            </a:lvl2pPr>
            <a:lvl3pPr>
              <a:spcAft>
                <a:spcPts val="800"/>
              </a:spcAft>
              <a:defRPr sz="1800"/>
            </a:lvl3pPr>
            <a:lvl4pPr>
              <a:spcAft>
                <a:spcPts val="800"/>
              </a:spcAft>
              <a:defRPr sz="1600"/>
            </a:lvl4pPr>
            <a:lvl5pPr>
              <a:spcAft>
                <a:spcPts val="800"/>
              </a:spcAft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86200" y="6553200"/>
            <a:ext cx="137160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5486400" y="6705600"/>
            <a:ext cx="36576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indent="0" algn="r">
              <a:buNone/>
              <a:defRPr sz="800" baseline="0">
                <a:solidFill>
                  <a:srgbClr val="6A6A6A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81243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9379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229380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229381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938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5457AEC-A54A-40E1-A985-3796858FEA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slide" Target="slide9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slide" Target="slide24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slide" Target="slide2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" Target="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jpeg"/><Relationship Id="rId4" Type="http://schemas.openxmlformats.org/officeDocument/2006/relationships/slide" Target="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Ce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778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6BA8863-6BCC-E646-B538-FD2CA834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15000"/>
            <a:ext cx="7313612" cy="1143000"/>
          </a:xfrm>
        </p:spPr>
        <p:txBody>
          <a:bodyPr/>
          <a:lstStyle/>
          <a:p>
            <a:pPr>
              <a:defRPr/>
            </a:pPr>
            <a:r>
              <a:rPr lang="en-US" sz="8800" dirty="0">
                <a:ln w="38100">
                  <a:solidFill>
                    <a:schemeClr val="bg1"/>
                  </a:solidFill>
                </a:ln>
                <a:solidFill>
                  <a:srgbClr val="00F700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cs typeface="Arial" charset="0"/>
              </a:rPr>
              <a:t>Lecture 3:</a:t>
            </a:r>
            <a:br>
              <a:rPr lang="en-US" sz="8800" dirty="0">
                <a:ln w="38100">
                  <a:solidFill>
                    <a:schemeClr val="bg1"/>
                  </a:solidFill>
                </a:ln>
                <a:solidFill>
                  <a:srgbClr val="00F700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cs typeface="Arial" charset="0"/>
              </a:rPr>
            </a:br>
            <a:r>
              <a:rPr lang="en-US" sz="4400" b="1" dirty="0">
                <a:ln w="38100">
                  <a:solidFill>
                    <a:schemeClr val="bg1"/>
                  </a:solidFill>
                </a:ln>
                <a:solidFill>
                  <a:srgbClr val="00F700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cs typeface="Arial" charset="0"/>
              </a:rPr>
              <a:t>The Cell and </a:t>
            </a:r>
            <a:r>
              <a:rPr lang="en-US" sz="4400" b="1">
                <a:ln w="38100">
                  <a:solidFill>
                    <a:schemeClr val="bg1"/>
                  </a:solidFill>
                </a:ln>
                <a:solidFill>
                  <a:srgbClr val="00F700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  <a:cs typeface="Arial" charset="0"/>
              </a:rPr>
              <a:t>Cell Division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7382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38E7F7D-F2F6-2543-B93E-B4A9C7B7B2F3}"/>
              </a:ext>
            </a:extLst>
          </p:cNvPr>
          <p:cNvSpPr>
            <a:spLocks/>
          </p:cNvSpPr>
          <p:nvPr/>
        </p:nvSpPr>
        <p:spPr bwMode="auto">
          <a:xfrm>
            <a:off x="0" y="931326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27A73D-854D-C440-BDAF-F90C6F46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8" y="-231047"/>
            <a:ext cx="7313612" cy="1143000"/>
          </a:xfrm>
        </p:spPr>
        <p:txBody>
          <a:bodyPr/>
          <a:lstStyle/>
          <a:p>
            <a:pPr eaLnBrk="1" hangingPunct="1"/>
            <a:r>
              <a:rPr lang="en-US" sz="4800" b="1" dirty="0">
                <a:solidFill>
                  <a:schemeClr val="tx1"/>
                </a:solidFill>
                <a:ea typeface="+mj-ea"/>
              </a:rPr>
              <a:t>OVERVIEW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E16592-D136-9841-961A-2AF0C0AE0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" y="1201738"/>
            <a:ext cx="9090025" cy="565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buClr>
                <a:srgbClr val="FF0000"/>
              </a:buClr>
              <a:buFont typeface="+mj-lt"/>
              <a:buAutoNum type="arabicPeriod"/>
            </a:pPr>
            <a:r>
              <a:rPr lang="en-US" sz="3200" b="1" kern="0" dirty="0">
                <a:solidFill>
                  <a:srgbClr val="FF0000"/>
                </a:solidFill>
              </a:rPr>
              <a:t>Structure vs. Function </a:t>
            </a:r>
            <a:r>
              <a:rPr lang="en-US" sz="3200" kern="0" dirty="0">
                <a:solidFill>
                  <a:srgbClr val="FF0000"/>
                </a:solidFill>
              </a:rPr>
              <a:t>– </a:t>
            </a:r>
            <a:r>
              <a:rPr lang="en-US" sz="3200" i="1" kern="0" dirty="0">
                <a:solidFill>
                  <a:srgbClr val="FF0000"/>
                </a:solidFill>
              </a:rPr>
              <a:t>how does anatomy control physiology?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endParaRPr lang="en-US" sz="1200" i="1" kern="0" dirty="0">
              <a:solidFill>
                <a:srgbClr val="FF0000"/>
              </a:solidFill>
            </a:endParaRP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sz="3200" b="1" kern="0" dirty="0"/>
              <a:t>Body Organization: </a:t>
            </a:r>
            <a:r>
              <a:rPr lang="en-US" sz="3200" b="1" i="1" kern="0" dirty="0"/>
              <a:t>The Cell </a:t>
            </a:r>
            <a:r>
              <a:rPr lang="en-US" sz="3200" i="1" kern="0" dirty="0"/>
              <a:t>– how does the cytoplasm function?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endParaRPr lang="en-US" sz="1200" i="1" kern="0" dirty="0"/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sz="3200" b="1" kern="0" dirty="0"/>
              <a:t>Body Organization: </a:t>
            </a:r>
            <a:r>
              <a:rPr lang="en-US" sz="3200" b="1" i="1" kern="0" dirty="0"/>
              <a:t>The Cell </a:t>
            </a:r>
            <a:r>
              <a:rPr lang="en-US" sz="3200" i="1" kern="0" dirty="0"/>
              <a:t>– what are organelles and how do they work?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endParaRPr lang="en-US" sz="1200" i="1" kern="0" dirty="0"/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sz="3200" b="1" kern="0" dirty="0"/>
              <a:t>Body Organization: </a:t>
            </a:r>
            <a:r>
              <a:rPr lang="en-US" sz="3200" b="1" i="1" kern="0" dirty="0"/>
              <a:t>The Cell </a:t>
            </a:r>
            <a:r>
              <a:rPr lang="en-US" sz="3200" i="1" kern="0" dirty="0"/>
              <a:t>– how do cells interact, age, and die?</a:t>
            </a:r>
          </a:p>
          <a:p>
            <a:pPr marL="1587" indent="0" eaLnBrk="1" hangingPunct="1">
              <a:buFont typeface="Wingdings" panose="05000000000000000000" pitchFamily="2" charset="2"/>
              <a:buNone/>
            </a:pPr>
            <a:endParaRPr lang="en-US" sz="34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34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tandard cell."/>
          <p:cNvPicPr>
            <a:picLocks noChangeAspect="1"/>
          </p:cNvPicPr>
          <p:nvPr/>
        </p:nvPicPr>
        <p:blipFill rotWithShape="1">
          <a:blip r:embed="rId3"/>
          <a:srcRect l="821" t="1021" r="1398" b="12620"/>
          <a:stretch/>
        </p:blipFill>
        <p:spPr>
          <a:xfrm>
            <a:off x="1828800" y="1828800"/>
            <a:ext cx="5435600" cy="4800600"/>
          </a:xfrm>
          <a:prstGeom prst="rect">
            <a:avLst/>
          </a:prstGeom>
        </p:spPr>
      </p:pic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58992" y="2956088"/>
            <a:ext cx="351057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Blood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0429" y="3699038"/>
            <a:ext cx="351058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Ovum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5" y="4051463"/>
            <a:ext cx="671659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Arial"/>
                <a:cs typeface="+mn-cs"/>
              </a:rPr>
              <a:t>Smooth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Arial"/>
                <a:cs typeface="+mn-cs"/>
              </a:rPr>
              <a:t>muscle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1442" y="4448338"/>
            <a:ext cx="309380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Bone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742" y="5069050"/>
            <a:ext cx="429605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Fat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493" y="5235738"/>
            <a:ext cx="851195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Cells lining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intestinal 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3104" y="5377025"/>
            <a:ext cx="916918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Neuron in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642" y="5377025"/>
            <a:ext cx="386324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Arial"/>
                <a:cs typeface="+mn-cs"/>
              </a:rPr>
              <a:t>Sperm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82563" y="1333257"/>
            <a:ext cx="8775700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All living organisms are composed of cells.</a:t>
            </a: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06B6823-0AB4-014A-BDDB-0BB32813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29419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400" y="1219200"/>
            <a:ext cx="87757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sz="3200" dirty="0">
                <a:latin typeface="+mj-lt"/>
              </a:rPr>
              <a:t>Each of these images shows </a:t>
            </a:r>
            <a:r>
              <a:rPr lang="en-US" sz="3200" b="1" dirty="0">
                <a:latin typeface="+mj-lt"/>
              </a:rPr>
              <a:t>cells</a:t>
            </a:r>
            <a:r>
              <a:rPr lang="en-US" sz="3200" dirty="0">
                <a:latin typeface="+mj-lt"/>
              </a:rPr>
              <a:t> from a different part of the body.  Remembering that structure is related to function, </a:t>
            </a:r>
            <a:r>
              <a:rPr lang="en-US" sz="3200" i="1" dirty="0">
                <a:latin typeface="+mj-lt"/>
              </a:rPr>
              <a:t>which image shows cells from the </a:t>
            </a:r>
            <a:r>
              <a:rPr lang="en-US" sz="3200" i="1" u="sng" dirty="0">
                <a:latin typeface="+mj-lt"/>
              </a:rPr>
              <a:t>skin</a:t>
            </a:r>
            <a:r>
              <a:rPr lang="en-US" sz="3200" i="1" dirty="0">
                <a:latin typeface="+mj-lt"/>
              </a:rPr>
              <a:t>?</a:t>
            </a:r>
            <a:endParaRPr lang="en-US" sz="3200" dirty="0">
              <a:latin typeface="+mj-lt"/>
            </a:endParaRPr>
          </a:p>
          <a:p>
            <a:pPr marL="0" indent="0" eaLnBrk="1" hangingPunct="1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5" name="Picture 14" descr="Tall cells with cilia.">
            <a:hlinkClick r:id="rId3" action="ppaction://hlinksldjump"/>
            <a:extLst>
              <a:ext uri="{FF2B5EF4-FFF2-40B4-BE49-F238E27FC236}">
                <a16:creationId xmlns:a16="http://schemas.microsoft.com/office/drawing/2014/main" id="{58B117A5-A676-C147-B29F-549491A446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5570" r="20267" b="24062"/>
          <a:stretch/>
        </p:blipFill>
        <p:spPr>
          <a:xfrm>
            <a:off x="76200" y="4191000"/>
            <a:ext cx="2971800" cy="1828800"/>
          </a:xfrm>
          <a:prstGeom prst="rect">
            <a:avLst/>
          </a:prstGeom>
        </p:spPr>
      </p:pic>
      <p:pic>
        <p:nvPicPr>
          <p:cNvPr id="16" name="Picture 15" descr="Sheets of flat cells that line a surface.">
            <a:hlinkClick r:id="rId5" action="ppaction://hlinksldjump"/>
            <a:extLst>
              <a:ext uri="{FF2B5EF4-FFF2-40B4-BE49-F238E27FC236}">
                <a16:creationId xmlns:a16="http://schemas.microsoft.com/office/drawing/2014/main" id="{2229F69E-2F04-EF4F-A2C9-0A7ECD98058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97" r="19981" b="25259"/>
          <a:stretch/>
        </p:blipFill>
        <p:spPr>
          <a:xfrm>
            <a:off x="3124200" y="4191000"/>
            <a:ext cx="2882116" cy="1828800"/>
          </a:xfrm>
          <a:prstGeom prst="rect">
            <a:avLst/>
          </a:prstGeom>
        </p:spPr>
      </p:pic>
      <p:pic>
        <p:nvPicPr>
          <p:cNvPr id="17" name="Picture 16" descr="Striated cells.">
            <a:hlinkClick r:id="rId3" action="ppaction://hlinksldjump"/>
            <a:extLst>
              <a:ext uri="{FF2B5EF4-FFF2-40B4-BE49-F238E27FC236}">
                <a16:creationId xmlns:a16="http://schemas.microsoft.com/office/drawing/2014/main" id="{50323F08-12E8-8F46-9C11-FE2E8F149A9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24" t="7236" r="17562" b="14866"/>
          <a:stretch/>
        </p:blipFill>
        <p:spPr>
          <a:xfrm>
            <a:off x="6096000" y="4191000"/>
            <a:ext cx="2948534" cy="1826222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2E37B02-C4D4-0241-B06A-AA64CFA3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2922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400" y="1219200"/>
            <a:ext cx="87757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sz="3200" dirty="0">
                <a:latin typeface="+mj-lt"/>
              </a:rPr>
              <a:t>Each of these images shows </a:t>
            </a:r>
            <a:r>
              <a:rPr lang="en-US" sz="3200" b="1" dirty="0">
                <a:latin typeface="+mj-lt"/>
              </a:rPr>
              <a:t>cells</a:t>
            </a:r>
            <a:r>
              <a:rPr lang="en-US" sz="3200" dirty="0">
                <a:latin typeface="+mj-lt"/>
              </a:rPr>
              <a:t> from a different part of the body.  Remembering that structure is related to function, </a:t>
            </a:r>
            <a:r>
              <a:rPr lang="en-US" sz="3200" i="1" dirty="0">
                <a:latin typeface="+mj-lt"/>
              </a:rPr>
              <a:t>which image shows cells from the </a:t>
            </a:r>
            <a:r>
              <a:rPr lang="en-US" sz="3200" i="1" u="sng" dirty="0">
                <a:latin typeface="+mj-lt"/>
              </a:rPr>
              <a:t>respiratory tract</a:t>
            </a:r>
            <a:r>
              <a:rPr lang="en-US" sz="3200" i="1" dirty="0">
                <a:latin typeface="+mj-lt"/>
              </a:rPr>
              <a:t>?</a:t>
            </a:r>
            <a:endParaRPr lang="en-US" sz="3200" dirty="0">
              <a:latin typeface="+mj-lt"/>
            </a:endParaRPr>
          </a:p>
          <a:p>
            <a:pPr marL="0" indent="0" eaLnBrk="1" hangingPunct="1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5" name="Picture 14" descr="Tall cells with cilia.">
            <a:hlinkClick r:id="rId3" action="ppaction://hlinksldjump"/>
            <a:extLst>
              <a:ext uri="{FF2B5EF4-FFF2-40B4-BE49-F238E27FC236}">
                <a16:creationId xmlns:a16="http://schemas.microsoft.com/office/drawing/2014/main" id="{58B117A5-A676-C147-B29F-549491A446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5570" r="20267" b="24062"/>
          <a:stretch/>
        </p:blipFill>
        <p:spPr>
          <a:xfrm>
            <a:off x="76200" y="4191000"/>
            <a:ext cx="2971800" cy="1828800"/>
          </a:xfrm>
          <a:prstGeom prst="rect">
            <a:avLst/>
          </a:prstGeom>
        </p:spPr>
      </p:pic>
      <p:pic>
        <p:nvPicPr>
          <p:cNvPr id="16" name="Picture 15" descr="Sheets of flat cells that line a surface.">
            <a:hlinkClick r:id="rId5" action="ppaction://hlinksldjump"/>
            <a:extLst>
              <a:ext uri="{FF2B5EF4-FFF2-40B4-BE49-F238E27FC236}">
                <a16:creationId xmlns:a16="http://schemas.microsoft.com/office/drawing/2014/main" id="{2229F69E-2F04-EF4F-A2C9-0A7ECD98058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97" r="19981" b="25259"/>
          <a:stretch/>
        </p:blipFill>
        <p:spPr>
          <a:xfrm>
            <a:off x="3124200" y="4191000"/>
            <a:ext cx="2882116" cy="1828800"/>
          </a:xfrm>
          <a:prstGeom prst="rect">
            <a:avLst/>
          </a:prstGeom>
        </p:spPr>
      </p:pic>
      <p:pic>
        <p:nvPicPr>
          <p:cNvPr id="17" name="Picture 16" descr="Striated cells.">
            <a:hlinkClick r:id="rId5" action="ppaction://hlinksldjump"/>
            <a:extLst>
              <a:ext uri="{FF2B5EF4-FFF2-40B4-BE49-F238E27FC236}">
                <a16:creationId xmlns:a16="http://schemas.microsoft.com/office/drawing/2014/main" id="{50323F08-12E8-8F46-9C11-FE2E8F149A9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24" t="7236" r="17562" b="14866"/>
          <a:stretch/>
        </p:blipFill>
        <p:spPr>
          <a:xfrm>
            <a:off x="6096000" y="4191000"/>
            <a:ext cx="2948534" cy="1826222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2E37B02-C4D4-0241-B06A-AA64CFA3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6826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400" y="1219200"/>
            <a:ext cx="87757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sz="3200" dirty="0">
                <a:latin typeface="+mj-lt"/>
              </a:rPr>
              <a:t>Each of these images shows </a:t>
            </a:r>
            <a:r>
              <a:rPr lang="en-US" sz="3200" b="1" dirty="0">
                <a:latin typeface="+mj-lt"/>
              </a:rPr>
              <a:t>cells</a:t>
            </a:r>
            <a:r>
              <a:rPr lang="en-US" sz="3200" dirty="0">
                <a:latin typeface="+mj-lt"/>
              </a:rPr>
              <a:t> from a different part of the body.  Remembering that structure is related to function, </a:t>
            </a:r>
            <a:r>
              <a:rPr lang="en-US" sz="3200" i="1" dirty="0">
                <a:latin typeface="+mj-lt"/>
              </a:rPr>
              <a:t>which image shows cells from </a:t>
            </a:r>
            <a:r>
              <a:rPr lang="en-US" sz="3200" i="1" u="sng" dirty="0">
                <a:latin typeface="+mj-lt"/>
              </a:rPr>
              <a:t>skeletal muscle</a:t>
            </a:r>
            <a:r>
              <a:rPr lang="en-US" sz="3200" i="1" dirty="0">
                <a:latin typeface="+mj-lt"/>
              </a:rPr>
              <a:t>?</a:t>
            </a:r>
            <a:endParaRPr lang="en-US" sz="3200" dirty="0">
              <a:latin typeface="+mj-lt"/>
            </a:endParaRPr>
          </a:p>
          <a:p>
            <a:pPr marL="0" indent="0" eaLnBrk="1" hangingPunct="1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5" name="Picture 14" descr="Tall cells with cilia.">
            <a:hlinkClick r:id="rId3" action="ppaction://hlinksldjump"/>
            <a:extLst>
              <a:ext uri="{FF2B5EF4-FFF2-40B4-BE49-F238E27FC236}">
                <a16:creationId xmlns:a16="http://schemas.microsoft.com/office/drawing/2014/main" id="{58B117A5-A676-C147-B29F-549491A446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5570" r="20267" b="24062"/>
          <a:stretch/>
        </p:blipFill>
        <p:spPr>
          <a:xfrm>
            <a:off x="76200" y="4191000"/>
            <a:ext cx="2971800" cy="1828800"/>
          </a:xfrm>
          <a:prstGeom prst="rect">
            <a:avLst/>
          </a:prstGeom>
        </p:spPr>
      </p:pic>
      <p:pic>
        <p:nvPicPr>
          <p:cNvPr id="16" name="Picture 15" descr="Sheets of flat cells that line a surface.">
            <a:hlinkClick r:id="rId3" action="ppaction://hlinksldjump"/>
            <a:extLst>
              <a:ext uri="{FF2B5EF4-FFF2-40B4-BE49-F238E27FC236}">
                <a16:creationId xmlns:a16="http://schemas.microsoft.com/office/drawing/2014/main" id="{2229F69E-2F04-EF4F-A2C9-0A7ECD9805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97" r="19981" b="25259"/>
          <a:stretch/>
        </p:blipFill>
        <p:spPr>
          <a:xfrm>
            <a:off x="3124200" y="4191000"/>
            <a:ext cx="2882116" cy="1828800"/>
          </a:xfrm>
          <a:prstGeom prst="rect">
            <a:avLst/>
          </a:prstGeom>
        </p:spPr>
      </p:pic>
      <p:pic>
        <p:nvPicPr>
          <p:cNvPr id="17" name="Picture 16" descr="Striated cells.">
            <a:hlinkClick r:id="rId6" action="ppaction://hlinksldjump"/>
            <a:extLst>
              <a:ext uri="{FF2B5EF4-FFF2-40B4-BE49-F238E27FC236}">
                <a16:creationId xmlns:a16="http://schemas.microsoft.com/office/drawing/2014/main" id="{50323F08-12E8-8F46-9C11-FE2E8F149A9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24" t="7236" r="17562" b="14866"/>
          <a:stretch/>
        </p:blipFill>
        <p:spPr>
          <a:xfrm>
            <a:off x="6096000" y="4191000"/>
            <a:ext cx="2948534" cy="1826222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2E37B02-C4D4-0241-B06A-AA64CFA3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A2688-4400-D64A-A1D1-22303667EFD3}"/>
              </a:ext>
            </a:extLst>
          </p:cNvPr>
          <p:cNvSpPr/>
          <p:nvPr/>
        </p:nvSpPr>
        <p:spPr bwMode="auto">
          <a:xfrm>
            <a:off x="6162418" y="4191000"/>
            <a:ext cx="2882116" cy="1826222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36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78196" y="1330960"/>
            <a:ext cx="8965803" cy="5562600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3200" dirty="0">
                <a:latin typeface="+mj-lt"/>
              </a:rPr>
              <a:t>Most cells are bound to each other by plasma membrane connections called </a:t>
            </a:r>
            <a:r>
              <a:rPr lang="en-US" altLang="en-US" sz="3200" b="1" dirty="0">
                <a:latin typeface="+mj-lt"/>
              </a:rPr>
              <a:t>intercellular junctions</a:t>
            </a:r>
            <a:endParaRPr lang="en-US" altLang="en-US" sz="3200" dirty="0">
              <a:latin typeface="+mj-lt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3200" b="1" u="sng" dirty="0">
                <a:latin typeface="+mj-lt"/>
              </a:rPr>
              <a:t>3</a:t>
            </a:r>
            <a:r>
              <a:rPr lang="en-US" altLang="en-US" sz="3200" dirty="0">
                <a:latin typeface="+mj-lt"/>
              </a:rPr>
              <a:t> Types of Intercellular Junctions:</a:t>
            </a:r>
          </a:p>
          <a:p>
            <a:pPr marL="1279525" lvl="1" indent="-611188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altLang="en-US" sz="2800" b="1" dirty="0">
                <a:latin typeface="+mj-lt"/>
              </a:rPr>
              <a:t>Tight junctions</a:t>
            </a:r>
          </a:p>
          <a:p>
            <a:pPr marL="1279525" lvl="1" indent="-611188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altLang="en-US" sz="2800" b="1" dirty="0">
                <a:latin typeface="+mj-lt"/>
              </a:rPr>
              <a:t>Desmosomes</a:t>
            </a:r>
          </a:p>
          <a:p>
            <a:pPr marL="1279525" lvl="1" indent="-611188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altLang="en-US" sz="2800" b="1" dirty="0">
                <a:latin typeface="+mj-lt"/>
              </a:rPr>
              <a:t>Gap junctions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INTERCELLULAR JUNCTIONS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2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78196" y="1330960"/>
            <a:ext cx="8965803" cy="2479040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3200" b="1" dirty="0">
                <a:latin typeface="+mj-lt"/>
              </a:rPr>
              <a:t>Tight Junctions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Completely fuse cells together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Prevent substances from passing between cells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Forces substances to travel through cells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INTERCELLULAR JUNCTIONS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D6C3AF-FB40-764F-A1B4-BFA9D8BA597C}"/>
              </a:ext>
            </a:extLst>
          </p:cNvPr>
          <p:cNvSpPr/>
          <p:nvPr/>
        </p:nvSpPr>
        <p:spPr bwMode="auto">
          <a:xfrm>
            <a:off x="16002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858D5F-8B23-CB49-BC80-5BE151B5D940}"/>
              </a:ext>
            </a:extLst>
          </p:cNvPr>
          <p:cNvSpPr/>
          <p:nvPr/>
        </p:nvSpPr>
        <p:spPr bwMode="auto">
          <a:xfrm>
            <a:off x="22098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642F73-CAF9-A640-A40A-5984E22E897F}"/>
              </a:ext>
            </a:extLst>
          </p:cNvPr>
          <p:cNvSpPr/>
          <p:nvPr/>
        </p:nvSpPr>
        <p:spPr bwMode="auto">
          <a:xfrm>
            <a:off x="30480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8FA4F0-8756-1444-8FC2-96D43DEE32E3}"/>
              </a:ext>
            </a:extLst>
          </p:cNvPr>
          <p:cNvSpPr/>
          <p:nvPr/>
        </p:nvSpPr>
        <p:spPr bwMode="auto">
          <a:xfrm>
            <a:off x="36576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0F991F-732A-564E-B373-403113925627}"/>
              </a:ext>
            </a:extLst>
          </p:cNvPr>
          <p:cNvSpPr/>
          <p:nvPr/>
        </p:nvSpPr>
        <p:spPr bwMode="auto">
          <a:xfrm>
            <a:off x="44958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0FF8D0-FD1E-7347-8B35-848356BADC56}"/>
              </a:ext>
            </a:extLst>
          </p:cNvPr>
          <p:cNvSpPr/>
          <p:nvPr/>
        </p:nvSpPr>
        <p:spPr bwMode="auto">
          <a:xfrm>
            <a:off x="512064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81A231-ADF5-764C-BAE9-1CB2D7395973}"/>
              </a:ext>
            </a:extLst>
          </p:cNvPr>
          <p:cNvSpPr/>
          <p:nvPr/>
        </p:nvSpPr>
        <p:spPr bwMode="auto">
          <a:xfrm>
            <a:off x="59436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5F2C1E-654E-D44A-85F9-9F0E14897343}"/>
              </a:ext>
            </a:extLst>
          </p:cNvPr>
          <p:cNvSpPr/>
          <p:nvPr/>
        </p:nvSpPr>
        <p:spPr bwMode="auto">
          <a:xfrm>
            <a:off x="658368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5A3316-4CE5-604F-8EDA-81A17E500EBB}"/>
              </a:ext>
            </a:extLst>
          </p:cNvPr>
          <p:cNvSpPr/>
          <p:nvPr/>
        </p:nvSpPr>
        <p:spPr bwMode="auto">
          <a:xfrm>
            <a:off x="2819400" y="4724400"/>
            <a:ext cx="457200" cy="2286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2E544A-678A-EF4F-AB3C-2C666AD50CDA}"/>
              </a:ext>
            </a:extLst>
          </p:cNvPr>
          <p:cNvSpPr/>
          <p:nvPr/>
        </p:nvSpPr>
        <p:spPr bwMode="auto">
          <a:xfrm>
            <a:off x="4267200" y="4724400"/>
            <a:ext cx="457200" cy="2286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D947C-6DD6-FF45-9A7E-E5AAD835D518}"/>
              </a:ext>
            </a:extLst>
          </p:cNvPr>
          <p:cNvSpPr/>
          <p:nvPr/>
        </p:nvSpPr>
        <p:spPr bwMode="auto">
          <a:xfrm>
            <a:off x="5715000" y="4724400"/>
            <a:ext cx="457200" cy="2286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6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78196" y="1330960"/>
            <a:ext cx="8965803" cy="2479040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3200" b="1" dirty="0">
                <a:latin typeface="+mj-lt"/>
              </a:rPr>
              <a:t>Desmosomes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Do </a:t>
            </a:r>
            <a:r>
              <a:rPr lang="en-US" altLang="en-US" sz="2800" u="sng" dirty="0">
                <a:latin typeface="+mj-lt"/>
              </a:rPr>
              <a:t>not</a:t>
            </a:r>
            <a:r>
              <a:rPr lang="en-US" altLang="en-US" sz="2800" dirty="0">
                <a:latin typeface="+mj-lt"/>
              </a:rPr>
              <a:t> complete fuse cells together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Provide more strength than any other connection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INTERCELLULAR JUNCTIONS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D6C3AF-FB40-764F-A1B4-BFA9D8BA597C}"/>
              </a:ext>
            </a:extLst>
          </p:cNvPr>
          <p:cNvSpPr/>
          <p:nvPr/>
        </p:nvSpPr>
        <p:spPr bwMode="auto">
          <a:xfrm>
            <a:off x="13716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858D5F-8B23-CB49-BC80-5BE151B5D940}"/>
              </a:ext>
            </a:extLst>
          </p:cNvPr>
          <p:cNvSpPr/>
          <p:nvPr/>
        </p:nvSpPr>
        <p:spPr bwMode="auto">
          <a:xfrm>
            <a:off x="19812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642F73-CAF9-A640-A40A-5984E22E897F}"/>
              </a:ext>
            </a:extLst>
          </p:cNvPr>
          <p:cNvSpPr/>
          <p:nvPr/>
        </p:nvSpPr>
        <p:spPr bwMode="auto">
          <a:xfrm>
            <a:off x="30480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8FA4F0-8756-1444-8FC2-96D43DEE32E3}"/>
              </a:ext>
            </a:extLst>
          </p:cNvPr>
          <p:cNvSpPr/>
          <p:nvPr/>
        </p:nvSpPr>
        <p:spPr bwMode="auto">
          <a:xfrm>
            <a:off x="36576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0F991F-732A-564E-B373-403113925627}"/>
              </a:ext>
            </a:extLst>
          </p:cNvPr>
          <p:cNvSpPr/>
          <p:nvPr/>
        </p:nvSpPr>
        <p:spPr bwMode="auto">
          <a:xfrm>
            <a:off x="47244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0FF8D0-FD1E-7347-8B35-848356BADC56}"/>
              </a:ext>
            </a:extLst>
          </p:cNvPr>
          <p:cNvSpPr/>
          <p:nvPr/>
        </p:nvSpPr>
        <p:spPr bwMode="auto">
          <a:xfrm>
            <a:off x="534924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81A231-ADF5-764C-BAE9-1CB2D7395973}"/>
              </a:ext>
            </a:extLst>
          </p:cNvPr>
          <p:cNvSpPr/>
          <p:nvPr/>
        </p:nvSpPr>
        <p:spPr bwMode="auto">
          <a:xfrm>
            <a:off x="64008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5F2C1E-654E-D44A-85F9-9F0E14897343}"/>
              </a:ext>
            </a:extLst>
          </p:cNvPr>
          <p:cNvSpPr/>
          <p:nvPr/>
        </p:nvSpPr>
        <p:spPr bwMode="auto">
          <a:xfrm>
            <a:off x="704088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8E1D8DE2-47F5-6C45-BCA4-4D0A17457EF1}"/>
              </a:ext>
            </a:extLst>
          </p:cNvPr>
          <p:cNvSpPr/>
          <p:nvPr/>
        </p:nvSpPr>
        <p:spPr bwMode="auto">
          <a:xfrm rot="2689283">
            <a:off x="2743200" y="4574707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FC84618E-BDB6-2049-9ECA-407D383E7E7A}"/>
              </a:ext>
            </a:extLst>
          </p:cNvPr>
          <p:cNvSpPr/>
          <p:nvPr/>
        </p:nvSpPr>
        <p:spPr bwMode="auto">
          <a:xfrm rot="2689283">
            <a:off x="4416893" y="4574707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2203EBCB-8287-A946-83EE-62F9697ECCCE}"/>
              </a:ext>
            </a:extLst>
          </p:cNvPr>
          <p:cNvSpPr/>
          <p:nvPr/>
        </p:nvSpPr>
        <p:spPr bwMode="auto">
          <a:xfrm rot="2689283">
            <a:off x="6098707" y="4574707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53442C65-9A9C-C647-819F-9080CEC11E60}"/>
              </a:ext>
            </a:extLst>
          </p:cNvPr>
          <p:cNvSpPr/>
          <p:nvPr/>
        </p:nvSpPr>
        <p:spPr bwMode="auto">
          <a:xfrm rot="2689283">
            <a:off x="2745907" y="5788493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B34941B1-CBAF-884A-A506-2E397683EC70}"/>
              </a:ext>
            </a:extLst>
          </p:cNvPr>
          <p:cNvSpPr/>
          <p:nvPr/>
        </p:nvSpPr>
        <p:spPr bwMode="auto">
          <a:xfrm rot="2689283">
            <a:off x="4419600" y="5788493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4B25ED02-62E6-6D4A-BC99-2094B42E0561}"/>
              </a:ext>
            </a:extLst>
          </p:cNvPr>
          <p:cNvSpPr/>
          <p:nvPr/>
        </p:nvSpPr>
        <p:spPr bwMode="auto">
          <a:xfrm rot="2689283">
            <a:off x="6101414" y="5788493"/>
            <a:ext cx="381000" cy="381000"/>
          </a:xfrm>
          <a:prstGeom prst="plus">
            <a:avLst/>
          </a:prstGeom>
          <a:solidFill>
            <a:srgbClr val="FFC000"/>
          </a:solidFill>
          <a:ln w="9525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11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78196" y="1330960"/>
            <a:ext cx="8965803" cy="2479040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3200" b="1" dirty="0">
                <a:latin typeface="+mj-lt"/>
              </a:rPr>
              <a:t>Gap Junctions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Provide a passageway between cells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j-lt"/>
              </a:rPr>
              <a:t>Allow molecules to flow freely between cells</a:t>
            </a:r>
          </a:p>
          <a:p>
            <a:pPr lvl="2">
              <a:buSzPct val="100000"/>
              <a:buFont typeface="Wingdings" pitchFamily="2" charset="2"/>
              <a:buChar char="§"/>
            </a:pPr>
            <a:r>
              <a:rPr lang="en-US" altLang="en-US" sz="2600" dirty="0">
                <a:latin typeface="+mj-lt"/>
              </a:rPr>
              <a:t>Coordinates cellular activities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INTERCELLULAR JUNCTIONS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D6C3AF-FB40-764F-A1B4-BFA9D8BA597C}"/>
              </a:ext>
            </a:extLst>
          </p:cNvPr>
          <p:cNvSpPr/>
          <p:nvPr/>
        </p:nvSpPr>
        <p:spPr bwMode="auto">
          <a:xfrm>
            <a:off x="13716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858D5F-8B23-CB49-BC80-5BE151B5D940}"/>
              </a:ext>
            </a:extLst>
          </p:cNvPr>
          <p:cNvSpPr/>
          <p:nvPr/>
        </p:nvSpPr>
        <p:spPr bwMode="auto">
          <a:xfrm>
            <a:off x="19812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642F73-CAF9-A640-A40A-5984E22E897F}"/>
              </a:ext>
            </a:extLst>
          </p:cNvPr>
          <p:cNvSpPr/>
          <p:nvPr/>
        </p:nvSpPr>
        <p:spPr bwMode="auto">
          <a:xfrm>
            <a:off x="30480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8FA4F0-8756-1444-8FC2-96D43DEE32E3}"/>
              </a:ext>
            </a:extLst>
          </p:cNvPr>
          <p:cNvSpPr/>
          <p:nvPr/>
        </p:nvSpPr>
        <p:spPr bwMode="auto">
          <a:xfrm>
            <a:off x="365760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0F991F-732A-564E-B373-403113925627}"/>
              </a:ext>
            </a:extLst>
          </p:cNvPr>
          <p:cNvSpPr/>
          <p:nvPr/>
        </p:nvSpPr>
        <p:spPr bwMode="auto">
          <a:xfrm>
            <a:off x="47244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0FF8D0-FD1E-7347-8B35-848356BADC56}"/>
              </a:ext>
            </a:extLst>
          </p:cNvPr>
          <p:cNvSpPr/>
          <p:nvPr/>
        </p:nvSpPr>
        <p:spPr bwMode="auto">
          <a:xfrm>
            <a:off x="534924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81A231-ADF5-764C-BAE9-1CB2D7395973}"/>
              </a:ext>
            </a:extLst>
          </p:cNvPr>
          <p:cNvSpPr/>
          <p:nvPr/>
        </p:nvSpPr>
        <p:spPr bwMode="auto">
          <a:xfrm>
            <a:off x="6400800" y="4343400"/>
            <a:ext cx="1447800" cy="1981200"/>
          </a:xfrm>
          <a:prstGeom prst="round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5F2C1E-654E-D44A-85F9-9F0E14897343}"/>
              </a:ext>
            </a:extLst>
          </p:cNvPr>
          <p:cNvSpPr/>
          <p:nvPr/>
        </p:nvSpPr>
        <p:spPr bwMode="auto">
          <a:xfrm>
            <a:off x="7040880" y="5278120"/>
            <a:ext cx="457200" cy="4572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E4CDA2-725E-D44F-B8BB-8C70A7FD2ECB}"/>
              </a:ext>
            </a:extLst>
          </p:cNvPr>
          <p:cNvSpPr/>
          <p:nvPr/>
        </p:nvSpPr>
        <p:spPr bwMode="auto">
          <a:xfrm>
            <a:off x="2743200" y="47244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0BB27D-2A49-554F-89D9-13DFEDEA56A2}"/>
              </a:ext>
            </a:extLst>
          </p:cNvPr>
          <p:cNvSpPr/>
          <p:nvPr/>
        </p:nvSpPr>
        <p:spPr bwMode="auto">
          <a:xfrm>
            <a:off x="4339630" y="47244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9BCC04-345C-C44C-980C-19FFA2BFC580}"/>
              </a:ext>
            </a:extLst>
          </p:cNvPr>
          <p:cNvSpPr/>
          <p:nvPr/>
        </p:nvSpPr>
        <p:spPr bwMode="auto">
          <a:xfrm>
            <a:off x="6057900" y="47244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B6DE52-77DD-7341-94AB-D7CCA3B4FB81}"/>
              </a:ext>
            </a:extLst>
          </p:cNvPr>
          <p:cNvSpPr/>
          <p:nvPr/>
        </p:nvSpPr>
        <p:spPr bwMode="auto">
          <a:xfrm>
            <a:off x="2705100" y="52578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7D942C-F202-C740-A6C3-697C57069637}"/>
              </a:ext>
            </a:extLst>
          </p:cNvPr>
          <p:cNvSpPr/>
          <p:nvPr/>
        </p:nvSpPr>
        <p:spPr bwMode="auto">
          <a:xfrm>
            <a:off x="4301530" y="52578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4AA2B6-944B-8C46-840F-C0FC59F8F09D}"/>
              </a:ext>
            </a:extLst>
          </p:cNvPr>
          <p:cNvSpPr/>
          <p:nvPr/>
        </p:nvSpPr>
        <p:spPr bwMode="auto">
          <a:xfrm>
            <a:off x="6019800" y="52578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B3AD14-0108-EE45-9165-824F5789F4B1}"/>
              </a:ext>
            </a:extLst>
          </p:cNvPr>
          <p:cNvSpPr/>
          <p:nvPr/>
        </p:nvSpPr>
        <p:spPr bwMode="auto">
          <a:xfrm>
            <a:off x="2743200" y="57912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CB1C8D-85EE-3A4E-8295-C418BEA00B8D}"/>
              </a:ext>
            </a:extLst>
          </p:cNvPr>
          <p:cNvSpPr/>
          <p:nvPr/>
        </p:nvSpPr>
        <p:spPr bwMode="auto">
          <a:xfrm>
            <a:off x="4339630" y="57912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7D2AC7-2E6A-0544-BF76-2FFEE1AAB045}"/>
              </a:ext>
            </a:extLst>
          </p:cNvPr>
          <p:cNvSpPr/>
          <p:nvPr/>
        </p:nvSpPr>
        <p:spPr bwMode="auto">
          <a:xfrm>
            <a:off x="6057900" y="5791200"/>
            <a:ext cx="4572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88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INTERCELLULAR JUNCTIONS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4" name="Picture 23" descr="The three types of intercellular junctions: tight junctions, desmosomes, and gap junctions.">
            <a:extLst>
              <a:ext uri="{FF2B5EF4-FFF2-40B4-BE49-F238E27FC236}">
                <a16:creationId xmlns:a16="http://schemas.microsoft.com/office/drawing/2014/main" id="{CBAF6571-6728-5F48-B7F2-6EBFEA052A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3136" b="2980"/>
          <a:stretch/>
        </p:blipFill>
        <p:spPr>
          <a:xfrm>
            <a:off x="101168" y="1295400"/>
            <a:ext cx="8990646" cy="5334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5B75FE1A-6600-864B-A400-E8ABE7F1F3D0}"/>
              </a:ext>
            </a:extLst>
          </p:cNvPr>
          <p:cNvSpPr/>
          <p:nvPr/>
        </p:nvSpPr>
        <p:spPr bwMode="auto">
          <a:xfrm>
            <a:off x="24968" y="5074920"/>
            <a:ext cx="1362456" cy="7772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5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0" y="1254760"/>
            <a:ext cx="9143999" cy="5603240"/>
          </a:xfrm>
        </p:spPr>
        <p:txBody>
          <a:bodyPr>
            <a:normAutofit fontScale="92500"/>
          </a:bodyPr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dirty="0">
                <a:latin typeface="+mj-lt"/>
              </a:rPr>
              <a:t>Hypertrophy:</a:t>
            </a:r>
            <a:r>
              <a:rPr lang="en-US" altLang="en-US" sz="2800" dirty="0">
                <a:latin typeface="+mj-lt"/>
              </a:rPr>
              <a:t> An increase in the size of cells in an area</a:t>
            </a:r>
          </a:p>
          <a:p>
            <a:pPr marL="0" indent="0">
              <a:buSzPct val="100000"/>
              <a:buNone/>
            </a:pPr>
            <a:endParaRPr lang="en-US" altLang="en-US" sz="2000" dirty="0">
              <a:latin typeface="+mj-lt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dirty="0">
                <a:latin typeface="+mj-lt"/>
              </a:rPr>
              <a:t>Hyperplasia: </a:t>
            </a:r>
            <a:r>
              <a:rPr lang="en-US" altLang="en-US" sz="2800" dirty="0">
                <a:latin typeface="+mj-lt"/>
              </a:rPr>
              <a:t>An increase in number of cells in an area</a:t>
            </a:r>
          </a:p>
          <a:p>
            <a:pPr marL="0" indent="0">
              <a:buSzPct val="100000"/>
              <a:buNone/>
            </a:pPr>
            <a:endParaRPr lang="en-US" altLang="en-US" sz="2800" dirty="0">
              <a:latin typeface="+mj-lt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dirty="0">
                <a:latin typeface="+mj-lt"/>
              </a:rPr>
              <a:t>Atrophy:</a:t>
            </a:r>
            <a:r>
              <a:rPr lang="en-US" altLang="en-US" sz="2800" dirty="0">
                <a:latin typeface="+mj-lt"/>
              </a:rPr>
              <a:t> Shrinkage of tissue by cell size or number</a:t>
            </a:r>
          </a:p>
          <a:p>
            <a:pPr marL="0" indent="0">
              <a:buSzPct val="100000"/>
              <a:buNone/>
            </a:pPr>
            <a:endParaRPr lang="en-US" altLang="en-US" sz="2800" dirty="0">
              <a:latin typeface="+mj-lt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dirty="0">
                <a:latin typeface="+mj-lt"/>
              </a:rPr>
              <a:t>Neoplasia:</a:t>
            </a:r>
            <a:r>
              <a:rPr lang="en-US" altLang="en-US" sz="2800" dirty="0">
                <a:latin typeface="+mj-lt"/>
              </a:rPr>
              <a:t> Out-of-control growth, which forms a tumor</a:t>
            </a:r>
          </a:p>
          <a:p>
            <a:pPr lvl="1">
              <a:buSzPct val="100000"/>
              <a:buFont typeface="Wingdings" pitchFamily="2" charset="2"/>
              <a:buChar char="§"/>
            </a:pPr>
            <a:r>
              <a:rPr lang="en-US" altLang="en-US" sz="2400" dirty="0">
                <a:latin typeface="+mj-lt"/>
              </a:rPr>
              <a:t>Pre-neoplastic changes are referred to as </a:t>
            </a:r>
            <a:r>
              <a:rPr lang="en-US" altLang="en-US" sz="2400" b="1" dirty="0">
                <a:latin typeface="+mj-lt"/>
              </a:rPr>
              <a:t>dysplasia</a:t>
            </a:r>
          </a:p>
          <a:p>
            <a:pPr>
              <a:buSzPct val="100000"/>
              <a:buFont typeface="Wingdings" pitchFamily="2" charset="2"/>
              <a:buChar char="§"/>
            </a:pPr>
            <a:endParaRPr lang="en-US" altLang="en-US" sz="2800" dirty="0">
              <a:latin typeface="+mj-lt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dirty="0">
                <a:latin typeface="+mj-lt"/>
              </a:rPr>
              <a:t>Metaplasia:</a:t>
            </a:r>
            <a:r>
              <a:rPr lang="en-US" altLang="en-US" sz="2800" dirty="0">
                <a:latin typeface="+mj-lt"/>
              </a:rPr>
              <a:t> Cells change from one type to another</a:t>
            </a:r>
          </a:p>
          <a:p>
            <a:pPr marL="457200" lvl="1" indent="0">
              <a:buSzPct val="100000"/>
              <a:buNone/>
            </a:pPr>
            <a:endParaRPr lang="en-US" altLang="en-US" dirty="0">
              <a:latin typeface="+mj-lt"/>
            </a:endParaRPr>
          </a:p>
          <a:p>
            <a:pPr marL="0" indent="0" eaLnBrk="1" hangingPunct="1">
              <a:buNone/>
            </a:pPr>
            <a:endParaRPr lang="en-US" altLang="en-US" dirty="0">
              <a:latin typeface="+mj-lt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0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5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44000" cy="7383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lt"/>
                <a:ea typeface="+mj-ea"/>
              </a:rPr>
              <a:t>Which image accurately shows HYPERPLASIA?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4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364F55E4-EA76-9F45-A902-998111CE2587}"/>
              </a:ext>
            </a:extLst>
          </p:cNvPr>
          <p:cNvSpPr/>
          <p:nvPr/>
        </p:nvSpPr>
        <p:spPr bwMode="auto">
          <a:xfrm>
            <a:off x="3054310" y="1360227"/>
            <a:ext cx="3009606" cy="11012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045356-B968-964A-B165-7FE45E9E89DE}"/>
              </a:ext>
            </a:extLst>
          </p:cNvPr>
          <p:cNvGrpSpPr/>
          <p:nvPr/>
        </p:nvGrpSpPr>
        <p:grpSpPr>
          <a:xfrm>
            <a:off x="3200400" y="1600200"/>
            <a:ext cx="457200" cy="533400"/>
            <a:chOff x="1371600" y="4343400"/>
            <a:chExt cx="1447800" cy="1981200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6A95D71-6D4D-5342-8E22-9344AC80DA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99C481-F473-9F40-B267-D73DB642F1F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0C05FD-DA40-1A46-BE91-D47781D0206D}"/>
              </a:ext>
            </a:extLst>
          </p:cNvPr>
          <p:cNvGrpSpPr/>
          <p:nvPr/>
        </p:nvGrpSpPr>
        <p:grpSpPr>
          <a:xfrm>
            <a:off x="5029200" y="1447800"/>
            <a:ext cx="914400" cy="914400"/>
            <a:chOff x="1371600" y="4343400"/>
            <a:chExt cx="1447800" cy="198120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7839019-F5BD-5E43-8757-1AF479D21E5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64B8541-C127-8343-90E7-F20CD877B16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1EAAD1-8AE3-C547-A599-8AA419478F78}"/>
              </a:ext>
            </a:extLst>
          </p:cNvPr>
          <p:cNvGrpSpPr/>
          <p:nvPr/>
        </p:nvGrpSpPr>
        <p:grpSpPr>
          <a:xfrm>
            <a:off x="3175153" y="2819400"/>
            <a:ext cx="457200" cy="533400"/>
            <a:chOff x="1371600" y="4343400"/>
            <a:chExt cx="1447800" cy="1981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7AD5B5-42EE-7C40-A43F-BF8160914C0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90EA6D-8707-164B-B858-582B89A2E96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89D933-3F84-5346-BB76-4D09D2BACEA4}"/>
              </a:ext>
            </a:extLst>
          </p:cNvPr>
          <p:cNvGrpSpPr/>
          <p:nvPr/>
        </p:nvGrpSpPr>
        <p:grpSpPr>
          <a:xfrm>
            <a:off x="4963257" y="2819400"/>
            <a:ext cx="457200" cy="533400"/>
            <a:chOff x="1371600" y="4343400"/>
            <a:chExt cx="1447800" cy="19812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A29C7CD-493F-264A-A7BB-45FC5C80166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B810861-0B13-F843-A901-AE4E9C080DAA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1380DD-256B-A246-8E1F-32390E4B5402}"/>
              </a:ext>
            </a:extLst>
          </p:cNvPr>
          <p:cNvGrpSpPr/>
          <p:nvPr/>
        </p:nvGrpSpPr>
        <p:grpSpPr>
          <a:xfrm>
            <a:off x="5414211" y="2819400"/>
            <a:ext cx="457200" cy="533400"/>
            <a:chOff x="1371600" y="4343400"/>
            <a:chExt cx="1447800" cy="198120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F6D08D-02B7-B447-BE9B-BFD93452CCE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A9395B-16BA-544A-A9B3-CCFA805FBADC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EC57B-39BE-1E40-B242-9268BA878EB2}"/>
              </a:ext>
            </a:extLst>
          </p:cNvPr>
          <p:cNvGrpSpPr/>
          <p:nvPr/>
        </p:nvGrpSpPr>
        <p:grpSpPr>
          <a:xfrm>
            <a:off x="5871411" y="2819400"/>
            <a:ext cx="457200" cy="533400"/>
            <a:chOff x="1371600" y="4343400"/>
            <a:chExt cx="1447800" cy="198120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03740F06-99C6-7041-B8B8-AD1DA12CE56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2C292-E1DE-974B-9702-D40B887D90CB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292F127-59F3-A941-BB70-D44EDEB6F630}"/>
              </a:ext>
            </a:extLst>
          </p:cNvPr>
          <p:cNvGrpSpPr/>
          <p:nvPr/>
        </p:nvGrpSpPr>
        <p:grpSpPr>
          <a:xfrm>
            <a:off x="6329929" y="2819400"/>
            <a:ext cx="457200" cy="533400"/>
            <a:chOff x="1371600" y="4343400"/>
            <a:chExt cx="1447800" cy="1981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3C45E6A-06B8-8845-B4EE-38C8024154E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F729CA-156D-F043-A302-B24068FC6BE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38E7C6-F7A5-4E44-8C7C-F2C44AA70425}"/>
              </a:ext>
            </a:extLst>
          </p:cNvPr>
          <p:cNvGrpSpPr/>
          <p:nvPr/>
        </p:nvGrpSpPr>
        <p:grpSpPr>
          <a:xfrm>
            <a:off x="5105400" y="3962400"/>
            <a:ext cx="228600" cy="281745"/>
            <a:chOff x="1371600" y="4343400"/>
            <a:chExt cx="1447800" cy="198120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4D30B6F-B1DA-524F-AB97-0579EB22C58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A499B64-A1A3-AF4C-8D78-A3732CBD255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96BFEF-4480-0E4F-B2B2-46E407817450}"/>
              </a:ext>
            </a:extLst>
          </p:cNvPr>
          <p:cNvGrpSpPr/>
          <p:nvPr/>
        </p:nvGrpSpPr>
        <p:grpSpPr>
          <a:xfrm>
            <a:off x="2550066" y="3848100"/>
            <a:ext cx="457200" cy="533400"/>
            <a:chOff x="1371600" y="4343400"/>
            <a:chExt cx="1447800" cy="198120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BB69813-BC8C-164F-BC6D-24AB6A374B1B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8CD7DDB-892F-9948-892C-1B907EEDD61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980C77-BEE3-074D-B26C-AE0505068DC8}"/>
              </a:ext>
            </a:extLst>
          </p:cNvPr>
          <p:cNvGrpSpPr/>
          <p:nvPr/>
        </p:nvGrpSpPr>
        <p:grpSpPr>
          <a:xfrm>
            <a:off x="3001020" y="3848100"/>
            <a:ext cx="457200" cy="533400"/>
            <a:chOff x="1371600" y="4343400"/>
            <a:chExt cx="1447800" cy="198120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E86B6D88-A416-164A-8477-DB711244E49E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1A8CADE-6844-6C44-9FA2-D47A4EC1ABA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8B81A5-9276-BF4D-93B9-76477FF6C8FF}"/>
              </a:ext>
            </a:extLst>
          </p:cNvPr>
          <p:cNvGrpSpPr/>
          <p:nvPr/>
        </p:nvGrpSpPr>
        <p:grpSpPr>
          <a:xfrm>
            <a:off x="3458220" y="3848100"/>
            <a:ext cx="457200" cy="533400"/>
            <a:chOff x="1371600" y="4343400"/>
            <a:chExt cx="1447800" cy="1981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E696917-043A-F64A-B73A-478FA17DB24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A98BE0-C6E5-8D4C-A477-260F58F0639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6583DE-0127-7B45-8FA2-B84A43860E46}"/>
              </a:ext>
            </a:extLst>
          </p:cNvPr>
          <p:cNvGrpSpPr/>
          <p:nvPr/>
        </p:nvGrpSpPr>
        <p:grpSpPr>
          <a:xfrm>
            <a:off x="3916738" y="3848100"/>
            <a:ext cx="457200" cy="533400"/>
            <a:chOff x="1371600" y="4343400"/>
            <a:chExt cx="1447800" cy="1981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87ACE5-6E0C-0C4F-AF6D-3E86A21B3E1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51FD84A-2F6C-AA46-AA35-F2CF653F39F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BCEAD7-9F45-FB4F-AB5D-E6FF863207AA}"/>
              </a:ext>
            </a:extLst>
          </p:cNvPr>
          <p:cNvGrpSpPr/>
          <p:nvPr/>
        </p:nvGrpSpPr>
        <p:grpSpPr>
          <a:xfrm>
            <a:off x="3175153" y="4876800"/>
            <a:ext cx="457200" cy="533400"/>
            <a:chOff x="1371600" y="4343400"/>
            <a:chExt cx="1447800" cy="1981200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9DA713A-53F1-8141-9042-57708A3ED32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650F60-7085-6D42-BEB5-978322F96BB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7CA499-4835-F947-80D3-C918AC9FD2C0}"/>
              </a:ext>
            </a:extLst>
          </p:cNvPr>
          <p:cNvGrpSpPr/>
          <p:nvPr/>
        </p:nvGrpSpPr>
        <p:grpSpPr>
          <a:xfrm>
            <a:off x="5091099" y="4853745"/>
            <a:ext cx="457200" cy="533400"/>
            <a:chOff x="1371600" y="4343400"/>
            <a:chExt cx="1447800" cy="19812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9338806-600E-A242-94B9-59CD1B024AB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16FA9E0-F1A5-D449-9914-DA3DEC0B9E6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359A8C-AC94-CE48-AD1B-0C304F5010EC}"/>
              </a:ext>
            </a:extLst>
          </p:cNvPr>
          <p:cNvGrpSpPr/>
          <p:nvPr/>
        </p:nvGrpSpPr>
        <p:grpSpPr>
          <a:xfrm>
            <a:off x="5227951" y="4769944"/>
            <a:ext cx="457200" cy="533400"/>
            <a:chOff x="1371600" y="4343400"/>
            <a:chExt cx="1447800" cy="1981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637CA1D-ECEC-A341-8BDA-1740F1FFD4D0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886849D-E071-B145-BE32-E81A0503656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29BB27-557F-D24A-B08A-A5E9A9A6D4CE}"/>
              </a:ext>
            </a:extLst>
          </p:cNvPr>
          <p:cNvGrpSpPr/>
          <p:nvPr/>
        </p:nvGrpSpPr>
        <p:grpSpPr>
          <a:xfrm>
            <a:off x="5593403" y="4876800"/>
            <a:ext cx="278008" cy="459740"/>
            <a:chOff x="1371600" y="4343400"/>
            <a:chExt cx="1447800" cy="1981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55E7B37-FF9B-A948-9833-56AF9DA8BA2C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370D33-6379-D34E-9675-06894495EA0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EBB08B-3E2D-884F-B1C1-2EBF8DE1F8C5}"/>
              </a:ext>
            </a:extLst>
          </p:cNvPr>
          <p:cNvGrpSpPr/>
          <p:nvPr/>
        </p:nvGrpSpPr>
        <p:grpSpPr>
          <a:xfrm>
            <a:off x="5416973" y="5199797"/>
            <a:ext cx="285996" cy="290622"/>
            <a:chOff x="1371600" y="4343400"/>
            <a:chExt cx="1447800" cy="1981200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751493A-2F54-904C-AF69-FB6EFEE2FEF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7F38AFF-425D-0243-82BF-C777D172C5D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54D4AB-2BA0-4540-9174-1CF482A97CB2}"/>
              </a:ext>
            </a:extLst>
          </p:cNvPr>
          <p:cNvGrpSpPr/>
          <p:nvPr/>
        </p:nvGrpSpPr>
        <p:grpSpPr>
          <a:xfrm>
            <a:off x="5836338" y="4739144"/>
            <a:ext cx="638922" cy="572979"/>
            <a:chOff x="1371600" y="4343400"/>
            <a:chExt cx="1447800" cy="1981200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BAF83DF9-7A9F-4B4F-88B3-7F5960CB50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C365E3-ABC2-4D4D-9BF5-955ED921506F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73861A-2FA0-D34D-BE39-E677A1E3288B}"/>
              </a:ext>
            </a:extLst>
          </p:cNvPr>
          <p:cNvGrpSpPr/>
          <p:nvPr/>
        </p:nvGrpSpPr>
        <p:grpSpPr>
          <a:xfrm>
            <a:off x="5821978" y="5091757"/>
            <a:ext cx="386317" cy="394643"/>
            <a:chOff x="1371600" y="4343400"/>
            <a:chExt cx="1447800" cy="1981200"/>
          </a:xfrm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09D97F43-1C08-EF4D-BD20-2D4F99ADD246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0FE35-4B46-324A-A7FA-4C854E2546E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8F2FED-86B8-5941-BECE-82914294052F}"/>
              </a:ext>
            </a:extLst>
          </p:cNvPr>
          <p:cNvGrpSpPr/>
          <p:nvPr/>
        </p:nvGrpSpPr>
        <p:grpSpPr>
          <a:xfrm>
            <a:off x="3193525" y="5992377"/>
            <a:ext cx="457200" cy="533400"/>
            <a:chOff x="1371600" y="4343400"/>
            <a:chExt cx="1447800" cy="1981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BAE306F9-7708-D24E-A6BD-8AED7E9F436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FF54C4F-BB79-554D-A525-569E95E636E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650F735-461E-2D42-BB41-2827E0D7FC35}"/>
              </a:ext>
            </a:extLst>
          </p:cNvPr>
          <p:cNvSpPr/>
          <p:nvPr/>
        </p:nvSpPr>
        <p:spPr bwMode="auto">
          <a:xfrm>
            <a:off x="5029200" y="5992377"/>
            <a:ext cx="457200" cy="533400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6037D2D-6E0E-564F-A17C-81B69CCAD397}"/>
              </a:ext>
            </a:extLst>
          </p:cNvPr>
          <p:cNvSpPr/>
          <p:nvPr/>
        </p:nvSpPr>
        <p:spPr bwMode="auto">
          <a:xfrm>
            <a:off x="5221705" y="6244032"/>
            <a:ext cx="144379" cy="123092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CD952EA-0F8A-7E41-8F6C-E3224F4B946A}"/>
              </a:ext>
            </a:extLst>
          </p:cNvPr>
          <p:cNvCxnSpPr/>
          <p:nvPr/>
        </p:nvCxnSpPr>
        <p:spPr bwMode="auto">
          <a:xfrm>
            <a:off x="3795104" y="1905000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86413E1-E4B4-9449-96E6-0072EDF4806C}"/>
              </a:ext>
            </a:extLst>
          </p:cNvPr>
          <p:cNvCxnSpPr/>
          <p:nvPr/>
        </p:nvCxnSpPr>
        <p:spPr bwMode="auto">
          <a:xfrm>
            <a:off x="3722914" y="3092291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28177E-A7C8-EA4A-9537-B44C7EA1DE33}"/>
              </a:ext>
            </a:extLst>
          </p:cNvPr>
          <p:cNvCxnSpPr>
            <a:cxnSpLocks/>
          </p:cNvCxnSpPr>
          <p:nvPr/>
        </p:nvCxnSpPr>
        <p:spPr bwMode="auto">
          <a:xfrm>
            <a:off x="4419600" y="4095326"/>
            <a:ext cx="61480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24A9FC-D111-B64B-80C0-92BE7C19F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820" y="5120445"/>
            <a:ext cx="1342380" cy="80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08C4C2-1FA3-7540-A2B1-BE1828E09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3722914" y="6251000"/>
            <a:ext cx="1240343" cy="160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9" name="Rectangle 108">
            <a:hlinkClick r:id="" action="ppaction://noaction"/>
            <a:extLst>
              <a:ext uri="{FF2B5EF4-FFF2-40B4-BE49-F238E27FC236}">
                <a16:creationId xmlns:a16="http://schemas.microsoft.com/office/drawing/2014/main" id="{66611196-B1B6-8749-8594-D9CB91B8917D}"/>
              </a:ext>
            </a:extLst>
          </p:cNvPr>
          <p:cNvSpPr/>
          <p:nvPr/>
        </p:nvSpPr>
        <p:spPr bwMode="auto">
          <a:xfrm>
            <a:off x="2472467" y="3672746"/>
            <a:ext cx="301393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0" name="Rectangle 109">
            <a:hlinkClick r:id="" action="ppaction://noaction"/>
            <a:extLst>
              <a:ext uri="{FF2B5EF4-FFF2-40B4-BE49-F238E27FC236}">
                <a16:creationId xmlns:a16="http://schemas.microsoft.com/office/drawing/2014/main" id="{3CF067A2-8092-B849-B037-866065FE50C4}"/>
              </a:ext>
            </a:extLst>
          </p:cNvPr>
          <p:cNvSpPr/>
          <p:nvPr/>
        </p:nvSpPr>
        <p:spPr bwMode="auto">
          <a:xfrm>
            <a:off x="3104994" y="4724805"/>
            <a:ext cx="3561819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1" name="Rectangle 110">
            <a:hlinkClick r:id="" action="ppaction://noaction"/>
            <a:extLst>
              <a:ext uri="{FF2B5EF4-FFF2-40B4-BE49-F238E27FC236}">
                <a16:creationId xmlns:a16="http://schemas.microsoft.com/office/drawing/2014/main" id="{045BC9F3-9EE7-964E-B998-A7B961684301}"/>
              </a:ext>
            </a:extLst>
          </p:cNvPr>
          <p:cNvSpPr/>
          <p:nvPr/>
        </p:nvSpPr>
        <p:spPr bwMode="auto">
          <a:xfrm>
            <a:off x="3097894" y="5864678"/>
            <a:ext cx="2612565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58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5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44000" cy="7383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lt"/>
                <a:ea typeface="+mj-ea"/>
              </a:rPr>
              <a:t>Which image accurately shows HYPERTROPHY?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045356-B968-964A-B165-7FE45E9E89DE}"/>
              </a:ext>
            </a:extLst>
          </p:cNvPr>
          <p:cNvGrpSpPr/>
          <p:nvPr/>
        </p:nvGrpSpPr>
        <p:grpSpPr>
          <a:xfrm>
            <a:off x="3200400" y="1600200"/>
            <a:ext cx="457200" cy="533400"/>
            <a:chOff x="1371600" y="4343400"/>
            <a:chExt cx="1447800" cy="1981200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6A95D71-6D4D-5342-8E22-9344AC80DA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99C481-F473-9F40-B267-D73DB642F1F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0C05FD-DA40-1A46-BE91-D47781D0206D}"/>
              </a:ext>
            </a:extLst>
          </p:cNvPr>
          <p:cNvGrpSpPr/>
          <p:nvPr/>
        </p:nvGrpSpPr>
        <p:grpSpPr>
          <a:xfrm>
            <a:off x="5029200" y="1447800"/>
            <a:ext cx="914400" cy="914400"/>
            <a:chOff x="1371600" y="4343400"/>
            <a:chExt cx="1447800" cy="198120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7839019-F5BD-5E43-8757-1AF479D21E5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64B8541-C127-8343-90E7-F20CD877B16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1EAAD1-8AE3-C547-A599-8AA419478F78}"/>
              </a:ext>
            </a:extLst>
          </p:cNvPr>
          <p:cNvGrpSpPr/>
          <p:nvPr/>
        </p:nvGrpSpPr>
        <p:grpSpPr>
          <a:xfrm>
            <a:off x="3175153" y="2819400"/>
            <a:ext cx="457200" cy="533400"/>
            <a:chOff x="1371600" y="4343400"/>
            <a:chExt cx="1447800" cy="1981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7AD5B5-42EE-7C40-A43F-BF8160914C0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90EA6D-8707-164B-B858-582B89A2E96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89D933-3F84-5346-BB76-4D09D2BACEA4}"/>
              </a:ext>
            </a:extLst>
          </p:cNvPr>
          <p:cNvGrpSpPr/>
          <p:nvPr/>
        </p:nvGrpSpPr>
        <p:grpSpPr>
          <a:xfrm>
            <a:off x="4963257" y="2819400"/>
            <a:ext cx="457200" cy="533400"/>
            <a:chOff x="1371600" y="4343400"/>
            <a:chExt cx="1447800" cy="19812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A29C7CD-493F-264A-A7BB-45FC5C80166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B810861-0B13-F843-A901-AE4E9C080DAA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1380DD-256B-A246-8E1F-32390E4B5402}"/>
              </a:ext>
            </a:extLst>
          </p:cNvPr>
          <p:cNvGrpSpPr/>
          <p:nvPr/>
        </p:nvGrpSpPr>
        <p:grpSpPr>
          <a:xfrm>
            <a:off x="5414211" y="2819400"/>
            <a:ext cx="457200" cy="533400"/>
            <a:chOff x="1371600" y="4343400"/>
            <a:chExt cx="1447800" cy="198120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F6D08D-02B7-B447-BE9B-BFD93452CCE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A9395B-16BA-544A-A9B3-CCFA805FBADC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EC57B-39BE-1E40-B242-9268BA878EB2}"/>
              </a:ext>
            </a:extLst>
          </p:cNvPr>
          <p:cNvGrpSpPr/>
          <p:nvPr/>
        </p:nvGrpSpPr>
        <p:grpSpPr>
          <a:xfrm>
            <a:off x="5871411" y="2819400"/>
            <a:ext cx="457200" cy="533400"/>
            <a:chOff x="1371600" y="4343400"/>
            <a:chExt cx="1447800" cy="198120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03740F06-99C6-7041-B8B8-AD1DA12CE56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2C292-E1DE-974B-9702-D40B887D90CB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292F127-59F3-A941-BB70-D44EDEB6F630}"/>
              </a:ext>
            </a:extLst>
          </p:cNvPr>
          <p:cNvGrpSpPr/>
          <p:nvPr/>
        </p:nvGrpSpPr>
        <p:grpSpPr>
          <a:xfrm>
            <a:off x="6329929" y="2819400"/>
            <a:ext cx="457200" cy="533400"/>
            <a:chOff x="1371600" y="4343400"/>
            <a:chExt cx="1447800" cy="1981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3C45E6A-06B8-8845-B4EE-38C8024154E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F729CA-156D-F043-A302-B24068FC6BE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38E7C6-F7A5-4E44-8C7C-F2C44AA70425}"/>
              </a:ext>
            </a:extLst>
          </p:cNvPr>
          <p:cNvGrpSpPr/>
          <p:nvPr/>
        </p:nvGrpSpPr>
        <p:grpSpPr>
          <a:xfrm>
            <a:off x="5105400" y="3962400"/>
            <a:ext cx="228600" cy="281745"/>
            <a:chOff x="1371600" y="4343400"/>
            <a:chExt cx="1447800" cy="198120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4D30B6F-B1DA-524F-AB97-0579EB22C58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A499B64-A1A3-AF4C-8D78-A3732CBD255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96BFEF-4480-0E4F-B2B2-46E407817450}"/>
              </a:ext>
            </a:extLst>
          </p:cNvPr>
          <p:cNvGrpSpPr/>
          <p:nvPr/>
        </p:nvGrpSpPr>
        <p:grpSpPr>
          <a:xfrm>
            <a:off x="2550066" y="3848100"/>
            <a:ext cx="457200" cy="533400"/>
            <a:chOff x="1371600" y="4343400"/>
            <a:chExt cx="1447800" cy="198120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BB69813-BC8C-164F-BC6D-24AB6A374B1B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8CD7DDB-892F-9948-892C-1B907EEDD61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980C77-BEE3-074D-B26C-AE0505068DC8}"/>
              </a:ext>
            </a:extLst>
          </p:cNvPr>
          <p:cNvGrpSpPr/>
          <p:nvPr/>
        </p:nvGrpSpPr>
        <p:grpSpPr>
          <a:xfrm>
            <a:off x="3001020" y="3848100"/>
            <a:ext cx="457200" cy="533400"/>
            <a:chOff x="1371600" y="4343400"/>
            <a:chExt cx="1447800" cy="198120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E86B6D88-A416-164A-8477-DB711244E49E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1A8CADE-6844-6C44-9FA2-D47A4EC1ABA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8B81A5-9276-BF4D-93B9-76477FF6C8FF}"/>
              </a:ext>
            </a:extLst>
          </p:cNvPr>
          <p:cNvGrpSpPr/>
          <p:nvPr/>
        </p:nvGrpSpPr>
        <p:grpSpPr>
          <a:xfrm>
            <a:off x="3458220" y="3848100"/>
            <a:ext cx="457200" cy="533400"/>
            <a:chOff x="1371600" y="4343400"/>
            <a:chExt cx="1447800" cy="1981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E696917-043A-F64A-B73A-478FA17DB24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A98BE0-C6E5-8D4C-A477-260F58F0639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6583DE-0127-7B45-8FA2-B84A43860E46}"/>
              </a:ext>
            </a:extLst>
          </p:cNvPr>
          <p:cNvGrpSpPr/>
          <p:nvPr/>
        </p:nvGrpSpPr>
        <p:grpSpPr>
          <a:xfrm>
            <a:off x="3916738" y="3848100"/>
            <a:ext cx="457200" cy="533400"/>
            <a:chOff x="1371600" y="4343400"/>
            <a:chExt cx="1447800" cy="1981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87ACE5-6E0C-0C4F-AF6D-3E86A21B3E1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51FD84A-2F6C-AA46-AA35-F2CF653F39F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BCEAD7-9F45-FB4F-AB5D-E6FF863207AA}"/>
              </a:ext>
            </a:extLst>
          </p:cNvPr>
          <p:cNvGrpSpPr/>
          <p:nvPr/>
        </p:nvGrpSpPr>
        <p:grpSpPr>
          <a:xfrm>
            <a:off x="3175153" y="4876800"/>
            <a:ext cx="457200" cy="533400"/>
            <a:chOff x="1371600" y="4343400"/>
            <a:chExt cx="1447800" cy="1981200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9DA713A-53F1-8141-9042-57708A3ED32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650F60-7085-6D42-BEB5-978322F96BB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7CA499-4835-F947-80D3-C918AC9FD2C0}"/>
              </a:ext>
            </a:extLst>
          </p:cNvPr>
          <p:cNvGrpSpPr/>
          <p:nvPr/>
        </p:nvGrpSpPr>
        <p:grpSpPr>
          <a:xfrm>
            <a:off x="5091099" y="4853745"/>
            <a:ext cx="457200" cy="533400"/>
            <a:chOff x="1371600" y="4343400"/>
            <a:chExt cx="1447800" cy="19812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9338806-600E-A242-94B9-59CD1B024AB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16FA9E0-F1A5-D449-9914-DA3DEC0B9E6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359A8C-AC94-CE48-AD1B-0C304F5010EC}"/>
              </a:ext>
            </a:extLst>
          </p:cNvPr>
          <p:cNvGrpSpPr/>
          <p:nvPr/>
        </p:nvGrpSpPr>
        <p:grpSpPr>
          <a:xfrm>
            <a:off x="5227951" y="4769944"/>
            <a:ext cx="457200" cy="533400"/>
            <a:chOff x="1371600" y="4343400"/>
            <a:chExt cx="1447800" cy="1981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637CA1D-ECEC-A341-8BDA-1740F1FFD4D0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886849D-E071-B145-BE32-E81A0503656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29BB27-557F-D24A-B08A-A5E9A9A6D4CE}"/>
              </a:ext>
            </a:extLst>
          </p:cNvPr>
          <p:cNvGrpSpPr/>
          <p:nvPr/>
        </p:nvGrpSpPr>
        <p:grpSpPr>
          <a:xfrm>
            <a:off x="5593403" y="4876800"/>
            <a:ext cx="278008" cy="459740"/>
            <a:chOff x="1371600" y="4343400"/>
            <a:chExt cx="1447800" cy="1981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55E7B37-FF9B-A948-9833-56AF9DA8BA2C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370D33-6379-D34E-9675-06894495EA0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EBB08B-3E2D-884F-B1C1-2EBF8DE1F8C5}"/>
              </a:ext>
            </a:extLst>
          </p:cNvPr>
          <p:cNvGrpSpPr/>
          <p:nvPr/>
        </p:nvGrpSpPr>
        <p:grpSpPr>
          <a:xfrm>
            <a:off x="5416973" y="5199797"/>
            <a:ext cx="285996" cy="290622"/>
            <a:chOff x="1371600" y="4343400"/>
            <a:chExt cx="1447800" cy="1981200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751493A-2F54-904C-AF69-FB6EFEE2FEF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7F38AFF-425D-0243-82BF-C777D172C5D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54D4AB-2BA0-4540-9174-1CF482A97CB2}"/>
              </a:ext>
            </a:extLst>
          </p:cNvPr>
          <p:cNvGrpSpPr/>
          <p:nvPr/>
        </p:nvGrpSpPr>
        <p:grpSpPr>
          <a:xfrm>
            <a:off x="5836338" y="4739144"/>
            <a:ext cx="638922" cy="572979"/>
            <a:chOff x="1371600" y="4343400"/>
            <a:chExt cx="1447800" cy="1981200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BAF83DF9-7A9F-4B4F-88B3-7F5960CB50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C365E3-ABC2-4D4D-9BF5-955ED921506F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73861A-2FA0-D34D-BE39-E677A1E3288B}"/>
              </a:ext>
            </a:extLst>
          </p:cNvPr>
          <p:cNvGrpSpPr/>
          <p:nvPr/>
        </p:nvGrpSpPr>
        <p:grpSpPr>
          <a:xfrm>
            <a:off x="5821978" y="5091757"/>
            <a:ext cx="386317" cy="394643"/>
            <a:chOff x="1371600" y="4343400"/>
            <a:chExt cx="1447800" cy="1981200"/>
          </a:xfrm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09D97F43-1C08-EF4D-BD20-2D4F99ADD246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0FE35-4B46-324A-A7FA-4C854E2546E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8F2FED-86B8-5941-BECE-82914294052F}"/>
              </a:ext>
            </a:extLst>
          </p:cNvPr>
          <p:cNvGrpSpPr/>
          <p:nvPr/>
        </p:nvGrpSpPr>
        <p:grpSpPr>
          <a:xfrm>
            <a:off x="3193525" y="5992377"/>
            <a:ext cx="457200" cy="533400"/>
            <a:chOff x="1371600" y="4343400"/>
            <a:chExt cx="1447800" cy="1981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BAE306F9-7708-D24E-A6BD-8AED7E9F436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FF54C4F-BB79-554D-A525-569E95E636E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650F735-461E-2D42-BB41-2827E0D7FC35}"/>
              </a:ext>
            </a:extLst>
          </p:cNvPr>
          <p:cNvSpPr/>
          <p:nvPr/>
        </p:nvSpPr>
        <p:spPr bwMode="auto">
          <a:xfrm>
            <a:off x="5029200" y="5992377"/>
            <a:ext cx="457200" cy="533400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6037D2D-6E0E-564F-A17C-81B69CCAD397}"/>
              </a:ext>
            </a:extLst>
          </p:cNvPr>
          <p:cNvSpPr/>
          <p:nvPr/>
        </p:nvSpPr>
        <p:spPr bwMode="auto">
          <a:xfrm>
            <a:off x="5221705" y="6244032"/>
            <a:ext cx="144379" cy="123092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CD952EA-0F8A-7E41-8F6C-E3224F4B946A}"/>
              </a:ext>
            </a:extLst>
          </p:cNvPr>
          <p:cNvCxnSpPr/>
          <p:nvPr/>
        </p:nvCxnSpPr>
        <p:spPr bwMode="auto">
          <a:xfrm>
            <a:off x="3795104" y="1905000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86413E1-E4B4-9449-96E6-0072EDF4806C}"/>
              </a:ext>
            </a:extLst>
          </p:cNvPr>
          <p:cNvCxnSpPr/>
          <p:nvPr/>
        </p:nvCxnSpPr>
        <p:spPr bwMode="auto">
          <a:xfrm>
            <a:off x="3722914" y="3092291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28177E-A7C8-EA4A-9537-B44C7EA1DE33}"/>
              </a:ext>
            </a:extLst>
          </p:cNvPr>
          <p:cNvCxnSpPr>
            <a:cxnSpLocks/>
          </p:cNvCxnSpPr>
          <p:nvPr/>
        </p:nvCxnSpPr>
        <p:spPr bwMode="auto">
          <a:xfrm>
            <a:off x="4419600" y="4095326"/>
            <a:ext cx="61480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24A9FC-D111-B64B-80C0-92BE7C19F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820" y="5120445"/>
            <a:ext cx="1342380" cy="80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08C4C2-1FA3-7540-A2B1-BE1828E09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3722914" y="6251000"/>
            <a:ext cx="1240343" cy="160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107">
            <a:hlinkClick r:id="rId3" action="ppaction://hlinksldjump"/>
            <a:extLst>
              <a:ext uri="{FF2B5EF4-FFF2-40B4-BE49-F238E27FC236}">
                <a16:creationId xmlns:a16="http://schemas.microsoft.com/office/drawing/2014/main" id="{AECD3239-F57A-4443-926C-D1D2F9FFB4DB}"/>
              </a:ext>
            </a:extLst>
          </p:cNvPr>
          <p:cNvSpPr/>
          <p:nvPr/>
        </p:nvSpPr>
        <p:spPr bwMode="auto">
          <a:xfrm>
            <a:off x="3067196" y="2606348"/>
            <a:ext cx="386700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9" name="Rectangle 108">
            <a:hlinkClick r:id="rId3" action="ppaction://hlinksldjump"/>
            <a:extLst>
              <a:ext uri="{FF2B5EF4-FFF2-40B4-BE49-F238E27FC236}">
                <a16:creationId xmlns:a16="http://schemas.microsoft.com/office/drawing/2014/main" id="{66611196-B1B6-8749-8594-D9CB91B8917D}"/>
              </a:ext>
            </a:extLst>
          </p:cNvPr>
          <p:cNvSpPr/>
          <p:nvPr/>
        </p:nvSpPr>
        <p:spPr bwMode="auto">
          <a:xfrm>
            <a:off x="2472467" y="3672746"/>
            <a:ext cx="301393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0" name="Rectangle 109">
            <a:hlinkClick r:id="rId3" action="ppaction://hlinksldjump"/>
            <a:extLst>
              <a:ext uri="{FF2B5EF4-FFF2-40B4-BE49-F238E27FC236}">
                <a16:creationId xmlns:a16="http://schemas.microsoft.com/office/drawing/2014/main" id="{3CF067A2-8092-B849-B037-866065FE50C4}"/>
              </a:ext>
            </a:extLst>
          </p:cNvPr>
          <p:cNvSpPr/>
          <p:nvPr/>
        </p:nvSpPr>
        <p:spPr bwMode="auto">
          <a:xfrm>
            <a:off x="3104994" y="4724805"/>
            <a:ext cx="3561819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1" name="Rectangle 110">
            <a:hlinkClick r:id="rId3" action="ppaction://hlinksldjump"/>
            <a:extLst>
              <a:ext uri="{FF2B5EF4-FFF2-40B4-BE49-F238E27FC236}">
                <a16:creationId xmlns:a16="http://schemas.microsoft.com/office/drawing/2014/main" id="{045BC9F3-9EE7-964E-B998-A7B961684301}"/>
              </a:ext>
            </a:extLst>
          </p:cNvPr>
          <p:cNvSpPr/>
          <p:nvPr/>
        </p:nvSpPr>
        <p:spPr bwMode="auto">
          <a:xfrm>
            <a:off x="3097894" y="5864678"/>
            <a:ext cx="2612565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06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5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44000" cy="7383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lt"/>
                <a:ea typeface="+mj-ea"/>
              </a:rPr>
              <a:t>Which image accurately shows METAPLASIA?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045356-B968-964A-B165-7FE45E9E89DE}"/>
              </a:ext>
            </a:extLst>
          </p:cNvPr>
          <p:cNvGrpSpPr/>
          <p:nvPr/>
        </p:nvGrpSpPr>
        <p:grpSpPr>
          <a:xfrm>
            <a:off x="3200400" y="1600200"/>
            <a:ext cx="457200" cy="533400"/>
            <a:chOff x="1371600" y="4343400"/>
            <a:chExt cx="1447800" cy="1981200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6A95D71-6D4D-5342-8E22-9344AC80DA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99C481-F473-9F40-B267-D73DB642F1F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0C05FD-DA40-1A46-BE91-D47781D0206D}"/>
              </a:ext>
            </a:extLst>
          </p:cNvPr>
          <p:cNvGrpSpPr/>
          <p:nvPr/>
        </p:nvGrpSpPr>
        <p:grpSpPr>
          <a:xfrm>
            <a:off x="5029200" y="1447800"/>
            <a:ext cx="914400" cy="914400"/>
            <a:chOff x="1371600" y="4343400"/>
            <a:chExt cx="1447800" cy="198120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7839019-F5BD-5E43-8757-1AF479D21E5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64B8541-C127-8343-90E7-F20CD877B16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1EAAD1-8AE3-C547-A599-8AA419478F78}"/>
              </a:ext>
            </a:extLst>
          </p:cNvPr>
          <p:cNvGrpSpPr/>
          <p:nvPr/>
        </p:nvGrpSpPr>
        <p:grpSpPr>
          <a:xfrm>
            <a:off x="3175153" y="2819400"/>
            <a:ext cx="457200" cy="533400"/>
            <a:chOff x="1371600" y="4343400"/>
            <a:chExt cx="1447800" cy="1981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7AD5B5-42EE-7C40-A43F-BF8160914C0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90EA6D-8707-164B-B858-582B89A2E96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89D933-3F84-5346-BB76-4D09D2BACEA4}"/>
              </a:ext>
            </a:extLst>
          </p:cNvPr>
          <p:cNvGrpSpPr/>
          <p:nvPr/>
        </p:nvGrpSpPr>
        <p:grpSpPr>
          <a:xfrm>
            <a:off x="4963257" y="2819400"/>
            <a:ext cx="457200" cy="533400"/>
            <a:chOff x="1371600" y="4343400"/>
            <a:chExt cx="1447800" cy="19812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A29C7CD-493F-264A-A7BB-45FC5C80166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B810861-0B13-F843-A901-AE4E9C080DAA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1380DD-256B-A246-8E1F-32390E4B5402}"/>
              </a:ext>
            </a:extLst>
          </p:cNvPr>
          <p:cNvGrpSpPr/>
          <p:nvPr/>
        </p:nvGrpSpPr>
        <p:grpSpPr>
          <a:xfrm>
            <a:off x="5414211" y="2819400"/>
            <a:ext cx="457200" cy="533400"/>
            <a:chOff x="1371600" y="4343400"/>
            <a:chExt cx="1447800" cy="198120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F6D08D-02B7-B447-BE9B-BFD93452CCE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A9395B-16BA-544A-A9B3-CCFA805FBADC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EC57B-39BE-1E40-B242-9268BA878EB2}"/>
              </a:ext>
            </a:extLst>
          </p:cNvPr>
          <p:cNvGrpSpPr/>
          <p:nvPr/>
        </p:nvGrpSpPr>
        <p:grpSpPr>
          <a:xfrm>
            <a:off x="5871411" y="2819400"/>
            <a:ext cx="457200" cy="533400"/>
            <a:chOff x="1371600" y="4343400"/>
            <a:chExt cx="1447800" cy="198120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03740F06-99C6-7041-B8B8-AD1DA12CE56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2C292-E1DE-974B-9702-D40B887D90CB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292F127-59F3-A941-BB70-D44EDEB6F630}"/>
              </a:ext>
            </a:extLst>
          </p:cNvPr>
          <p:cNvGrpSpPr/>
          <p:nvPr/>
        </p:nvGrpSpPr>
        <p:grpSpPr>
          <a:xfrm>
            <a:off x="6329929" y="2819400"/>
            <a:ext cx="457200" cy="533400"/>
            <a:chOff x="1371600" y="4343400"/>
            <a:chExt cx="1447800" cy="1981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3C45E6A-06B8-8845-B4EE-38C8024154E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F729CA-156D-F043-A302-B24068FC6BE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38E7C6-F7A5-4E44-8C7C-F2C44AA70425}"/>
              </a:ext>
            </a:extLst>
          </p:cNvPr>
          <p:cNvGrpSpPr/>
          <p:nvPr/>
        </p:nvGrpSpPr>
        <p:grpSpPr>
          <a:xfrm>
            <a:off x="5105400" y="3962400"/>
            <a:ext cx="228600" cy="281745"/>
            <a:chOff x="1371600" y="4343400"/>
            <a:chExt cx="1447800" cy="198120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4D30B6F-B1DA-524F-AB97-0579EB22C58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A499B64-A1A3-AF4C-8D78-A3732CBD255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96BFEF-4480-0E4F-B2B2-46E407817450}"/>
              </a:ext>
            </a:extLst>
          </p:cNvPr>
          <p:cNvGrpSpPr/>
          <p:nvPr/>
        </p:nvGrpSpPr>
        <p:grpSpPr>
          <a:xfrm>
            <a:off x="2550066" y="3848100"/>
            <a:ext cx="457200" cy="533400"/>
            <a:chOff x="1371600" y="4343400"/>
            <a:chExt cx="1447800" cy="198120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BB69813-BC8C-164F-BC6D-24AB6A374B1B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8CD7DDB-892F-9948-892C-1B907EEDD61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980C77-BEE3-074D-B26C-AE0505068DC8}"/>
              </a:ext>
            </a:extLst>
          </p:cNvPr>
          <p:cNvGrpSpPr/>
          <p:nvPr/>
        </p:nvGrpSpPr>
        <p:grpSpPr>
          <a:xfrm>
            <a:off x="3001020" y="3848100"/>
            <a:ext cx="457200" cy="533400"/>
            <a:chOff x="1371600" y="4343400"/>
            <a:chExt cx="1447800" cy="198120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E86B6D88-A416-164A-8477-DB711244E49E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1A8CADE-6844-6C44-9FA2-D47A4EC1ABA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8B81A5-9276-BF4D-93B9-76477FF6C8FF}"/>
              </a:ext>
            </a:extLst>
          </p:cNvPr>
          <p:cNvGrpSpPr/>
          <p:nvPr/>
        </p:nvGrpSpPr>
        <p:grpSpPr>
          <a:xfrm>
            <a:off x="3458220" y="3848100"/>
            <a:ext cx="457200" cy="533400"/>
            <a:chOff x="1371600" y="4343400"/>
            <a:chExt cx="1447800" cy="1981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E696917-043A-F64A-B73A-478FA17DB24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A98BE0-C6E5-8D4C-A477-260F58F0639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6583DE-0127-7B45-8FA2-B84A43860E46}"/>
              </a:ext>
            </a:extLst>
          </p:cNvPr>
          <p:cNvGrpSpPr/>
          <p:nvPr/>
        </p:nvGrpSpPr>
        <p:grpSpPr>
          <a:xfrm>
            <a:off x="3916738" y="3848100"/>
            <a:ext cx="457200" cy="533400"/>
            <a:chOff x="1371600" y="4343400"/>
            <a:chExt cx="1447800" cy="1981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87ACE5-6E0C-0C4F-AF6D-3E86A21B3E1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51FD84A-2F6C-AA46-AA35-F2CF653F39F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BCEAD7-9F45-FB4F-AB5D-E6FF863207AA}"/>
              </a:ext>
            </a:extLst>
          </p:cNvPr>
          <p:cNvGrpSpPr/>
          <p:nvPr/>
        </p:nvGrpSpPr>
        <p:grpSpPr>
          <a:xfrm>
            <a:off x="3175153" y="4876800"/>
            <a:ext cx="457200" cy="533400"/>
            <a:chOff x="1371600" y="4343400"/>
            <a:chExt cx="1447800" cy="1981200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9DA713A-53F1-8141-9042-57708A3ED32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650F60-7085-6D42-BEB5-978322F96BB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7CA499-4835-F947-80D3-C918AC9FD2C0}"/>
              </a:ext>
            </a:extLst>
          </p:cNvPr>
          <p:cNvGrpSpPr/>
          <p:nvPr/>
        </p:nvGrpSpPr>
        <p:grpSpPr>
          <a:xfrm>
            <a:off x="5091099" y="4853745"/>
            <a:ext cx="457200" cy="533400"/>
            <a:chOff x="1371600" y="4343400"/>
            <a:chExt cx="1447800" cy="19812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9338806-600E-A242-94B9-59CD1B024AB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16FA9E0-F1A5-D449-9914-DA3DEC0B9E6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359A8C-AC94-CE48-AD1B-0C304F5010EC}"/>
              </a:ext>
            </a:extLst>
          </p:cNvPr>
          <p:cNvGrpSpPr/>
          <p:nvPr/>
        </p:nvGrpSpPr>
        <p:grpSpPr>
          <a:xfrm>
            <a:off x="5227951" y="4769944"/>
            <a:ext cx="457200" cy="533400"/>
            <a:chOff x="1371600" y="4343400"/>
            <a:chExt cx="1447800" cy="1981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637CA1D-ECEC-A341-8BDA-1740F1FFD4D0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886849D-E071-B145-BE32-E81A0503656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29BB27-557F-D24A-B08A-A5E9A9A6D4CE}"/>
              </a:ext>
            </a:extLst>
          </p:cNvPr>
          <p:cNvGrpSpPr/>
          <p:nvPr/>
        </p:nvGrpSpPr>
        <p:grpSpPr>
          <a:xfrm>
            <a:off x="5593403" y="4876800"/>
            <a:ext cx="278008" cy="459740"/>
            <a:chOff x="1371600" y="4343400"/>
            <a:chExt cx="1447800" cy="1981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55E7B37-FF9B-A948-9833-56AF9DA8BA2C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370D33-6379-D34E-9675-06894495EA0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EBB08B-3E2D-884F-B1C1-2EBF8DE1F8C5}"/>
              </a:ext>
            </a:extLst>
          </p:cNvPr>
          <p:cNvGrpSpPr/>
          <p:nvPr/>
        </p:nvGrpSpPr>
        <p:grpSpPr>
          <a:xfrm>
            <a:off x="5416973" y="5199797"/>
            <a:ext cx="285996" cy="290622"/>
            <a:chOff x="1371600" y="4343400"/>
            <a:chExt cx="1447800" cy="1981200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751493A-2F54-904C-AF69-FB6EFEE2FEF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7F38AFF-425D-0243-82BF-C777D172C5D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54D4AB-2BA0-4540-9174-1CF482A97CB2}"/>
              </a:ext>
            </a:extLst>
          </p:cNvPr>
          <p:cNvGrpSpPr/>
          <p:nvPr/>
        </p:nvGrpSpPr>
        <p:grpSpPr>
          <a:xfrm>
            <a:off x="5836338" y="4739144"/>
            <a:ext cx="638922" cy="572979"/>
            <a:chOff x="1371600" y="4343400"/>
            <a:chExt cx="1447800" cy="1981200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BAF83DF9-7A9F-4B4F-88B3-7F5960CB50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C365E3-ABC2-4D4D-9BF5-955ED921506F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73861A-2FA0-D34D-BE39-E677A1E3288B}"/>
              </a:ext>
            </a:extLst>
          </p:cNvPr>
          <p:cNvGrpSpPr/>
          <p:nvPr/>
        </p:nvGrpSpPr>
        <p:grpSpPr>
          <a:xfrm>
            <a:off x="5821978" y="5091757"/>
            <a:ext cx="386317" cy="394643"/>
            <a:chOff x="1371600" y="4343400"/>
            <a:chExt cx="1447800" cy="1981200"/>
          </a:xfrm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09D97F43-1C08-EF4D-BD20-2D4F99ADD246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0FE35-4B46-324A-A7FA-4C854E2546E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8F2FED-86B8-5941-BECE-82914294052F}"/>
              </a:ext>
            </a:extLst>
          </p:cNvPr>
          <p:cNvGrpSpPr/>
          <p:nvPr/>
        </p:nvGrpSpPr>
        <p:grpSpPr>
          <a:xfrm>
            <a:off x="3193525" y="5992377"/>
            <a:ext cx="457200" cy="533400"/>
            <a:chOff x="1371600" y="4343400"/>
            <a:chExt cx="1447800" cy="1981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BAE306F9-7708-D24E-A6BD-8AED7E9F436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FF54C4F-BB79-554D-A525-569E95E636E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650F735-461E-2D42-BB41-2827E0D7FC35}"/>
              </a:ext>
            </a:extLst>
          </p:cNvPr>
          <p:cNvSpPr/>
          <p:nvPr/>
        </p:nvSpPr>
        <p:spPr bwMode="auto">
          <a:xfrm>
            <a:off x="5029200" y="5992377"/>
            <a:ext cx="457200" cy="533400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6037D2D-6E0E-564F-A17C-81B69CCAD397}"/>
              </a:ext>
            </a:extLst>
          </p:cNvPr>
          <p:cNvSpPr/>
          <p:nvPr/>
        </p:nvSpPr>
        <p:spPr bwMode="auto">
          <a:xfrm>
            <a:off x="5221705" y="6244032"/>
            <a:ext cx="144379" cy="123092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CD952EA-0F8A-7E41-8F6C-E3224F4B946A}"/>
              </a:ext>
            </a:extLst>
          </p:cNvPr>
          <p:cNvCxnSpPr/>
          <p:nvPr/>
        </p:nvCxnSpPr>
        <p:spPr bwMode="auto">
          <a:xfrm>
            <a:off x="3795104" y="1905000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86413E1-E4B4-9449-96E6-0072EDF4806C}"/>
              </a:ext>
            </a:extLst>
          </p:cNvPr>
          <p:cNvCxnSpPr/>
          <p:nvPr/>
        </p:nvCxnSpPr>
        <p:spPr bwMode="auto">
          <a:xfrm>
            <a:off x="3722914" y="3092291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28177E-A7C8-EA4A-9537-B44C7EA1DE33}"/>
              </a:ext>
            </a:extLst>
          </p:cNvPr>
          <p:cNvCxnSpPr>
            <a:cxnSpLocks/>
          </p:cNvCxnSpPr>
          <p:nvPr/>
        </p:nvCxnSpPr>
        <p:spPr bwMode="auto">
          <a:xfrm>
            <a:off x="4419600" y="4095326"/>
            <a:ext cx="61480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24A9FC-D111-B64B-80C0-92BE7C19F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820" y="5120445"/>
            <a:ext cx="1342380" cy="80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08C4C2-1FA3-7540-A2B1-BE1828E09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3722914" y="6251000"/>
            <a:ext cx="1240343" cy="160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107">
            <a:hlinkClick r:id="rId3" action="ppaction://hlinksldjump"/>
            <a:extLst>
              <a:ext uri="{FF2B5EF4-FFF2-40B4-BE49-F238E27FC236}">
                <a16:creationId xmlns:a16="http://schemas.microsoft.com/office/drawing/2014/main" id="{AECD3239-F57A-4443-926C-D1D2F9FFB4DB}"/>
              </a:ext>
            </a:extLst>
          </p:cNvPr>
          <p:cNvSpPr/>
          <p:nvPr/>
        </p:nvSpPr>
        <p:spPr bwMode="auto">
          <a:xfrm>
            <a:off x="3067196" y="2606348"/>
            <a:ext cx="386700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9" name="Rectangle 108">
            <a:hlinkClick r:id="rId3" action="ppaction://hlinksldjump"/>
            <a:extLst>
              <a:ext uri="{FF2B5EF4-FFF2-40B4-BE49-F238E27FC236}">
                <a16:creationId xmlns:a16="http://schemas.microsoft.com/office/drawing/2014/main" id="{66611196-B1B6-8749-8594-D9CB91B8917D}"/>
              </a:ext>
            </a:extLst>
          </p:cNvPr>
          <p:cNvSpPr/>
          <p:nvPr/>
        </p:nvSpPr>
        <p:spPr bwMode="auto">
          <a:xfrm>
            <a:off x="2472467" y="3672746"/>
            <a:ext cx="301393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0" name="Rectangle 109">
            <a:hlinkClick r:id="rId3" action="ppaction://hlinksldjump"/>
            <a:extLst>
              <a:ext uri="{FF2B5EF4-FFF2-40B4-BE49-F238E27FC236}">
                <a16:creationId xmlns:a16="http://schemas.microsoft.com/office/drawing/2014/main" id="{3CF067A2-8092-B849-B037-866065FE50C4}"/>
              </a:ext>
            </a:extLst>
          </p:cNvPr>
          <p:cNvSpPr/>
          <p:nvPr/>
        </p:nvSpPr>
        <p:spPr bwMode="auto">
          <a:xfrm>
            <a:off x="3104994" y="4724805"/>
            <a:ext cx="3561819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063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5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44000" cy="7383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lt"/>
                <a:ea typeface="+mj-ea"/>
              </a:rPr>
              <a:t>Which image accurately shows NEOPLASIA (or DYSPLASIA)?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045356-B968-964A-B165-7FE45E9E89DE}"/>
              </a:ext>
            </a:extLst>
          </p:cNvPr>
          <p:cNvGrpSpPr/>
          <p:nvPr/>
        </p:nvGrpSpPr>
        <p:grpSpPr>
          <a:xfrm>
            <a:off x="3200400" y="1600200"/>
            <a:ext cx="457200" cy="533400"/>
            <a:chOff x="1371600" y="4343400"/>
            <a:chExt cx="1447800" cy="1981200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6A95D71-6D4D-5342-8E22-9344AC80DA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99C481-F473-9F40-B267-D73DB642F1F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0C05FD-DA40-1A46-BE91-D47781D0206D}"/>
              </a:ext>
            </a:extLst>
          </p:cNvPr>
          <p:cNvGrpSpPr/>
          <p:nvPr/>
        </p:nvGrpSpPr>
        <p:grpSpPr>
          <a:xfrm>
            <a:off x="5029200" y="1447800"/>
            <a:ext cx="914400" cy="914400"/>
            <a:chOff x="1371600" y="4343400"/>
            <a:chExt cx="1447800" cy="198120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7839019-F5BD-5E43-8757-1AF479D21E5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64B8541-C127-8343-90E7-F20CD877B16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1EAAD1-8AE3-C547-A599-8AA419478F78}"/>
              </a:ext>
            </a:extLst>
          </p:cNvPr>
          <p:cNvGrpSpPr/>
          <p:nvPr/>
        </p:nvGrpSpPr>
        <p:grpSpPr>
          <a:xfrm>
            <a:off x="3175153" y="2819400"/>
            <a:ext cx="457200" cy="533400"/>
            <a:chOff x="1371600" y="4343400"/>
            <a:chExt cx="1447800" cy="1981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7AD5B5-42EE-7C40-A43F-BF8160914C0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90EA6D-8707-164B-B858-582B89A2E96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89D933-3F84-5346-BB76-4D09D2BACEA4}"/>
              </a:ext>
            </a:extLst>
          </p:cNvPr>
          <p:cNvGrpSpPr/>
          <p:nvPr/>
        </p:nvGrpSpPr>
        <p:grpSpPr>
          <a:xfrm>
            <a:off x="4963257" y="2819400"/>
            <a:ext cx="457200" cy="533400"/>
            <a:chOff x="1371600" y="4343400"/>
            <a:chExt cx="1447800" cy="19812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A29C7CD-493F-264A-A7BB-45FC5C80166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B810861-0B13-F843-A901-AE4E9C080DAA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1380DD-256B-A246-8E1F-32390E4B5402}"/>
              </a:ext>
            </a:extLst>
          </p:cNvPr>
          <p:cNvGrpSpPr/>
          <p:nvPr/>
        </p:nvGrpSpPr>
        <p:grpSpPr>
          <a:xfrm>
            <a:off x="5414211" y="2819400"/>
            <a:ext cx="457200" cy="533400"/>
            <a:chOff x="1371600" y="4343400"/>
            <a:chExt cx="1447800" cy="198120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F6D08D-02B7-B447-BE9B-BFD93452CCE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A9395B-16BA-544A-A9B3-CCFA805FBADC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EC57B-39BE-1E40-B242-9268BA878EB2}"/>
              </a:ext>
            </a:extLst>
          </p:cNvPr>
          <p:cNvGrpSpPr/>
          <p:nvPr/>
        </p:nvGrpSpPr>
        <p:grpSpPr>
          <a:xfrm>
            <a:off x="5871411" y="2819400"/>
            <a:ext cx="457200" cy="533400"/>
            <a:chOff x="1371600" y="4343400"/>
            <a:chExt cx="1447800" cy="198120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03740F06-99C6-7041-B8B8-AD1DA12CE56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2C292-E1DE-974B-9702-D40B887D90CB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292F127-59F3-A941-BB70-D44EDEB6F630}"/>
              </a:ext>
            </a:extLst>
          </p:cNvPr>
          <p:cNvGrpSpPr/>
          <p:nvPr/>
        </p:nvGrpSpPr>
        <p:grpSpPr>
          <a:xfrm>
            <a:off x="6329929" y="2819400"/>
            <a:ext cx="457200" cy="533400"/>
            <a:chOff x="1371600" y="4343400"/>
            <a:chExt cx="1447800" cy="1981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3C45E6A-06B8-8845-B4EE-38C8024154E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F729CA-156D-F043-A302-B24068FC6BE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38E7C6-F7A5-4E44-8C7C-F2C44AA70425}"/>
              </a:ext>
            </a:extLst>
          </p:cNvPr>
          <p:cNvGrpSpPr/>
          <p:nvPr/>
        </p:nvGrpSpPr>
        <p:grpSpPr>
          <a:xfrm>
            <a:off x="5105400" y="3962400"/>
            <a:ext cx="228600" cy="281745"/>
            <a:chOff x="1371600" y="4343400"/>
            <a:chExt cx="1447800" cy="198120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4D30B6F-B1DA-524F-AB97-0579EB22C58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A499B64-A1A3-AF4C-8D78-A3732CBD255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96BFEF-4480-0E4F-B2B2-46E407817450}"/>
              </a:ext>
            </a:extLst>
          </p:cNvPr>
          <p:cNvGrpSpPr/>
          <p:nvPr/>
        </p:nvGrpSpPr>
        <p:grpSpPr>
          <a:xfrm>
            <a:off x="2550066" y="3848100"/>
            <a:ext cx="457200" cy="533400"/>
            <a:chOff x="1371600" y="4343400"/>
            <a:chExt cx="1447800" cy="198120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BB69813-BC8C-164F-BC6D-24AB6A374B1B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8CD7DDB-892F-9948-892C-1B907EEDD61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980C77-BEE3-074D-B26C-AE0505068DC8}"/>
              </a:ext>
            </a:extLst>
          </p:cNvPr>
          <p:cNvGrpSpPr/>
          <p:nvPr/>
        </p:nvGrpSpPr>
        <p:grpSpPr>
          <a:xfrm>
            <a:off x="3001020" y="3848100"/>
            <a:ext cx="457200" cy="533400"/>
            <a:chOff x="1371600" y="4343400"/>
            <a:chExt cx="1447800" cy="198120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E86B6D88-A416-164A-8477-DB711244E49E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1A8CADE-6844-6C44-9FA2-D47A4EC1ABA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8B81A5-9276-BF4D-93B9-76477FF6C8FF}"/>
              </a:ext>
            </a:extLst>
          </p:cNvPr>
          <p:cNvGrpSpPr/>
          <p:nvPr/>
        </p:nvGrpSpPr>
        <p:grpSpPr>
          <a:xfrm>
            <a:off x="3458220" y="3848100"/>
            <a:ext cx="457200" cy="533400"/>
            <a:chOff x="1371600" y="4343400"/>
            <a:chExt cx="1447800" cy="1981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E696917-043A-F64A-B73A-478FA17DB24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A98BE0-C6E5-8D4C-A477-260F58F0639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6583DE-0127-7B45-8FA2-B84A43860E46}"/>
              </a:ext>
            </a:extLst>
          </p:cNvPr>
          <p:cNvGrpSpPr/>
          <p:nvPr/>
        </p:nvGrpSpPr>
        <p:grpSpPr>
          <a:xfrm>
            <a:off x="3916738" y="3848100"/>
            <a:ext cx="457200" cy="533400"/>
            <a:chOff x="1371600" y="4343400"/>
            <a:chExt cx="1447800" cy="1981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87ACE5-6E0C-0C4F-AF6D-3E86A21B3E1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51FD84A-2F6C-AA46-AA35-F2CF653F39F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BCEAD7-9F45-FB4F-AB5D-E6FF863207AA}"/>
              </a:ext>
            </a:extLst>
          </p:cNvPr>
          <p:cNvGrpSpPr/>
          <p:nvPr/>
        </p:nvGrpSpPr>
        <p:grpSpPr>
          <a:xfrm>
            <a:off x="3175153" y="4876800"/>
            <a:ext cx="457200" cy="533400"/>
            <a:chOff x="1371600" y="4343400"/>
            <a:chExt cx="1447800" cy="1981200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9DA713A-53F1-8141-9042-57708A3ED32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650F60-7085-6D42-BEB5-978322F96BB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7CA499-4835-F947-80D3-C918AC9FD2C0}"/>
              </a:ext>
            </a:extLst>
          </p:cNvPr>
          <p:cNvGrpSpPr/>
          <p:nvPr/>
        </p:nvGrpSpPr>
        <p:grpSpPr>
          <a:xfrm>
            <a:off x="5091099" y="4853745"/>
            <a:ext cx="457200" cy="533400"/>
            <a:chOff x="1371600" y="4343400"/>
            <a:chExt cx="1447800" cy="19812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9338806-600E-A242-94B9-59CD1B024AB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16FA9E0-F1A5-D449-9914-DA3DEC0B9E6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359A8C-AC94-CE48-AD1B-0C304F5010EC}"/>
              </a:ext>
            </a:extLst>
          </p:cNvPr>
          <p:cNvGrpSpPr/>
          <p:nvPr/>
        </p:nvGrpSpPr>
        <p:grpSpPr>
          <a:xfrm>
            <a:off x="5227951" y="4769944"/>
            <a:ext cx="457200" cy="533400"/>
            <a:chOff x="1371600" y="4343400"/>
            <a:chExt cx="1447800" cy="1981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637CA1D-ECEC-A341-8BDA-1740F1FFD4D0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886849D-E071-B145-BE32-E81A0503656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29BB27-557F-D24A-B08A-A5E9A9A6D4CE}"/>
              </a:ext>
            </a:extLst>
          </p:cNvPr>
          <p:cNvGrpSpPr/>
          <p:nvPr/>
        </p:nvGrpSpPr>
        <p:grpSpPr>
          <a:xfrm>
            <a:off x="5593403" y="4876800"/>
            <a:ext cx="278008" cy="459740"/>
            <a:chOff x="1371600" y="4343400"/>
            <a:chExt cx="1447800" cy="1981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55E7B37-FF9B-A948-9833-56AF9DA8BA2C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370D33-6379-D34E-9675-06894495EA0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EBB08B-3E2D-884F-B1C1-2EBF8DE1F8C5}"/>
              </a:ext>
            </a:extLst>
          </p:cNvPr>
          <p:cNvGrpSpPr/>
          <p:nvPr/>
        </p:nvGrpSpPr>
        <p:grpSpPr>
          <a:xfrm>
            <a:off x="5416973" y="5199797"/>
            <a:ext cx="285996" cy="290622"/>
            <a:chOff x="1371600" y="4343400"/>
            <a:chExt cx="1447800" cy="1981200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751493A-2F54-904C-AF69-FB6EFEE2FEF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7F38AFF-425D-0243-82BF-C777D172C5D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54D4AB-2BA0-4540-9174-1CF482A97CB2}"/>
              </a:ext>
            </a:extLst>
          </p:cNvPr>
          <p:cNvGrpSpPr/>
          <p:nvPr/>
        </p:nvGrpSpPr>
        <p:grpSpPr>
          <a:xfrm>
            <a:off x="5836338" y="4739144"/>
            <a:ext cx="638922" cy="572979"/>
            <a:chOff x="1371600" y="4343400"/>
            <a:chExt cx="1447800" cy="1981200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BAF83DF9-7A9F-4B4F-88B3-7F5960CB50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C365E3-ABC2-4D4D-9BF5-955ED921506F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73861A-2FA0-D34D-BE39-E677A1E3288B}"/>
              </a:ext>
            </a:extLst>
          </p:cNvPr>
          <p:cNvGrpSpPr/>
          <p:nvPr/>
        </p:nvGrpSpPr>
        <p:grpSpPr>
          <a:xfrm>
            <a:off x="5821978" y="5091757"/>
            <a:ext cx="386317" cy="394643"/>
            <a:chOff x="1371600" y="4343400"/>
            <a:chExt cx="1447800" cy="1981200"/>
          </a:xfrm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09D97F43-1C08-EF4D-BD20-2D4F99ADD246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0FE35-4B46-324A-A7FA-4C854E2546E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8F2FED-86B8-5941-BECE-82914294052F}"/>
              </a:ext>
            </a:extLst>
          </p:cNvPr>
          <p:cNvGrpSpPr/>
          <p:nvPr/>
        </p:nvGrpSpPr>
        <p:grpSpPr>
          <a:xfrm>
            <a:off x="3193525" y="5992377"/>
            <a:ext cx="457200" cy="533400"/>
            <a:chOff x="1371600" y="4343400"/>
            <a:chExt cx="1447800" cy="1981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BAE306F9-7708-D24E-A6BD-8AED7E9F436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FF54C4F-BB79-554D-A525-569E95E636E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650F735-461E-2D42-BB41-2827E0D7FC35}"/>
              </a:ext>
            </a:extLst>
          </p:cNvPr>
          <p:cNvSpPr/>
          <p:nvPr/>
        </p:nvSpPr>
        <p:spPr bwMode="auto">
          <a:xfrm>
            <a:off x="5029200" y="5992377"/>
            <a:ext cx="457200" cy="533400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6037D2D-6E0E-564F-A17C-81B69CCAD397}"/>
              </a:ext>
            </a:extLst>
          </p:cNvPr>
          <p:cNvSpPr/>
          <p:nvPr/>
        </p:nvSpPr>
        <p:spPr bwMode="auto">
          <a:xfrm>
            <a:off x="5221705" y="6244032"/>
            <a:ext cx="144379" cy="123092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CD952EA-0F8A-7E41-8F6C-E3224F4B946A}"/>
              </a:ext>
            </a:extLst>
          </p:cNvPr>
          <p:cNvCxnSpPr/>
          <p:nvPr/>
        </p:nvCxnSpPr>
        <p:spPr bwMode="auto">
          <a:xfrm>
            <a:off x="3795104" y="1905000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86413E1-E4B4-9449-96E6-0072EDF4806C}"/>
              </a:ext>
            </a:extLst>
          </p:cNvPr>
          <p:cNvCxnSpPr/>
          <p:nvPr/>
        </p:nvCxnSpPr>
        <p:spPr bwMode="auto">
          <a:xfrm>
            <a:off x="3722914" y="3092291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28177E-A7C8-EA4A-9537-B44C7EA1DE33}"/>
              </a:ext>
            </a:extLst>
          </p:cNvPr>
          <p:cNvCxnSpPr>
            <a:cxnSpLocks/>
          </p:cNvCxnSpPr>
          <p:nvPr/>
        </p:nvCxnSpPr>
        <p:spPr bwMode="auto">
          <a:xfrm>
            <a:off x="4419600" y="4095326"/>
            <a:ext cx="61480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24A9FC-D111-B64B-80C0-92BE7C19F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820" y="5120445"/>
            <a:ext cx="1342380" cy="80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08C4C2-1FA3-7540-A2B1-BE1828E09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3722914" y="6251000"/>
            <a:ext cx="1240343" cy="160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107">
            <a:hlinkClick r:id="rId3" action="ppaction://hlinksldjump"/>
            <a:extLst>
              <a:ext uri="{FF2B5EF4-FFF2-40B4-BE49-F238E27FC236}">
                <a16:creationId xmlns:a16="http://schemas.microsoft.com/office/drawing/2014/main" id="{AECD3239-F57A-4443-926C-D1D2F9FFB4DB}"/>
              </a:ext>
            </a:extLst>
          </p:cNvPr>
          <p:cNvSpPr/>
          <p:nvPr/>
        </p:nvSpPr>
        <p:spPr bwMode="auto">
          <a:xfrm>
            <a:off x="3067196" y="2606348"/>
            <a:ext cx="386700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9" name="Rectangle 108">
            <a:hlinkClick r:id="rId3" action="ppaction://hlinksldjump"/>
            <a:extLst>
              <a:ext uri="{FF2B5EF4-FFF2-40B4-BE49-F238E27FC236}">
                <a16:creationId xmlns:a16="http://schemas.microsoft.com/office/drawing/2014/main" id="{66611196-B1B6-8749-8594-D9CB91B8917D}"/>
              </a:ext>
            </a:extLst>
          </p:cNvPr>
          <p:cNvSpPr/>
          <p:nvPr/>
        </p:nvSpPr>
        <p:spPr bwMode="auto">
          <a:xfrm>
            <a:off x="2472467" y="3672746"/>
            <a:ext cx="301393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37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altLang="en-US" sz="5400" b="1" dirty="0">
                <a:solidFill>
                  <a:schemeClr val="tx1"/>
                </a:solidFill>
                <a:latin typeface="Arial" panose="020B0604020202020204" pitchFamily="34" charset="0"/>
              </a:rPr>
              <a:t>CELL CHANGES</a:t>
            </a:r>
            <a:endParaRPr lang="en-US" altLang="en-US" sz="5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44000" cy="7383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lt"/>
                <a:ea typeface="+mj-ea"/>
              </a:rPr>
              <a:t>Which image accurately shows ATROPHY?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045356-B968-964A-B165-7FE45E9E89DE}"/>
              </a:ext>
            </a:extLst>
          </p:cNvPr>
          <p:cNvGrpSpPr/>
          <p:nvPr/>
        </p:nvGrpSpPr>
        <p:grpSpPr>
          <a:xfrm>
            <a:off x="3200400" y="1600200"/>
            <a:ext cx="457200" cy="533400"/>
            <a:chOff x="1371600" y="4343400"/>
            <a:chExt cx="1447800" cy="1981200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6A95D71-6D4D-5342-8E22-9344AC80DA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99C481-F473-9F40-B267-D73DB642F1F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0C05FD-DA40-1A46-BE91-D47781D0206D}"/>
              </a:ext>
            </a:extLst>
          </p:cNvPr>
          <p:cNvGrpSpPr/>
          <p:nvPr/>
        </p:nvGrpSpPr>
        <p:grpSpPr>
          <a:xfrm>
            <a:off x="5029200" y="1447800"/>
            <a:ext cx="914400" cy="914400"/>
            <a:chOff x="1371600" y="4343400"/>
            <a:chExt cx="1447800" cy="198120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7839019-F5BD-5E43-8757-1AF479D21E5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64B8541-C127-8343-90E7-F20CD877B16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1EAAD1-8AE3-C547-A599-8AA419478F78}"/>
              </a:ext>
            </a:extLst>
          </p:cNvPr>
          <p:cNvGrpSpPr/>
          <p:nvPr/>
        </p:nvGrpSpPr>
        <p:grpSpPr>
          <a:xfrm>
            <a:off x="3175153" y="2819400"/>
            <a:ext cx="457200" cy="533400"/>
            <a:chOff x="1371600" y="4343400"/>
            <a:chExt cx="1447800" cy="1981200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7AD5B5-42EE-7C40-A43F-BF8160914C0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90EA6D-8707-164B-B858-582B89A2E969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89D933-3F84-5346-BB76-4D09D2BACEA4}"/>
              </a:ext>
            </a:extLst>
          </p:cNvPr>
          <p:cNvGrpSpPr/>
          <p:nvPr/>
        </p:nvGrpSpPr>
        <p:grpSpPr>
          <a:xfrm>
            <a:off x="4963257" y="2819400"/>
            <a:ext cx="457200" cy="533400"/>
            <a:chOff x="1371600" y="4343400"/>
            <a:chExt cx="1447800" cy="1981200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9A29C7CD-493F-264A-A7BB-45FC5C80166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B810861-0B13-F843-A901-AE4E9C080DAA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21380DD-256B-A246-8E1F-32390E4B5402}"/>
              </a:ext>
            </a:extLst>
          </p:cNvPr>
          <p:cNvGrpSpPr/>
          <p:nvPr/>
        </p:nvGrpSpPr>
        <p:grpSpPr>
          <a:xfrm>
            <a:off x="5414211" y="2819400"/>
            <a:ext cx="457200" cy="533400"/>
            <a:chOff x="1371600" y="4343400"/>
            <a:chExt cx="1447800" cy="198120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BCF6D08D-02B7-B447-BE9B-BFD93452CCE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A9395B-16BA-544A-A9B3-CCFA805FBADC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77EC57B-39BE-1E40-B242-9268BA878EB2}"/>
              </a:ext>
            </a:extLst>
          </p:cNvPr>
          <p:cNvGrpSpPr/>
          <p:nvPr/>
        </p:nvGrpSpPr>
        <p:grpSpPr>
          <a:xfrm>
            <a:off x="5871411" y="2819400"/>
            <a:ext cx="457200" cy="533400"/>
            <a:chOff x="1371600" y="4343400"/>
            <a:chExt cx="1447800" cy="1981200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03740F06-99C6-7041-B8B8-AD1DA12CE56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2C292-E1DE-974B-9702-D40B887D90CB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292F127-59F3-A941-BB70-D44EDEB6F630}"/>
              </a:ext>
            </a:extLst>
          </p:cNvPr>
          <p:cNvGrpSpPr/>
          <p:nvPr/>
        </p:nvGrpSpPr>
        <p:grpSpPr>
          <a:xfrm>
            <a:off x="6329929" y="2819400"/>
            <a:ext cx="457200" cy="533400"/>
            <a:chOff x="1371600" y="4343400"/>
            <a:chExt cx="1447800" cy="198120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3C45E6A-06B8-8845-B4EE-38C8024154E1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F729CA-156D-F043-A302-B24068FC6BE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38E7C6-F7A5-4E44-8C7C-F2C44AA70425}"/>
              </a:ext>
            </a:extLst>
          </p:cNvPr>
          <p:cNvGrpSpPr/>
          <p:nvPr/>
        </p:nvGrpSpPr>
        <p:grpSpPr>
          <a:xfrm>
            <a:off x="5105400" y="3962400"/>
            <a:ext cx="228600" cy="281745"/>
            <a:chOff x="1371600" y="4343400"/>
            <a:chExt cx="1447800" cy="1981200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4D30B6F-B1DA-524F-AB97-0579EB22C58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A499B64-A1A3-AF4C-8D78-A3732CBD255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96BFEF-4480-0E4F-B2B2-46E407817450}"/>
              </a:ext>
            </a:extLst>
          </p:cNvPr>
          <p:cNvGrpSpPr/>
          <p:nvPr/>
        </p:nvGrpSpPr>
        <p:grpSpPr>
          <a:xfrm>
            <a:off x="2550066" y="3848100"/>
            <a:ext cx="457200" cy="533400"/>
            <a:chOff x="1371600" y="4343400"/>
            <a:chExt cx="1447800" cy="1981200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0BB69813-BC8C-164F-BC6D-24AB6A374B1B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8CD7DDB-892F-9948-892C-1B907EEDD61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980C77-BEE3-074D-B26C-AE0505068DC8}"/>
              </a:ext>
            </a:extLst>
          </p:cNvPr>
          <p:cNvGrpSpPr/>
          <p:nvPr/>
        </p:nvGrpSpPr>
        <p:grpSpPr>
          <a:xfrm>
            <a:off x="3001020" y="3848100"/>
            <a:ext cx="457200" cy="533400"/>
            <a:chOff x="1371600" y="4343400"/>
            <a:chExt cx="1447800" cy="1981200"/>
          </a:xfrm>
        </p:grpSpPr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E86B6D88-A416-164A-8477-DB711244E49E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1A8CADE-6844-6C44-9FA2-D47A4EC1ABA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8B81A5-9276-BF4D-93B9-76477FF6C8FF}"/>
              </a:ext>
            </a:extLst>
          </p:cNvPr>
          <p:cNvGrpSpPr/>
          <p:nvPr/>
        </p:nvGrpSpPr>
        <p:grpSpPr>
          <a:xfrm>
            <a:off x="3458220" y="3848100"/>
            <a:ext cx="457200" cy="533400"/>
            <a:chOff x="1371600" y="4343400"/>
            <a:chExt cx="1447800" cy="1981200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7E696917-043A-F64A-B73A-478FA17DB249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A98BE0-C6E5-8D4C-A477-260F58F0639D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6583DE-0127-7B45-8FA2-B84A43860E46}"/>
              </a:ext>
            </a:extLst>
          </p:cNvPr>
          <p:cNvGrpSpPr/>
          <p:nvPr/>
        </p:nvGrpSpPr>
        <p:grpSpPr>
          <a:xfrm>
            <a:off x="3916738" y="3848100"/>
            <a:ext cx="457200" cy="533400"/>
            <a:chOff x="1371600" y="4343400"/>
            <a:chExt cx="1447800" cy="198120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1C87ACE5-6E0C-0C4F-AF6D-3E86A21B3E14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51FD84A-2F6C-AA46-AA35-F2CF653F39F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BCEAD7-9F45-FB4F-AB5D-E6FF863207AA}"/>
              </a:ext>
            </a:extLst>
          </p:cNvPr>
          <p:cNvGrpSpPr/>
          <p:nvPr/>
        </p:nvGrpSpPr>
        <p:grpSpPr>
          <a:xfrm>
            <a:off x="3175153" y="4876800"/>
            <a:ext cx="457200" cy="533400"/>
            <a:chOff x="1371600" y="4343400"/>
            <a:chExt cx="1447800" cy="1981200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9DA713A-53F1-8141-9042-57708A3ED32D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6650F60-7085-6D42-BEB5-978322F96BB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7CA499-4835-F947-80D3-C918AC9FD2C0}"/>
              </a:ext>
            </a:extLst>
          </p:cNvPr>
          <p:cNvGrpSpPr/>
          <p:nvPr/>
        </p:nvGrpSpPr>
        <p:grpSpPr>
          <a:xfrm>
            <a:off x="5091099" y="4853745"/>
            <a:ext cx="457200" cy="533400"/>
            <a:chOff x="1371600" y="4343400"/>
            <a:chExt cx="1447800" cy="1981200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9338806-600E-A242-94B9-59CD1B024AB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16FA9E0-F1A5-D449-9914-DA3DEC0B9E6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359A8C-AC94-CE48-AD1B-0C304F5010EC}"/>
              </a:ext>
            </a:extLst>
          </p:cNvPr>
          <p:cNvGrpSpPr/>
          <p:nvPr/>
        </p:nvGrpSpPr>
        <p:grpSpPr>
          <a:xfrm>
            <a:off x="5227951" y="4769944"/>
            <a:ext cx="457200" cy="533400"/>
            <a:chOff x="1371600" y="4343400"/>
            <a:chExt cx="1447800" cy="1981200"/>
          </a:xfrm>
        </p:grpSpPr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637CA1D-ECEC-A341-8BDA-1740F1FFD4D0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886849D-E071-B145-BE32-E81A0503656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29BB27-557F-D24A-B08A-A5E9A9A6D4CE}"/>
              </a:ext>
            </a:extLst>
          </p:cNvPr>
          <p:cNvGrpSpPr/>
          <p:nvPr/>
        </p:nvGrpSpPr>
        <p:grpSpPr>
          <a:xfrm>
            <a:off x="5593403" y="4876800"/>
            <a:ext cx="278008" cy="459740"/>
            <a:chOff x="1371600" y="4343400"/>
            <a:chExt cx="1447800" cy="19812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55E7B37-FF9B-A948-9833-56AF9DA8BA2C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370D33-6379-D34E-9675-06894495EA07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EBB08B-3E2D-884F-B1C1-2EBF8DE1F8C5}"/>
              </a:ext>
            </a:extLst>
          </p:cNvPr>
          <p:cNvGrpSpPr/>
          <p:nvPr/>
        </p:nvGrpSpPr>
        <p:grpSpPr>
          <a:xfrm>
            <a:off x="5416973" y="5199797"/>
            <a:ext cx="285996" cy="290622"/>
            <a:chOff x="1371600" y="4343400"/>
            <a:chExt cx="1447800" cy="1981200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751493A-2F54-904C-AF69-FB6EFEE2FEF5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7F38AFF-425D-0243-82BF-C777D172C5D5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54D4AB-2BA0-4540-9174-1CF482A97CB2}"/>
              </a:ext>
            </a:extLst>
          </p:cNvPr>
          <p:cNvGrpSpPr/>
          <p:nvPr/>
        </p:nvGrpSpPr>
        <p:grpSpPr>
          <a:xfrm>
            <a:off x="5836338" y="4739144"/>
            <a:ext cx="638922" cy="572979"/>
            <a:chOff x="1371600" y="4343400"/>
            <a:chExt cx="1447800" cy="1981200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BAF83DF9-7A9F-4B4F-88B3-7F5960CB504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4C365E3-ABC2-4D4D-9BF5-955ED921506F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073861A-2FA0-D34D-BE39-E677A1E3288B}"/>
              </a:ext>
            </a:extLst>
          </p:cNvPr>
          <p:cNvGrpSpPr/>
          <p:nvPr/>
        </p:nvGrpSpPr>
        <p:grpSpPr>
          <a:xfrm>
            <a:off x="5821978" y="5091757"/>
            <a:ext cx="386317" cy="394643"/>
            <a:chOff x="1371600" y="4343400"/>
            <a:chExt cx="1447800" cy="1981200"/>
          </a:xfrm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09D97F43-1C08-EF4D-BD20-2D4F99ADD246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0FE35-4B46-324A-A7FA-4C854E2546E1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8F2FED-86B8-5941-BECE-82914294052F}"/>
              </a:ext>
            </a:extLst>
          </p:cNvPr>
          <p:cNvGrpSpPr/>
          <p:nvPr/>
        </p:nvGrpSpPr>
        <p:grpSpPr>
          <a:xfrm>
            <a:off x="3193525" y="5992377"/>
            <a:ext cx="457200" cy="533400"/>
            <a:chOff x="1371600" y="4343400"/>
            <a:chExt cx="1447800" cy="1981200"/>
          </a:xfrm>
        </p:grpSpPr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BAE306F9-7708-D24E-A6BD-8AED7E9F4367}"/>
                </a:ext>
              </a:extLst>
            </p:cNvPr>
            <p:cNvSpPr/>
            <p:nvPr/>
          </p:nvSpPr>
          <p:spPr bwMode="auto">
            <a:xfrm>
              <a:off x="1371600" y="4343400"/>
              <a:ext cx="1447800" cy="1981200"/>
            </a:xfrm>
            <a:prstGeom prst="roundRect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FF54C4F-BB79-554D-A525-569E95E636E0}"/>
                </a:ext>
              </a:extLst>
            </p:cNvPr>
            <p:cNvSpPr/>
            <p:nvPr/>
          </p:nvSpPr>
          <p:spPr bwMode="auto">
            <a:xfrm>
              <a:off x="1981200" y="5278120"/>
              <a:ext cx="457200" cy="4572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650F735-461E-2D42-BB41-2827E0D7FC35}"/>
              </a:ext>
            </a:extLst>
          </p:cNvPr>
          <p:cNvSpPr/>
          <p:nvPr/>
        </p:nvSpPr>
        <p:spPr bwMode="auto">
          <a:xfrm>
            <a:off x="5029200" y="5992377"/>
            <a:ext cx="457200" cy="533400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rgbClr val="A0791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6037D2D-6E0E-564F-A17C-81B69CCAD397}"/>
              </a:ext>
            </a:extLst>
          </p:cNvPr>
          <p:cNvSpPr/>
          <p:nvPr/>
        </p:nvSpPr>
        <p:spPr bwMode="auto">
          <a:xfrm>
            <a:off x="5221705" y="6244032"/>
            <a:ext cx="144379" cy="123092"/>
          </a:xfrm>
          <a:prstGeom prst="ellipse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CD952EA-0F8A-7E41-8F6C-E3224F4B946A}"/>
              </a:ext>
            </a:extLst>
          </p:cNvPr>
          <p:cNvCxnSpPr/>
          <p:nvPr/>
        </p:nvCxnSpPr>
        <p:spPr bwMode="auto">
          <a:xfrm>
            <a:off x="3795104" y="1905000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86413E1-E4B4-9449-96E6-0072EDF4806C}"/>
              </a:ext>
            </a:extLst>
          </p:cNvPr>
          <p:cNvCxnSpPr/>
          <p:nvPr/>
        </p:nvCxnSpPr>
        <p:spPr bwMode="auto">
          <a:xfrm>
            <a:off x="3722914" y="3092291"/>
            <a:ext cx="116815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28177E-A7C8-EA4A-9537-B44C7EA1DE33}"/>
              </a:ext>
            </a:extLst>
          </p:cNvPr>
          <p:cNvCxnSpPr>
            <a:cxnSpLocks/>
          </p:cNvCxnSpPr>
          <p:nvPr/>
        </p:nvCxnSpPr>
        <p:spPr bwMode="auto">
          <a:xfrm>
            <a:off x="4419600" y="4095326"/>
            <a:ext cx="61480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524A9FC-D111-B64B-80C0-92BE7C19F66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6820" y="5120445"/>
            <a:ext cx="1342380" cy="80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08C4C2-1FA3-7540-A2B1-BE1828E09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3722914" y="6251000"/>
            <a:ext cx="1240343" cy="160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107">
            <a:hlinkClick r:id="rId3" action="ppaction://hlinksldjump"/>
            <a:extLst>
              <a:ext uri="{FF2B5EF4-FFF2-40B4-BE49-F238E27FC236}">
                <a16:creationId xmlns:a16="http://schemas.microsoft.com/office/drawing/2014/main" id="{AECD3239-F57A-4443-926C-D1D2F9FFB4DB}"/>
              </a:ext>
            </a:extLst>
          </p:cNvPr>
          <p:cNvSpPr/>
          <p:nvPr/>
        </p:nvSpPr>
        <p:spPr bwMode="auto">
          <a:xfrm>
            <a:off x="3067196" y="2606348"/>
            <a:ext cx="3867003" cy="86954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727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3999" cy="4384040"/>
          </a:xfrm>
        </p:spPr>
        <p:txBody>
          <a:bodyPr>
            <a:normAutofit fontScale="92500" lnSpcReduction="10000"/>
          </a:bodyPr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sz="2800" b="1" u="sng" dirty="0">
                <a:latin typeface="+mj-lt"/>
              </a:rPr>
              <a:t>2</a:t>
            </a:r>
            <a:r>
              <a:rPr lang="en-US" altLang="en-US" sz="2800" b="1" dirty="0">
                <a:latin typeface="+mj-lt"/>
              </a:rPr>
              <a:t> </a:t>
            </a:r>
            <a:r>
              <a:rPr lang="en-US" altLang="en-US" sz="2800" dirty="0">
                <a:latin typeface="+mj-lt"/>
              </a:rPr>
              <a:t>Mechanisms of Cellular Death</a:t>
            </a:r>
          </a:p>
          <a:p>
            <a:pPr marL="0" indent="0">
              <a:buSzPct val="100000"/>
              <a:buNone/>
            </a:pPr>
            <a:endParaRPr lang="en-US" altLang="en-US" sz="300" dirty="0">
              <a:latin typeface="+mj-lt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en-US" b="1" dirty="0">
                <a:latin typeface="+mj-lt"/>
              </a:rPr>
              <a:t>Necrosis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Death after severe damage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Intracellular contents spill out of cell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Triggers immune system and inflammatory response</a:t>
            </a:r>
            <a:endParaRPr lang="en-US" altLang="en-US" sz="1000" dirty="0">
              <a:latin typeface="+mj-lt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en-US" b="1" dirty="0">
                <a:latin typeface="+mj-lt"/>
              </a:rPr>
              <a:t>Apoptosis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Cellular suicide, or programmed cell death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Intracellular contents are destroyed by lysosomes and do </a:t>
            </a:r>
            <a:r>
              <a:rPr lang="en-US" altLang="en-US" sz="1800" u="sng" dirty="0">
                <a:latin typeface="+mj-lt"/>
              </a:rPr>
              <a:t>not</a:t>
            </a:r>
            <a:r>
              <a:rPr lang="en-US" altLang="en-US" sz="1800" dirty="0">
                <a:latin typeface="+mj-lt"/>
              </a:rPr>
              <a:t> spill out of cell</a:t>
            </a:r>
          </a:p>
          <a:p>
            <a:pPr lvl="1"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altLang="en-US" sz="1800" dirty="0">
                <a:latin typeface="+mj-lt"/>
              </a:rPr>
              <a:t>Protects the body from dying, virus-infected, or cancerous cells without triggering the immune system</a:t>
            </a:r>
          </a:p>
          <a:p>
            <a:pPr marL="457200" lvl="1" indent="0">
              <a:buSzPct val="100000"/>
              <a:buNone/>
            </a:pPr>
            <a:endParaRPr lang="en-US" altLang="en-US" dirty="0">
              <a:latin typeface="+mj-lt"/>
            </a:endParaRP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06930C7-A6FF-784C-ABE5-D1890F61B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D5B859-CC85-3542-8E36-54C0F8FDC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780066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4400" b="1" dirty="0">
                <a:solidFill>
                  <a:schemeClr val="tx1"/>
                </a:solidFill>
                <a:latin typeface="Arial" panose="020B0604020202020204" pitchFamily="34" charset="0"/>
              </a:rPr>
              <a:t>CELL DEATH</a:t>
            </a:r>
            <a:endParaRPr lang="en-US" altLang="en-US" sz="4400" b="1" kern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poptosis of the embryonic paddle during development of the digits.">
            <a:extLst>
              <a:ext uri="{FF2B5EF4-FFF2-40B4-BE49-F238E27FC236}">
                <a16:creationId xmlns:a16="http://schemas.microsoft.com/office/drawing/2014/main" id="{10AD194F-E799-A74D-9105-9B29E658B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0" t="51667" r="12500" b="20000"/>
          <a:stretch/>
        </p:blipFill>
        <p:spPr>
          <a:xfrm>
            <a:off x="2286000" y="5562600"/>
            <a:ext cx="48768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8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tandard eukaryotic cell with three basic parts: the plasma membrane, the nucleus, and the cytoplasm.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3048000" y="1438542"/>
            <a:ext cx="5715000" cy="5114658"/>
          </a:xfrm>
          <a:prstGeom prst="rect">
            <a:avLst/>
          </a:prstGeom>
        </p:spPr>
      </p:pic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2973737" y="1450072"/>
            <a:ext cx="5814732" cy="5121631"/>
          </a:xfrm>
          <a:custGeom>
            <a:avLst/>
            <a:gdLst>
              <a:gd name="connsiteX0" fmla="*/ 4511430 w 5814732"/>
              <a:gd name="connsiteY0" fmla="*/ 87390 h 5121631"/>
              <a:gd name="connsiteX1" fmla="*/ 4812192 w 5814732"/>
              <a:gd name="connsiteY1" fmla="*/ 87390 h 5121631"/>
              <a:gd name="connsiteX2" fmla="*/ 4912446 w 5814732"/>
              <a:gd name="connsiteY2" fmla="*/ 120813 h 5121631"/>
              <a:gd name="connsiteX3" fmla="*/ 5012700 w 5814732"/>
              <a:gd name="connsiteY3" fmla="*/ 187659 h 5121631"/>
              <a:gd name="connsiteX4" fmla="*/ 5196499 w 5814732"/>
              <a:gd name="connsiteY4" fmla="*/ 237794 h 5121631"/>
              <a:gd name="connsiteX5" fmla="*/ 5213208 w 5814732"/>
              <a:gd name="connsiteY5" fmla="*/ 287929 h 5121631"/>
              <a:gd name="connsiteX6" fmla="*/ 5313462 w 5814732"/>
              <a:gd name="connsiteY6" fmla="*/ 338063 h 5121631"/>
              <a:gd name="connsiteX7" fmla="*/ 5363589 w 5814732"/>
              <a:gd name="connsiteY7" fmla="*/ 371486 h 5121631"/>
              <a:gd name="connsiteX8" fmla="*/ 5463843 w 5814732"/>
              <a:gd name="connsiteY8" fmla="*/ 404909 h 5121631"/>
              <a:gd name="connsiteX9" fmla="*/ 5497261 w 5814732"/>
              <a:gd name="connsiteY9" fmla="*/ 438333 h 5121631"/>
              <a:gd name="connsiteX10" fmla="*/ 5547388 w 5814732"/>
              <a:gd name="connsiteY10" fmla="*/ 471756 h 5121631"/>
              <a:gd name="connsiteX11" fmla="*/ 5614224 w 5814732"/>
              <a:gd name="connsiteY11" fmla="*/ 555313 h 5121631"/>
              <a:gd name="connsiteX12" fmla="*/ 5630933 w 5814732"/>
              <a:gd name="connsiteY12" fmla="*/ 605448 h 5121631"/>
              <a:gd name="connsiteX13" fmla="*/ 5714478 w 5814732"/>
              <a:gd name="connsiteY13" fmla="*/ 689006 h 5121631"/>
              <a:gd name="connsiteX14" fmla="*/ 5747896 w 5814732"/>
              <a:gd name="connsiteY14" fmla="*/ 805986 h 5121631"/>
              <a:gd name="connsiteX15" fmla="*/ 5764605 w 5814732"/>
              <a:gd name="connsiteY15" fmla="*/ 856121 h 5121631"/>
              <a:gd name="connsiteX16" fmla="*/ 5781314 w 5814732"/>
              <a:gd name="connsiteY16" fmla="*/ 1073371 h 5121631"/>
              <a:gd name="connsiteX17" fmla="*/ 5814732 w 5814732"/>
              <a:gd name="connsiteY17" fmla="*/ 1173640 h 5121631"/>
              <a:gd name="connsiteX18" fmla="*/ 5781314 w 5814732"/>
              <a:gd name="connsiteY18" fmla="*/ 1741833 h 5121631"/>
              <a:gd name="connsiteX19" fmla="*/ 5747896 w 5814732"/>
              <a:gd name="connsiteY19" fmla="*/ 1875525 h 5121631"/>
              <a:gd name="connsiteX20" fmla="*/ 5731187 w 5814732"/>
              <a:gd name="connsiteY20" fmla="*/ 2092775 h 5121631"/>
              <a:gd name="connsiteX21" fmla="*/ 5697769 w 5814732"/>
              <a:gd name="connsiteY21" fmla="*/ 2193045 h 5121631"/>
              <a:gd name="connsiteX22" fmla="*/ 5681060 w 5814732"/>
              <a:gd name="connsiteY22" fmla="*/ 2243179 h 5121631"/>
              <a:gd name="connsiteX23" fmla="*/ 5664351 w 5814732"/>
              <a:gd name="connsiteY23" fmla="*/ 2360160 h 5121631"/>
              <a:gd name="connsiteX24" fmla="*/ 5597515 w 5814732"/>
              <a:gd name="connsiteY24" fmla="*/ 2527276 h 5121631"/>
              <a:gd name="connsiteX25" fmla="*/ 5580806 w 5814732"/>
              <a:gd name="connsiteY25" fmla="*/ 2577410 h 5121631"/>
              <a:gd name="connsiteX26" fmla="*/ 5480552 w 5814732"/>
              <a:gd name="connsiteY26" fmla="*/ 2711103 h 5121631"/>
              <a:gd name="connsiteX27" fmla="*/ 5447134 w 5814732"/>
              <a:gd name="connsiteY27" fmla="*/ 2761237 h 5121631"/>
              <a:gd name="connsiteX28" fmla="*/ 5330171 w 5814732"/>
              <a:gd name="connsiteY28" fmla="*/ 2828083 h 5121631"/>
              <a:gd name="connsiteX29" fmla="*/ 5263335 w 5814732"/>
              <a:gd name="connsiteY29" fmla="*/ 2878218 h 5121631"/>
              <a:gd name="connsiteX30" fmla="*/ 5196499 w 5814732"/>
              <a:gd name="connsiteY30" fmla="*/ 2945064 h 5121631"/>
              <a:gd name="connsiteX31" fmla="*/ 5112954 w 5814732"/>
              <a:gd name="connsiteY31" fmla="*/ 3011910 h 5121631"/>
              <a:gd name="connsiteX32" fmla="*/ 5079536 w 5814732"/>
              <a:gd name="connsiteY32" fmla="*/ 3078757 h 5121631"/>
              <a:gd name="connsiteX33" fmla="*/ 5012700 w 5814732"/>
              <a:gd name="connsiteY33" fmla="*/ 3112180 h 5121631"/>
              <a:gd name="connsiteX34" fmla="*/ 4845610 w 5814732"/>
              <a:gd name="connsiteY34" fmla="*/ 3145603 h 5121631"/>
              <a:gd name="connsiteX35" fmla="*/ 4795483 w 5814732"/>
              <a:gd name="connsiteY35" fmla="*/ 3179026 h 5121631"/>
              <a:gd name="connsiteX36" fmla="*/ 4645102 w 5814732"/>
              <a:gd name="connsiteY36" fmla="*/ 3245872 h 5121631"/>
              <a:gd name="connsiteX37" fmla="*/ 4611684 w 5814732"/>
              <a:gd name="connsiteY37" fmla="*/ 3296007 h 5121631"/>
              <a:gd name="connsiteX38" fmla="*/ 4561557 w 5814732"/>
              <a:gd name="connsiteY38" fmla="*/ 3312718 h 5121631"/>
              <a:gd name="connsiteX39" fmla="*/ 4511430 w 5814732"/>
              <a:gd name="connsiteY39" fmla="*/ 3346141 h 5121631"/>
              <a:gd name="connsiteX40" fmla="*/ 4361049 w 5814732"/>
              <a:gd name="connsiteY40" fmla="*/ 3379564 h 5121631"/>
              <a:gd name="connsiteX41" fmla="*/ 4310922 w 5814732"/>
              <a:gd name="connsiteY41" fmla="*/ 3396276 h 5121631"/>
              <a:gd name="connsiteX42" fmla="*/ 4210668 w 5814732"/>
              <a:gd name="connsiteY42" fmla="*/ 3463122 h 5121631"/>
              <a:gd name="connsiteX43" fmla="*/ 4177250 w 5814732"/>
              <a:gd name="connsiteY43" fmla="*/ 3513257 h 5121631"/>
              <a:gd name="connsiteX44" fmla="*/ 4093705 w 5814732"/>
              <a:gd name="connsiteY44" fmla="*/ 3596814 h 5121631"/>
              <a:gd name="connsiteX45" fmla="*/ 4076996 w 5814732"/>
              <a:gd name="connsiteY45" fmla="*/ 3646949 h 5121631"/>
              <a:gd name="connsiteX46" fmla="*/ 3943324 w 5814732"/>
              <a:gd name="connsiteY46" fmla="*/ 3880911 h 5121631"/>
              <a:gd name="connsiteX47" fmla="*/ 3893197 w 5814732"/>
              <a:gd name="connsiteY47" fmla="*/ 3914334 h 5121631"/>
              <a:gd name="connsiteX48" fmla="*/ 3843070 w 5814732"/>
              <a:gd name="connsiteY48" fmla="*/ 4014603 h 5121631"/>
              <a:gd name="connsiteX49" fmla="*/ 3792943 w 5814732"/>
              <a:gd name="connsiteY49" fmla="*/ 4114872 h 5121631"/>
              <a:gd name="connsiteX50" fmla="*/ 3726107 w 5814732"/>
              <a:gd name="connsiteY50" fmla="*/ 4148295 h 5121631"/>
              <a:gd name="connsiteX51" fmla="*/ 3675980 w 5814732"/>
              <a:gd name="connsiteY51" fmla="*/ 4181718 h 5121631"/>
              <a:gd name="connsiteX52" fmla="*/ 3592435 w 5814732"/>
              <a:gd name="connsiteY52" fmla="*/ 4315411 h 5121631"/>
              <a:gd name="connsiteX53" fmla="*/ 3525599 w 5814732"/>
              <a:gd name="connsiteY53" fmla="*/ 4432392 h 5121631"/>
              <a:gd name="connsiteX54" fmla="*/ 3475472 w 5814732"/>
              <a:gd name="connsiteY54" fmla="*/ 4482526 h 5121631"/>
              <a:gd name="connsiteX55" fmla="*/ 3425345 w 5814732"/>
              <a:gd name="connsiteY55" fmla="*/ 4499238 h 5121631"/>
              <a:gd name="connsiteX56" fmla="*/ 3274964 w 5814732"/>
              <a:gd name="connsiteY56" fmla="*/ 4582795 h 5121631"/>
              <a:gd name="connsiteX57" fmla="*/ 3241546 w 5814732"/>
              <a:gd name="connsiteY57" fmla="*/ 4616219 h 5121631"/>
              <a:gd name="connsiteX58" fmla="*/ 3191419 w 5814732"/>
              <a:gd name="connsiteY58" fmla="*/ 4649642 h 5121631"/>
              <a:gd name="connsiteX59" fmla="*/ 3158001 w 5814732"/>
              <a:gd name="connsiteY59" fmla="*/ 4699776 h 5121631"/>
              <a:gd name="connsiteX60" fmla="*/ 3107874 w 5814732"/>
              <a:gd name="connsiteY60" fmla="*/ 4716488 h 5121631"/>
              <a:gd name="connsiteX61" fmla="*/ 2990911 w 5814732"/>
              <a:gd name="connsiteY61" fmla="*/ 4766622 h 5121631"/>
              <a:gd name="connsiteX62" fmla="*/ 2823821 w 5814732"/>
              <a:gd name="connsiteY62" fmla="*/ 4833469 h 5121631"/>
              <a:gd name="connsiteX63" fmla="*/ 2773694 w 5814732"/>
              <a:gd name="connsiteY63" fmla="*/ 4850180 h 5121631"/>
              <a:gd name="connsiteX64" fmla="*/ 2589895 w 5814732"/>
              <a:gd name="connsiteY64" fmla="*/ 4883603 h 5121631"/>
              <a:gd name="connsiteX65" fmla="*/ 2489641 w 5814732"/>
              <a:gd name="connsiteY65" fmla="*/ 4933738 h 5121631"/>
              <a:gd name="connsiteX66" fmla="*/ 2439514 w 5814732"/>
              <a:gd name="connsiteY66" fmla="*/ 4950449 h 5121631"/>
              <a:gd name="connsiteX67" fmla="*/ 2406096 w 5814732"/>
              <a:gd name="connsiteY67" fmla="*/ 4983873 h 5121631"/>
              <a:gd name="connsiteX68" fmla="*/ 2222297 w 5814732"/>
              <a:gd name="connsiteY68" fmla="*/ 5034007 h 5121631"/>
              <a:gd name="connsiteX69" fmla="*/ 2122043 w 5814732"/>
              <a:gd name="connsiteY69" fmla="*/ 5067430 h 5121631"/>
              <a:gd name="connsiteX70" fmla="*/ 2071916 w 5814732"/>
              <a:gd name="connsiteY70" fmla="*/ 5100853 h 5121631"/>
              <a:gd name="connsiteX71" fmla="*/ 1119503 w 5814732"/>
              <a:gd name="connsiteY71" fmla="*/ 5067430 h 5121631"/>
              <a:gd name="connsiteX72" fmla="*/ 1069376 w 5814732"/>
              <a:gd name="connsiteY72" fmla="*/ 5034007 h 5121631"/>
              <a:gd name="connsiteX73" fmla="*/ 935704 w 5814732"/>
              <a:gd name="connsiteY73" fmla="*/ 5017296 h 5121631"/>
              <a:gd name="connsiteX74" fmla="*/ 868868 w 5814732"/>
              <a:gd name="connsiteY74" fmla="*/ 5000584 h 5121631"/>
              <a:gd name="connsiteX75" fmla="*/ 768614 w 5814732"/>
              <a:gd name="connsiteY75" fmla="*/ 4967161 h 5121631"/>
              <a:gd name="connsiteX76" fmla="*/ 651651 w 5814732"/>
              <a:gd name="connsiteY76" fmla="*/ 4917026 h 5121631"/>
              <a:gd name="connsiteX77" fmla="*/ 517979 w 5814732"/>
              <a:gd name="connsiteY77" fmla="*/ 4800046 h 5121631"/>
              <a:gd name="connsiteX78" fmla="*/ 434434 w 5814732"/>
              <a:gd name="connsiteY78" fmla="*/ 4749911 h 5121631"/>
              <a:gd name="connsiteX79" fmla="*/ 401016 w 5814732"/>
              <a:gd name="connsiteY79" fmla="*/ 4699776 h 5121631"/>
              <a:gd name="connsiteX80" fmla="*/ 350889 w 5814732"/>
              <a:gd name="connsiteY80" fmla="*/ 4683065 h 5121631"/>
              <a:gd name="connsiteX81" fmla="*/ 317471 w 5814732"/>
              <a:gd name="connsiteY81" fmla="*/ 4616219 h 5121631"/>
              <a:gd name="connsiteX82" fmla="*/ 284053 w 5814732"/>
              <a:gd name="connsiteY82" fmla="*/ 4566084 h 5121631"/>
              <a:gd name="connsiteX83" fmla="*/ 183799 w 5814732"/>
              <a:gd name="connsiteY83" fmla="*/ 4332122 h 5121631"/>
              <a:gd name="connsiteX84" fmla="*/ 150381 w 5814732"/>
              <a:gd name="connsiteY84" fmla="*/ 4281988 h 5121631"/>
              <a:gd name="connsiteX85" fmla="*/ 100254 w 5814732"/>
              <a:gd name="connsiteY85" fmla="*/ 4131584 h 5121631"/>
              <a:gd name="connsiteX86" fmla="*/ 83545 w 5814732"/>
              <a:gd name="connsiteY86" fmla="*/ 4081449 h 5121631"/>
              <a:gd name="connsiteX87" fmla="*/ 50127 w 5814732"/>
              <a:gd name="connsiteY87" fmla="*/ 3947757 h 5121631"/>
              <a:gd name="connsiteX88" fmla="*/ 33418 w 5814732"/>
              <a:gd name="connsiteY88" fmla="*/ 3797353 h 5121631"/>
              <a:gd name="connsiteX89" fmla="*/ 16709 w 5814732"/>
              <a:gd name="connsiteY89" fmla="*/ 3747218 h 5121631"/>
              <a:gd name="connsiteX90" fmla="*/ 0 w 5814732"/>
              <a:gd name="connsiteY90" fmla="*/ 3529968 h 5121631"/>
              <a:gd name="connsiteX91" fmla="*/ 16709 w 5814732"/>
              <a:gd name="connsiteY91" fmla="*/ 3128891 h 5121631"/>
              <a:gd name="connsiteX92" fmla="*/ 50127 w 5814732"/>
              <a:gd name="connsiteY92" fmla="*/ 3062045 h 5121631"/>
              <a:gd name="connsiteX93" fmla="*/ 66836 w 5814732"/>
              <a:gd name="connsiteY93" fmla="*/ 2995199 h 5121631"/>
              <a:gd name="connsiteX94" fmla="*/ 100254 w 5814732"/>
              <a:gd name="connsiteY94" fmla="*/ 2828083 h 5121631"/>
              <a:gd name="connsiteX95" fmla="*/ 133672 w 5814732"/>
              <a:gd name="connsiteY95" fmla="*/ 2777949 h 5121631"/>
              <a:gd name="connsiteX96" fmla="*/ 217217 w 5814732"/>
              <a:gd name="connsiteY96" fmla="*/ 2610833 h 5121631"/>
              <a:gd name="connsiteX97" fmla="*/ 233926 w 5814732"/>
              <a:gd name="connsiteY97" fmla="*/ 2560699 h 5121631"/>
              <a:gd name="connsiteX98" fmla="*/ 300762 w 5814732"/>
              <a:gd name="connsiteY98" fmla="*/ 2460429 h 5121631"/>
              <a:gd name="connsiteX99" fmla="*/ 317471 w 5814732"/>
              <a:gd name="connsiteY99" fmla="*/ 2393583 h 5121631"/>
              <a:gd name="connsiteX100" fmla="*/ 334180 w 5814732"/>
              <a:gd name="connsiteY100" fmla="*/ 2310025 h 5121631"/>
              <a:gd name="connsiteX101" fmla="*/ 384307 w 5814732"/>
              <a:gd name="connsiteY101" fmla="*/ 2243179 h 5121631"/>
              <a:gd name="connsiteX102" fmla="*/ 467852 w 5814732"/>
              <a:gd name="connsiteY102" fmla="*/ 2159622 h 5121631"/>
              <a:gd name="connsiteX103" fmla="*/ 484561 w 5814732"/>
              <a:gd name="connsiteY103" fmla="*/ 2109487 h 5121631"/>
              <a:gd name="connsiteX104" fmla="*/ 534688 w 5814732"/>
              <a:gd name="connsiteY104" fmla="*/ 2076064 h 5121631"/>
              <a:gd name="connsiteX105" fmla="*/ 584815 w 5814732"/>
              <a:gd name="connsiteY105" fmla="*/ 2025929 h 5121631"/>
              <a:gd name="connsiteX106" fmla="*/ 651651 w 5814732"/>
              <a:gd name="connsiteY106" fmla="*/ 1925660 h 5121631"/>
              <a:gd name="connsiteX107" fmla="*/ 668360 w 5814732"/>
              <a:gd name="connsiteY107" fmla="*/ 1875525 h 5121631"/>
              <a:gd name="connsiteX108" fmla="*/ 718487 w 5814732"/>
              <a:gd name="connsiteY108" fmla="*/ 1858814 h 5121631"/>
              <a:gd name="connsiteX109" fmla="*/ 818741 w 5814732"/>
              <a:gd name="connsiteY109" fmla="*/ 1808679 h 5121631"/>
              <a:gd name="connsiteX110" fmla="*/ 918995 w 5814732"/>
              <a:gd name="connsiteY110" fmla="*/ 1758545 h 5121631"/>
              <a:gd name="connsiteX111" fmla="*/ 1069376 w 5814732"/>
              <a:gd name="connsiteY111" fmla="*/ 1725121 h 5121631"/>
              <a:gd name="connsiteX112" fmla="*/ 1169630 w 5814732"/>
              <a:gd name="connsiteY112" fmla="*/ 1658275 h 5121631"/>
              <a:gd name="connsiteX113" fmla="*/ 1269884 w 5814732"/>
              <a:gd name="connsiteY113" fmla="*/ 1624852 h 5121631"/>
              <a:gd name="connsiteX114" fmla="*/ 1320011 w 5814732"/>
              <a:gd name="connsiteY114" fmla="*/ 1591429 h 5121631"/>
              <a:gd name="connsiteX115" fmla="*/ 1520519 w 5814732"/>
              <a:gd name="connsiteY115" fmla="*/ 1558006 h 5121631"/>
              <a:gd name="connsiteX116" fmla="*/ 1637482 w 5814732"/>
              <a:gd name="connsiteY116" fmla="*/ 1441025 h 5121631"/>
              <a:gd name="connsiteX117" fmla="*/ 1637482 w 5814732"/>
              <a:gd name="connsiteY117" fmla="*/ 1441025 h 5121631"/>
              <a:gd name="connsiteX118" fmla="*/ 1737736 w 5814732"/>
              <a:gd name="connsiteY118" fmla="*/ 1357467 h 5121631"/>
              <a:gd name="connsiteX119" fmla="*/ 1837990 w 5814732"/>
              <a:gd name="connsiteY119" fmla="*/ 1290621 h 5121631"/>
              <a:gd name="connsiteX120" fmla="*/ 1888117 w 5814732"/>
              <a:gd name="connsiteY120" fmla="*/ 1257198 h 5121631"/>
              <a:gd name="connsiteX121" fmla="*/ 1938244 w 5814732"/>
              <a:gd name="connsiteY121" fmla="*/ 1240487 h 5121631"/>
              <a:gd name="connsiteX122" fmla="*/ 1988371 w 5814732"/>
              <a:gd name="connsiteY122" fmla="*/ 1207064 h 5121631"/>
              <a:gd name="connsiteX123" fmla="*/ 2122043 w 5814732"/>
              <a:gd name="connsiteY123" fmla="*/ 1106794 h 5121631"/>
              <a:gd name="connsiteX124" fmla="*/ 2322551 w 5814732"/>
              <a:gd name="connsiteY124" fmla="*/ 1073371 h 5121631"/>
              <a:gd name="connsiteX125" fmla="*/ 2372678 w 5814732"/>
              <a:gd name="connsiteY125" fmla="*/ 1039948 h 5121631"/>
              <a:gd name="connsiteX126" fmla="*/ 2422805 w 5814732"/>
              <a:gd name="connsiteY126" fmla="*/ 989813 h 5121631"/>
              <a:gd name="connsiteX127" fmla="*/ 2489641 w 5814732"/>
              <a:gd name="connsiteY127" fmla="*/ 956390 h 5121631"/>
              <a:gd name="connsiteX128" fmla="*/ 2589895 w 5814732"/>
              <a:gd name="connsiteY128" fmla="*/ 906256 h 5121631"/>
              <a:gd name="connsiteX129" fmla="*/ 2673440 w 5814732"/>
              <a:gd name="connsiteY129" fmla="*/ 839410 h 5121631"/>
              <a:gd name="connsiteX130" fmla="*/ 2706858 w 5814732"/>
              <a:gd name="connsiteY130" fmla="*/ 805986 h 5121631"/>
              <a:gd name="connsiteX131" fmla="*/ 2756985 w 5814732"/>
              <a:gd name="connsiteY131" fmla="*/ 772563 h 5121631"/>
              <a:gd name="connsiteX132" fmla="*/ 2790403 w 5814732"/>
              <a:gd name="connsiteY132" fmla="*/ 722429 h 5121631"/>
              <a:gd name="connsiteX133" fmla="*/ 2957493 w 5814732"/>
              <a:gd name="connsiteY133" fmla="*/ 588736 h 5121631"/>
              <a:gd name="connsiteX134" fmla="*/ 3024329 w 5814732"/>
              <a:gd name="connsiteY134" fmla="*/ 488467 h 5121631"/>
              <a:gd name="connsiteX135" fmla="*/ 3107874 w 5814732"/>
              <a:gd name="connsiteY135" fmla="*/ 404909 h 5121631"/>
              <a:gd name="connsiteX136" fmla="*/ 3208128 w 5814732"/>
              <a:gd name="connsiteY136" fmla="*/ 321352 h 5121631"/>
              <a:gd name="connsiteX137" fmla="*/ 3224837 w 5814732"/>
              <a:gd name="connsiteY137" fmla="*/ 271217 h 5121631"/>
              <a:gd name="connsiteX138" fmla="*/ 3274964 w 5814732"/>
              <a:gd name="connsiteY138" fmla="*/ 237794 h 5121631"/>
              <a:gd name="connsiteX139" fmla="*/ 3442054 w 5814732"/>
              <a:gd name="connsiteY139" fmla="*/ 154236 h 5121631"/>
              <a:gd name="connsiteX140" fmla="*/ 3592435 w 5814732"/>
              <a:gd name="connsiteY140" fmla="*/ 104102 h 5121631"/>
              <a:gd name="connsiteX141" fmla="*/ 3642562 w 5814732"/>
              <a:gd name="connsiteY141" fmla="*/ 87390 h 5121631"/>
              <a:gd name="connsiteX142" fmla="*/ 3776234 w 5814732"/>
              <a:gd name="connsiteY142" fmla="*/ 53967 h 5121631"/>
              <a:gd name="connsiteX143" fmla="*/ 3843070 w 5814732"/>
              <a:gd name="connsiteY143" fmla="*/ 37255 h 5121631"/>
              <a:gd name="connsiteX144" fmla="*/ 3943324 w 5814732"/>
              <a:gd name="connsiteY144" fmla="*/ 20544 h 5121631"/>
              <a:gd name="connsiteX145" fmla="*/ 4594975 w 5814732"/>
              <a:gd name="connsiteY145" fmla="*/ 53967 h 512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5814732" h="5121631">
                <a:moveTo>
                  <a:pt x="4511430" y="87390"/>
                </a:moveTo>
                <a:cubicBezTo>
                  <a:pt x="4644459" y="60781"/>
                  <a:pt x="4622211" y="57389"/>
                  <a:pt x="4812192" y="87390"/>
                </a:cubicBezTo>
                <a:cubicBezTo>
                  <a:pt x="4846987" y="92885"/>
                  <a:pt x="4912446" y="120813"/>
                  <a:pt x="4912446" y="120813"/>
                </a:cubicBezTo>
                <a:cubicBezTo>
                  <a:pt x="4945864" y="143095"/>
                  <a:pt x="4974596" y="174956"/>
                  <a:pt x="5012700" y="187659"/>
                </a:cubicBezTo>
                <a:cubicBezTo>
                  <a:pt x="5139896" y="230064"/>
                  <a:pt x="5078412" y="214172"/>
                  <a:pt x="5196499" y="237794"/>
                </a:cubicBezTo>
                <a:cubicBezTo>
                  <a:pt x="5202069" y="254506"/>
                  <a:pt x="5202205" y="274173"/>
                  <a:pt x="5213208" y="287929"/>
                </a:cubicBezTo>
                <a:cubicBezTo>
                  <a:pt x="5236765" y="317380"/>
                  <a:pt x="5280438" y="327054"/>
                  <a:pt x="5313462" y="338063"/>
                </a:cubicBezTo>
                <a:cubicBezTo>
                  <a:pt x="5330171" y="349204"/>
                  <a:pt x="5345238" y="363329"/>
                  <a:pt x="5363589" y="371486"/>
                </a:cubicBezTo>
                <a:cubicBezTo>
                  <a:pt x="5395778" y="385794"/>
                  <a:pt x="5463843" y="404909"/>
                  <a:pt x="5463843" y="404909"/>
                </a:cubicBezTo>
                <a:cubicBezTo>
                  <a:pt x="5474982" y="416050"/>
                  <a:pt x="5484959" y="428490"/>
                  <a:pt x="5497261" y="438333"/>
                </a:cubicBezTo>
                <a:cubicBezTo>
                  <a:pt x="5512942" y="450880"/>
                  <a:pt x="5534844" y="456073"/>
                  <a:pt x="5547388" y="471756"/>
                </a:cubicBezTo>
                <a:cubicBezTo>
                  <a:pt x="5639624" y="587067"/>
                  <a:pt x="5470574" y="459532"/>
                  <a:pt x="5614224" y="555313"/>
                </a:cubicBezTo>
                <a:cubicBezTo>
                  <a:pt x="5619794" y="572025"/>
                  <a:pt x="5619930" y="591692"/>
                  <a:pt x="5630933" y="605448"/>
                </a:cubicBezTo>
                <a:cubicBezTo>
                  <a:pt x="5720054" y="716866"/>
                  <a:pt x="5647636" y="555303"/>
                  <a:pt x="5714478" y="689006"/>
                </a:cubicBezTo>
                <a:cubicBezTo>
                  <a:pt x="5727833" y="715719"/>
                  <a:pt x="5740758" y="780999"/>
                  <a:pt x="5747896" y="805986"/>
                </a:cubicBezTo>
                <a:cubicBezTo>
                  <a:pt x="5752735" y="822924"/>
                  <a:pt x="5759035" y="839409"/>
                  <a:pt x="5764605" y="856121"/>
                </a:cubicBezTo>
                <a:cubicBezTo>
                  <a:pt x="5770175" y="928538"/>
                  <a:pt x="5769988" y="1001629"/>
                  <a:pt x="5781314" y="1073371"/>
                </a:cubicBezTo>
                <a:cubicBezTo>
                  <a:pt x="5786808" y="1108170"/>
                  <a:pt x="5814732" y="1173640"/>
                  <a:pt x="5814732" y="1173640"/>
                </a:cubicBezTo>
                <a:cubicBezTo>
                  <a:pt x="5803593" y="1363038"/>
                  <a:pt x="5799299" y="1552962"/>
                  <a:pt x="5781314" y="1741833"/>
                </a:cubicBezTo>
                <a:cubicBezTo>
                  <a:pt x="5776960" y="1787561"/>
                  <a:pt x="5747896" y="1875525"/>
                  <a:pt x="5747896" y="1875525"/>
                </a:cubicBezTo>
                <a:cubicBezTo>
                  <a:pt x="5742326" y="1947942"/>
                  <a:pt x="5742513" y="2021033"/>
                  <a:pt x="5731187" y="2092775"/>
                </a:cubicBezTo>
                <a:cubicBezTo>
                  <a:pt x="5725693" y="2127575"/>
                  <a:pt x="5708908" y="2159622"/>
                  <a:pt x="5697769" y="2193045"/>
                </a:cubicBezTo>
                <a:lnTo>
                  <a:pt x="5681060" y="2243179"/>
                </a:lnTo>
                <a:cubicBezTo>
                  <a:pt x="5675490" y="2282173"/>
                  <a:pt x="5673207" y="2321779"/>
                  <a:pt x="5664351" y="2360160"/>
                </a:cubicBezTo>
                <a:cubicBezTo>
                  <a:pt x="5638997" y="2470043"/>
                  <a:pt x="5635415" y="2438830"/>
                  <a:pt x="5597515" y="2527276"/>
                </a:cubicBezTo>
                <a:cubicBezTo>
                  <a:pt x="5590577" y="2543467"/>
                  <a:pt x="5589360" y="2562011"/>
                  <a:pt x="5580806" y="2577410"/>
                </a:cubicBezTo>
                <a:cubicBezTo>
                  <a:pt x="5474819" y="2768215"/>
                  <a:pt x="5554299" y="2618905"/>
                  <a:pt x="5480552" y="2711103"/>
                </a:cubicBezTo>
                <a:cubicBezTo>
                  <a:pt x="5468007" y="2726787"/>
                  <a:pt x="5461334" y="2747035"/>
                  <a:pt x="5447134" y="2761237"/>
                </a:cubicBezTo>
                <a:cubicBezTo>
                  <a:pt x="5416472" y="2791904"/>
                  <a:pt x="5365121" y="2806236"/>
                  <a:pt x="5330171" y="2828083"/>
                </a:cubicBezTo>
                <a:cubicBezTo>
                  <a:pt x="5306555" y="2842845"/>
                  <a:pt x="5285614" y="2861506"/>
                  <a:pt x="5263335" y="2878218"/>
                </a:cubicBezTo>
                <a:cubicBezTo>
                  <a:pt x="5226877" y="2987609"/>
                  <a:pt x="5277515" y="2880241"/>
                  <a:pt x="5196499" y="2945064"/>
                </a:cubicBezTo>
                <a:cubicBezTo>
                  <a:pt x="5088532" y="3031451"/>
                  <a:pt x="5238945" y="2969908"/>
                  <a:pt x="5112954" y="3011910"/>
                </a:cubicBezTo>
                <a:cubicBezTo>
                  <a:pt x="5101815" y="3034192"/>
                  <a:pt x="5097150" y="3061140"/>
                  <a:pt x="5079536" y="3078757"/>
                </a:cubicBezTo>
                <a:cubicBezTo>
                  <a:pt x="5061924" y="3096372"/>
                  <a:pt x="5035595" y="3102367"/>
                  <a:pt x="5012700" y="3112180"/>
                </a:cubicBezTo>
                <a:cubicBezTo>
                  <a:pt x="4954377" y="3137179"/>
                  <a:pt x="4914793" y="3135718"/>
                  <a:pt x="4845610" y="3145603"/>
                </a:cubicBezTo>
                <a:cubicBezTo>
                  <a:pt x="4828901" y="3156744"/>
                  <a:pt x="4813834" y="3170869"/>
                  <a:pt x="4795483" y="3179026"/>
                </a:cubicBezTo>
                <a:cubicBezTo>
                  <a:pt x="4616524" y="3258575"/>
                  <a:pt x="4758546" y="3170231"/>
                  <a:pt x="4645102" y="3245872"/>
                </a:cubicBezTo>
                <a:cubicBezTo>
                  <a:pt x="4633963" y="3262584"/>
                  <a:pt x="4627366" y="3283460"/>
                  <a:pt x="4611684" y="3296007"/>
                </a:cubicBezTo>
                <a:cubicBezTo>
                  <a:pt x="4597931" y="3307011"/>
                  <a:pt x="4577310" y="3304840"/>
                  <a:pt x="4561557" y="3312718"/>
                </a:cubicBezTo>
                <a:cubicBezTo>
                  <a:pt x="4543595" y="3321700"/>
                  <a:pt x="4529392" y="3337159"/>
                  <a:pt x="4511430" y="3346141"/>
                </a:cubicBezTo>
                <a:cubicBezTo>
                  <a:pt x="4470294" y="3366712"/>
                  <a:pt x="4399561" y="3373145"/>
                  <a:pt x="4361049" y="3379564"/>
                </a:cubicBezTo>
                <a:cubicBezTo>
                  <a:pt x="4344340" y="3385135"/>
                  <a:pt x="4326318" y="3387721"/>
                  <a:pt x="4310922" y="3396276"/>
                </a:cubicBezTo>
                <a:cubicBezTo>
                  <a:pt x="4275813" y="3415784"/>
                  <a:pt x="4210668" y="3463122"/>
                  <a:pt x="4210668" y="3463122"/>
                </a:cubicBezTo>
                <a:cubicBezTo>
                  <a:pt x="4199529" y="3479834"/>
                  <a:pt x="4191450" y="3499054"/>
                  <a:pt x="4177250" y="3513257"/>
                </a:cubicBezTo>
                <a:cubicBezTo>
                  <a:pt x="4065853" y="3624672"/>
                  <a:pt x="4182825" y="3463116"/>
                  <a:pt x="4093705" y="3596814"/>
                </a:cubicBezTo>
                <a:cubicBezTo>
                  <a:pt x="4088135" y="3613526"/>
                  <a:pt x="4084284" y="3630912"/>
                  <a:pt x="4076996" y="3646949"/>
                </a:cubicBezTo>
                <a:cubicBezTo>
                  <a:pt x="4066943" y="3669069"/>
                  <a:pt x="3977533" y="3858101"/>
                  <a:pt x="3943324" y="3880911"/>
                </a:cubicBezTo>
                <a:lnTo>
                  <a:pt x="3893197" y="3914334"/>
                </a:lnTo>
                <a:cubicBezTo>
                  <a:pt x="3851197" y="4040351"/>
                  <a:pt x="3907853" y="3885016"/>
                  <a:pt x="3843070" y="4014603"/>
                </a:cubicBezTo>
                <a:cubicBezTo>
                  <a:pt x="3821891" y="4056967"/>
                  <a:pt x="3833987" y="4080663"/>
                  <a:pt x="3792943" y="4114872"/>
                </a:cubicBezTo>
                <a:cubicBezTo>
                  <a:pt x="3773808" y="4130820"/>
                  <a:pt x="3747733" y="4135935"/>
                  <a:pt x="3726107" y="4148295"/>
                </a:cubicBezTo>
                <a:cubicBezTo>
                  <a:pt x="3708671" y="4158260"/>
                  <a:pt x="3692689" y="4170577"/>
                  <a:pt x="3675980" y="4181718"/>
                </a:cubicBezTo>
                <a:cubicBezTo>
                  <a:pt x="3636212" y="4301040"/>
                  <a:pt x="3671874" y="4262443"/>
                  <a:pt x="3592435" y="4315411"/>
                </a:cubicBezTo>
                <a:cubicBezTo>
                  <a:pt x="3572008" y="4356271"/>
                  <a:pt x="3555120" y="4396962"/>
                  <a:pt x="3525599" y="4432392"/>
                </a:cubicBezTo>
                <a:cubicBezTo>
                  <a:pt x="3510472" y="4450548"/>
                  <a:pt x="3495134" y="4469416"/>
                  <a:pt x="3475472" y="4482526"/>
                </a:cubicBezTo>
                <a:cubicBezTo>
                  <a:pt x="3460818" y="4492297"/>
                  <a:pt x="3440741" y="4490683"/>
                  <a:pt x="3425345" y="4499238"/>
                </a:cubicBezTo>
                <a:cubicBezTo>
                  <a:pt x="3252988" y="4595007"/>
                  <a:pt x="3388387" y="4544983"/>
                  <a:pt x="3274964" y="4582795"/>
                </a:cubicBezTo>
                <a:cubicBezTo>
                  <a:pt x="3263825" y="4593936"/>
                  <a:pt x="3253848" y="4606376"/>
                  <a:pt x="3241546" y="4616219"/>
                </a:cubicBezTo>
                <a:cubicBezTo>
                  <a:pt x="3225865" y="4628766"/>
                  <a:pt x="3205619" y="4635440"/>
                  <a:pt x="3191419" y="4649642"/>
                </a:cubicBezTo>
                <a:cubicBezTo>
                  <a:pt x="3177219" y="4663844"/>
                  <a:pt x="3173683" y="4687229"/>
                  <a:pt x="3158001" y="4699776"/>
                </a:cubicBezTo>
                <a:cubicBezTo>
                  <a:pt x="3144248" y="4710780"/>
                  <a:pt x="3124063" y="4709549"/>
                  <a:pt x="3107874" y="4716488"/>
                </a:cubicBezTo>
                <a:cubicBezTo>
                  <a:pt x="2963356" y="4778434"/>
                  <a:pt x="3108458" y="4727435"/>
                  <a:pt x="2990911" y="4766622"/>
                </a:cubicBezTo>
                <a:cubicBezTo>
                  <a:pt x="2918633" y="4838913"/>
                  <a:pt x="2991393" y="4777605"/>
                  <a:pt x="2823821" y="4833469"/>
                </a:cubicBezTo>
                <a:cubicBezTo>
                  <a:pt x="2807112" y="4839039"/>
                  <a:pt x="2790888" y="4846359"/>
                  <a:pt x="2773694" y="4850180"/>
                </a:cubicBezTo>
                <a:cubicBezTo>
                  <a:pt x="2639673" y="4879967"/>
                  <a:pt x="2711484" y="4853201"/>
                  <a:pt x="2589895" y="4883603"/>
                </a:cubicBezTo>
                <a:cubicBezTo>
                  <a:pt x="2505900" y="4904605"/>
                  <a:pt x="2571316" y="4892895"/>
                  <a:pt x="2489641" y="4933738"/>
                </a:cubicBezTo>
                <a:cubicBezTo>
                  <a:pt x="2473888" y="4941616"/>
                  <a:pt x="2456223" y="4944879"/>
                  <a:pt x="2439514" y="4950449"/>
                </a:cubicBezTo>
                <a:cubicBezTo>
                  <a:pt x="2428375" y="4961590"/>
                  <a:pt x="2420187" y="4976826"/>
                  <a:pt x="2406096" y="4983873"/>
                </a:cubicBezTo>
                <a:cubicBezTo>
                  <a:pt x="2325307" y="5024274"/>
                  <a:pt x="2302970" y="5012002"/>
                  <a:pt x="2222297" y="5034007"/>
                </a:cubicBezTo>
                <a:cubicBezTo>
                  <a:pt x="2188312" y="5043277"/>
                  <a:pt x="2122043" y="5067430"/>
                  <a:pt x="2122043" y="5067430"/>
                </a:cubicBezTo>
                <a:cubicBezTo>
                  <a:pt x="2105334" y="5078571"/>
                  <a:pt x="2091995" y="5100494"/>
                  <a:pt x="2071916" y="5100853"/>
                </a:cubicBezTo>
                <a:cubicBezTo>
                  <a:pt x="1287941" y="5114855"/>
                  <a:pt x="1463077" y="5153339"/>
                  <a:pt x="1119503" y="5067430"/>
                </a:cubicBezTo>
                <a:cubicBezTo>
                  <a:pt x="1102794" y="5056289"/>
                  <a:pt x="1088751" y="5039292"/>
                  <a:pt x="1069376" y="5034007"/>
                </a:cubicBezTo>
                <a:cubicBezTo>
                  <a:pt x="1026054" y="5022190"/>
                  <a:pt x="979997" y="5024679"/>
                  <a:pt x="935704" y="5017296"/>
                </a:cubicBezTo>
                <a:cubicBezTo>
                  <a:pt x="913052" y="5013520"/>
                  <a:pt x="890864" y="5007184"/>
                  <a:pt x="868868" y="5000584"/>
                </a:cubicBezTo>
                <a:cubicBezTo>
                  <a:pt x="835128" y="4990460"/>
                  <a:pt x="800120" y="4982917"/>
                  <a:pt x="768614" y="4967161"/>
                </a:cubicBezTo>
                <a:cubicBezTo>
                  <a:pt x="686025" y="4925860"/>
                  <a:pt x="725408" y="4941616"/>
                  <a:pt x="651651" y="4917026"/>
                </a:cubicBezTo>
                <a:cubicBezTo>
                  <a:pt x="556959" y="4774967"/>
                  <a:pt x="712933" y="4995035"/>
                  <a:pt x="517979" y="4800046"/>
                </a:cubicBezTo>
                <a:cubicBezTo>
                  <a:pt x="472108" y="4754167"/>
                  <a:pt x="499507" y="4771605"/>
                  <a:pt x="434434" y="4749911"/>
                </a:cubicBezTo>
                <a:cubicBezTo>
                  <a:pt x="423295" y="4733199"/>
                  <a:pt x="416698" y="4712323"/>
                  <a:pt x="401016" y="4699776"/>
                </a:cubicBezTo>
                <a:cubicBezTo>
                  <a:pt x="387263" y="4688772"/>
                  <a:pt x="363342" y="4695520"/>
                  <a:pt x="350889" y="4683065"/>
                </a:cubicBezTo>
                <a:cubicBezTo>
                  <a:pt x="333275" y="4665449"/>
                  <a:pt x="329829" y="4637849"/>
                  <a:pt x="317471" y="4616219"/>
                </a:cubicBezTo>
                <a:cubicBezTo>
                  <a:pt x="307508" y="4598781"/>
                  <a:pt x="295192" y="4582796"/>
                  <a:pt x="284053" y="4566084"/>
                </a:cubicBezTo>
                <a:cubicBezTo>
                  <a:pt x="240895" y="4393425"/>
                  <a:pt x="276112" y="4470613"/>
                  <a:pt x="183799" y="4332122"/>
                </a:cubicBezTo>
                <a:lnTo>
                  <a:pt x="150381" y="4281988"/>
                </a:lnTo>
                <a:lnTo>
                  <a:pt x="100254" y="4131584"/>
                </a:lnTo>
                <a:cubicBezTo>
                  <a:pt x="94684" y="4114872"/>
                  <a:pt x="86999" y="4098722"/>
                  <a:pt x="83545" y="4081449"/>
                </a:cubicBezTo>
                <a:cubicBezTo>
                  <a:pt x="63382" y="3980618"/>
                  <a:pt x="75817" y="4024838"/>
                  <a:pt x="50127" y="3947757"/>
                </a:cubicBezTo>
                <a:cubicBezTo>
                  <a:pt x="44557" y="3897622"/>
                  <a:pt x="41710" y="3847110"/>
                  <a:pt x="33418" y="3797353"/>
                </a:cubicBezTo>
                <a:cubicBezTo>
                  <a:pt x="30522" y="3779977"/>
                  <a:pt x="18894" y="3764697"/>
                  <a:pt x="16709" y="3747218"/>
                </a:cubicBezTo>
                <a:cubicBezTo>
                  <a:pt x="7702" y="3675148"/>
                  <a:pt x="5570" y="3602385"/>
                  <a:pt x="0" y="3529968"/>
                </a:cubicBezTo>
                <a:cubicBezTo>
                  <a:pt x="5570" y="3396276"/>
                  <a:pt x="2456" y="3261938"/>
                  <a:pt x="16709" y="3128891"/>
                </a:cubicBezTo>
                <a:cubicBezTo>
                  <a:pt x="19362" y="3104121"/>
                  <a:pt x="41381" y="3085371"/>
                  <a:pt x="50127" y="3062045"/>
                </a:cubicBezTo>
                <a:cubicBezTo>
                  <a:pt x="58190" y="3040539"/>
                  <a:pt x="62332" y="3017721"/>
                  <a:pt x="66836" y="2995199"/>
                </a:cubicBezTo>
                <a:cubicBezTo>
                  <a:pt x="72019" y="2969282"/>
                  <a:pt x="85700" y="2862047"/>
                  <a:pt x="100254" y="2828083"/>
                </a:cubicBezTo>
                <a:cubicBezTo>
                  <a:pt x="108164" y="2809623"/>
                  <a:pt x="122533" y="2794660"/>
                  <a:pt x="133672" y="2777949"/>
                </a:cubicBezTo>
                <a:cubicBezTo>
                  <a:pt x="171960" y="2624773"/>
                  <a:pt x="128871" y="2669739"/>
                  <a:pt x="217217" y="2610833"/>
                </a:cubicBezTo>
                <a:cubicBezTo>
                  <a:pt x="222787" y="2594122"/>
                  <a:pt x="225372" y="2576098"/>
                  <a:pt x="233926" y="2560699"/>
                </a:cubicBezTo>
                <a:cubicBezTo>
                  <a:pt x="253431" y="2525585"/>
                  <a:pt x="300762" y="2460429"/>
                  <a:pt x="300762" y="2460429"/>
                </a:cubicBezTo>
                <a:cubicBezTo>
                  <a:pt x="306332" y="2438147"/>
                  <a:pt x="312489" y="2416004"/>
                  <a:pt x="317471" y="2393583"/>
                </a:cubicBezTo>
                <a:cubicBezTo>
                  <a:pt x="323632" y="2365855"/>
                  <a:pt x="322645" y="2335982"/>
                  <a:pt x="334180" y="2310025"/>
                </a:cubicBezTo>
                <a:cubicBezTo>
                  <a:pt x="345490" y="2284574"/>
                  <a:pt x="368120" y="2265843"/>
                  <a:pt x="384307" y="2243179"/>
                </a:cubicBezTo>
                <a:cubicBezTo>
                  <a:pt x="434939" y="2172284"/>
                  <a:pt x="394940" y="2208237"/>
                  <a:pt x="467852" y="2159622"/>
                </a:cubicBezTo>
                <a:cubicBezTo>
                  <a:pt x="473422" y="2142910"/>
                  <a:pt x="473558" y="2123243"/>
                  <a:pt x="484561" y="2109487"/>
                </a:cubicBezTo>
                <a:cubicBezTo>
                  <a:pt x="497105" y="2093804"/>
                  <a:pt x="519261" y="2088922"/>
                  <a:pt x="534688" y="2076064"/>
                </a:cubicBezTo>
                <a:cubicBezTo>
                  <a:pt x="552841" y="2060934"/>
                  <a:pt x="570308" y="2044584"/>
                  <a:pt x="584815" y="2025929"/>
                </a:cubicBezTo>
                <a:cubicBezTo>
                  <a:pt x="609473" y="1994221"/>
                  <a:pt x="638951" y="1963767"/>
                  <a:pt x="651651" y="1925660"/>
                </a:cubicBezTo>
                <a:cubicBezTo>
                  <a:pt x="657221" y="1908948"/>
                  <a:pt x="655905" y="1887982"/>
                  <a:pt x="668360" y="1875525"/>
                </a:cubicBezTo>
                <a:cubicBezTo>
                  <a:pt x="680813" y="1863070"/>
                  <a:pt x="701778" y="1864384"/>
                  <a:pt x="718487" y="1858814"/>
                </a:cubicBezTo>
                <a:cubicBezTo>
                  <a:pt x="862146" y="1763027"/>
                  <a:pt x="680384" y="1877869"/>
                  <a:pt x="818741" y="1808679"/>
                </a:cubicBezTo>
                <a:cubicBezTo>
                  <a:pt x="890841" y="1772623"/>
                  <a:pt x="843397" y="1775347"/>
                  <a:pt x="918995" y="1758545"/>
                </a:cubicBezTo>
                <a:cubicBezTo>
                  <a:pt x="950735" y="1751491"/>
                  <a:pt x="1031760" y="1746022"/>
                  <a:pt x="1069376" y="1725121"/>
                </a:cubicBezTo>
                <a:cubicBezTo>
                  <a:pt x="1104485" y="1705613"/>
                  <a:pt x="1131526" y="1670978"/>
                  <a:pt x="1169630" y="1658275"/>
                </a:cubicBezTo>
                <a:cubicBezTo>
                  <a:pt x="1203048" y="1647134"/>
                  <a:pt x="1240575" y="1644394"/>
                  <a:pt x="1269884" y="1624852"/>
                </a:cubicBezTo>
                <a:cubicBezTo>
                  <a:pt x="1286593" y="1613711"/>
                  <a:pt x="1301207" y="1598481"/>
                  <a:pt x="1320011" y="1591429"/>
                </a:cubicBezTo>
                <a:cubicBezTo>
                  <a:pt x="1350078" y="1580152"/>
                  <a:pt x="1503157" y="1560487"/>
                  <a:pt x="1520519" y="1558006"/>
                </a:cubicBezTo>
                <a:cubicBezTo>
                  <a:pt x="1608752" y="1528590"/>
                  <a:pt x="1560877" y="1555950"/>
                  <a:pt x="1637482" y="1441025"/>
                </a:cubicBezTo>
                <a:lnTo>
                  <a:pt x="1637482" y="1441025"/>
                </a:lnTo>
                <a:cubicBezTo>
                  <a:pt x="1816601" y="1321594"/>
                  <a:pt x="1544757" y="1507585"/>
                  <a:pt x="1737736" y="1357467"/>
                </a:cubicBezTo>
                <a:cubicBezTo>
                  <a:pt x="1769439" y="1332806"/>
                  <a:pt x="1804572" y="1312903"/>
                  <a:pt x="1837990" y="1290621"/>
                </a:cubicBezTo>
                <a:cubicBezTo>
                  <a:pt x="1854699" y="1279480"/>
                  <a:pt x="1869065" y="1263549"/>
                  <a:pt x="1888117" y="1257198"/>
                </a:cubicBezTo>
                <a:lnTo>
                  <a:pt x="1938244" y="1240487"/>
                </a:lnTo>
                <a:cubicBezTo>
                  <a:pt x="1954953" y="1229346"/>
                  <a:pt x="1972690" y="1219611"/>
                  <a:pt x="1988371" y="1207064"/>
                </a:cubicBezTo>
                <a:cubicBezTo>
                  <a:pt x="2034606" y="1170070"/>
                  <a:pt x="2048405" y="1119069"/>
                  <a:pt x="2122043" y="1106794"/>
                </a:cubicBezTo>
                <a:lnTo>
                  <a:pt x="2322551" y="1073371"/>
                </a:lnTo>
                <a:cubicBezTo>
                  <a:pt x="2339260" y="1062230"/>
                  <a:pt x="2357251" y="1052806"/>
                  <a:pt x="2372678" y="1039948"/>
                </a:cubicBezTo>
                <a:cubicBezTo>
                  <a:pt x="2390831" y="1024818"/>
                  <a:pt x="2403576" y="1003550"/>
                  <a:pt x="2422805" y="989813"/>
                </a:cubicBezTo>
                <a:cubicBezTo>
                  <a:pt x="2443073" y="975333"/>
                  <a:pt x="2468015" y="968750"/>
                  <a:pt x="2489641" y="956390"/>
                </a:cubicBezTo>
                <a:cubicBezTo>
                  <a:pt x="2580334" y="904558"/>
                  <a:pt x="2497991" y="936894"/>
                  <a:pt x="2589895" y="906256"/>
                </a:cubicBezTo>
                <a:cubicBezTo>
                  <a:pt x="2620303" y="815018"/>
                  <a:pt x="2581122" y="885576"/>
                  <a:pt x="2673440" y="839410"/>
                </a:cubicBezTo>
                <a:cubicBezTo>
                  <a:pt x="2687531" y="832363"/>
                  <a:pt x="2694556" y="815829"/>
                  <a:pt x="2706858" y="805986"/>
                </a:cubicBezTo>
                <a:cubicBezTo>
                  <a:pt x="2722539" y="793439"/>
                  <a:pt x="2740276" y="783704"/>
                  <a:pt x="2756985" y="772563"/>
                </a:cubicBezTo>
                <a:cubicBezTo>
                  <a:pt x="2768124" y="755852"/>
                  <a:pt x="2777547" y="737859"/>
                  <a:pt x="2790403" y="722429"/>
                </a:cubicBezTo>
                <a:cubicBezTo>
                  <a:pt x="2836671" y="666899"/>
                  <a:pt x="2898106" y="628333"/>
                  <a:pt x="2957493" y="588736"/>
                </a:cubicBezTo>
                <a:cubicBezTo>
                  <a:pt x="2979772" y="555313"/>
                  <a:pt x="2995928" y="516872"/>
                  <a:pt x="3024329" y="488467"/>
                </a:cubicBezTo>
                <a:cubicBezTo>
                  <a:pt x="3052177" y="460614"/>
                  <a:pt x="3075104" y="426759"/>
                  <a:pt x="3107874" y="404909"/>
                </a:cubicBezTo>
                <a:cubicBezTo>
                  <a:pt x="3177663" y="358376"/>
                  <a:pt x="3143801" y="385688"/>
                  <a:pt x="3208128" y="321352"/>
                </a:cubicBezTo>
                <a:cubicBezTo>
                  <a:pt x="3213698" y="304640"/>
                  <a:pt x="3213834" y="284973"/>
                  <a:pt x="3224837" y="271217"/>
                </a:cubicBezTo>
                <a:cubicBezTo>
                  <a:pt x="3237381" y="255534"/>
                  <a:pt x="3258623" y="249468"/>
                  <a:pt x="3274964" y="237794"/>
                </a:cubicBezTo>
                <a:cubicBezTo>
                  <a:pt x="3378887" y="163552"/>
                  <a:pt x="3304113" y="200223"/>
                  <a:pt x="3442054" y="154236"/>
                </a:cubicBezTo>
                <a:lnTo>
                  <a:pt x="3592435" y="104102"/>
                </a:lnTo>
                <a:cubicBezTo>
                  <a:pt x="3609144" y="98531"/>
                  <a:pt x="3625475" y="91662"/>
                  <a:pt x="3642562" y="87390"/>
                </a:cubicBezTo>
                <a:lnTo>
                  <a:pt x="3776234" y="53967"/>
                </a:lnTo>
                <a:cubicBezTo>
                  <a:pt x="3798513" y="48396"/>
                  <a:pt x="3820418" y="41031"/>
                  <a:pt x="3843070" y="37255"/>
                </a:cubicBezTo>
                <a:lnTo>
                  <a:pt x="3943324" y="20544"/>
                </a:lnTo>
                <a:cubicBezTo>
                  <a:pt x="4574007" y="37592"/>
                  <a:pt x="4377175" y="-54953"/>
                  <a:pt x="4594975" y="53967"/>
                </a:cubicBez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344918" y="2971800"/>
            <a:ext cx="1447800" cy="1524000"/>
          </a:xfrm>
          <a:prstGeom prst="ellipse">
            <a:avLst/>
          </a:prstGeom>
          <a:noFill/>
          <a:ln w="1905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3140827" y="3305637"/>
            <a:ext cx="3308721" cy="2849483"/>
          </a:xfrm>
          <a:custGeom>
            <a:avLst/>
            <a:gdLst>
              <a:gd name="connsiteX0" fmla="*/ 0 w 3308721"/>
              <a:gd name="connsiteY0" fmla="*/ 1189768 h 2849483"/>
              <a:gd name="connsiteX1" fmla="*/ 83545 w 3308721"/>
              <a:gd name="connsiteY1" fmla="*/ 1106211 h 2849483"/>
              <a:gd name="connsiteX2" fmla="*/ 116963 w 3308721"/>
              <a:gd name="connsiteY2" fmla="*/ 1056076 h 2849483"/>
              <a:gd name="connsiteX3" fmla="*/ 334180 w 3308721"/>
              <a:gd name="connsiteY3" fmla="*/ 905672 h 2849483"/>
              <a:gd name="connsiteX4" fmla="*/ 434434 w 3308721"/>
              <a:gd name="connsiteY4" fmla="*/ 838826 h 2849483"/>
              <a:gd name="connsiteX5" fmla="*/ 517979 w 3308721"/>
              <a:gd name="connsiteY5" fmla="*/ 738557 h 2849483"/>
              <a:gd name="connsiteX6" fmla="*/ 551397 w 3308721"/>
              <a:gd name="connsiteY6" fmla="*/ 688422 h 2849483"/>
              <a:gd name="connsiteX7" fmla="*/ 751905 w 3308721"/>
              <a:gd name="connsiteY7" fmla="*/ 554730 h 2849483"/>
              <a:gd name="connsiteX8" fmla="*/ 802032 w 3308721"/>
              <a:gd name="connsiteY8" fmla="*/ 521307 h 2849483"/>
              <a:gd name="connsiteX9" fmla="*/ 852159 w 3308721"/>
              <a:gd name="connsiteY9" fmla="*/ 487884 h 2849483"/>
              <a:gd name="connsiteX10" fmla="*/ 985831 w 3308721"/>
              <a:gd name="connsiteY10" fmla="*/ 387614 h 2849483"/>
              <a:gd name="connsiteX11" fmla="*/ 1035958 w 3308721"/>
              <a:gd name="connsiteY11" fmla="*/ 370903 h 2849483"/>
              <a:gd name="connsiteX12" fmla="*/ 1203048 w 3308721"/>
              <a:gd name="connsiteY12" fmla="*/ 304057 h 2849483"/>
              <a:gd name="connsiteX13" fmla="*/ 1403556 w 3308721"/>
              <a:gd name="connsiteY13" fmla="*/ 270633 h 2849483"/>
              <a:gd name="connsiteX14" fmla="*/ 1503810 w 3308721"/>
              <a:gd name="connsiteY14" fmla="*/ 237210 h 2849483"/>
              <a:gd name="connsiteX15" fmla="*/ 1553937 w 3308721"/>
              <a:gd name="connsiteY15" fmla="*/ 203787 h 2849483"/>
              <a:gd name="connsiteX16" fmla="*/ 1654191 w 3308721"/>
              <a:gd name="connsiteY16" fmla="*/ 170364 h 2849483"/>
              <a:gd name="connsiteX17" fmla="*/ 1704318 w 3308721"/>
              <a:gd name="connsiteY17" fmla="*/ 153653 h 2849483"/>
              <a:gd name="connsiteX18" fmla="*/ 1754445 w 3308721"/>
              <a:gd name="connsiteY18" fmla="*/ 120230 h 2849483"/>
              <a:gd name="connsiteX19" fmla="*/ 1787863 w 3308721"/>
              <a:gd name="connsiteY19" fmla="*/ 86806 h 2849483"/>
              <a:gd name="connsiteX20" fmla="*/ 1854699 w 3308721"/>
              <a:gd name="connsiteY20" fmla="*/ 70095 h 2849483"/>
              <a:gd name="connsiteX21" fmla="*/ 1904826 w 3308721"/>
              <a:gd name="connsiteY21" fmla="*/ 53383 h 2849483"/>
              <a:gd name="connsiteX22" fmla="*/ 1971662 w 3308721"/>
              <a:gd name="connsiteY22" fmla="*/ 3249 h 2849483"/>
              <a:gd name="connsiteX23" fmla="*/ 2038498 w 3308721"/>
              <a:gd name="connsiteY23" fmla="*/ 19960 h 2849483"/>
              <a:gd name="connsiteX24" fmla="*/ 1971662 w 3308721"/>
              <a:gd name="connsiteY24" fmla="*/ 53383 h 2849483"/>
              <a:gd name="connsiteX25" fmla="*/ 1904826 w 3308721"/>
              <a:gd name="connsiteY25" fmla="*/ 103518 h 2849483"/>
              <a:gd name="connsiteX26" fmla="*/ 1771154 w 3308721"/>
              <a:gd name="connsiteY26" fmla="*/ 153653 h 2849483"/>
              <a:gd name="connsiteX27" fmla="*/ 1654191 w 3308721"/>
              <a:gd name="connsiteY27" fmla="*/ 220499 h 2849483"/>
              <a:gd name="connsiteX28" fmla="*/ 1587355 w 3308721"/>
              <a:gd name="connsiteY28" fmla="*/ 270633 h 2849483"/>
              <a:gd name="connsiteX29" fmla="*/ 1453683 w 3308721"/>
              <a:gd name="connsiteY29" fmla="*/ 354191 h 2849483"/>
              <a:gd name="connsiteX30" fmla="*/ 1353429 w 3308721"/>
              <a:gd name="connsiteY30" fmla="*/ 487884 h 2849483"/>
              <a:gd name="connsiteX31" fmla="*/ 1169630 w 3308721"/>
              <a:gd name="connsiteY31" fmla="*/ 671711 h 2849483"/>
              <a:gd name="connsiteX32" fmla="*/ 1102794 w 3308721"/>
              <a:gd name="connsiteY32" fmla="*/ 738557 h 2849483"/>
              <a:gd name="connsiteX33" fmla="*/ 1052667 w 3308721"/>
              <a:gd name="connsiteY33" fmla="*/ 788691 h 2849483"/>
              <a:gd name="connsiteX34" fmla="*/ 1002540 w 3308721"/>
              <a:gd name="connsiteY34" fmla="*/ 822114 h 2849483"/>
              <a:gd name="connsiteX35" fmla="*/ 969122 w 3308721"/>
              <a:gd name="connsiteY35" fmla="*/ 855538 h 2849483"/>
              <a:gd name="connsiteX36" fmla="*/ 902286 w 3308721"/>
              <a:gd name="connsiteY36" fmla="*/ 888961 h 2849483"/>
              <a:gd name="connsiteX37" fmla="*/ 852159 w 3308721"/>
              <a:gd name="connsiteY37" fmla="*/ 939095 h 2849483"/>
              <a:gd name="connsiteX38" fmla="*/ 751905 w 3308721"/>
              <a:gd name="connsiteY38" fmla="*/ 989230 h 2849483"/>
              <a:gd name="connsiteX39" fmla="*/ 651651 w 3308721"/>
              <a:gd name="connsiteY39" fmla="*/ 1089499 h 2849483"/>
              <a:gd name="connsiteX40" fmla="*/ 601524 w 3308721"/>
              <a:gd name="connsiteY40" fmla="*/ 1139634 h 2849483"/>
              <a:gd name="connsiteX41" fmla="*/ 534688 w 3308721"/>
              <a:gd name="connsiteY41" fmla="*/ 1189768 h 2849483"/>
              <a:gd name="connsiteX42" fmla="*/ 501270 w 3308721"/>
              <a:gd name="connsiteY42" fmla="*/ 1239903 h 2849483"/>
              <a:gd name="connsiteX43" fmla="*/ 384307 w 3308721"/>
              <a:gd name="connsiteY43" fmla="*/ 1323461 h 2849483"/>
              <a:gd name="connsiteX44" fmla="*/ 317471 w 3308721"/>
              <a:gd name="connsiteY44" fmla="*/ 1440442 h 2849483"/>
              <a:gd name="connsiteX45" fmla="*/ 267344 w 3308721"/>
              <a:gd name="connsiteY45" fmla="*/ 1490576 h 2849483"/>
              <a:gd name="connsiteX46" fmla="*/ 217217 w 3308721"/>
              <a:gd name="connsiteY46" fmla="*/ 1607557 h 2849483"/>
              <a:gd name="connsiteX47" fmla="*/ 183799 w 3308721"/>
              <a:gd name="connsiteY47" fmla="*/ 1707826 h 2849483"/>
              <a:gd name="connsiteX48" fmla="*/ 116963 w 3308721"/>
              <a:gd name="connsiteY48" fmla="*/ 1808096 h 2849483"/>
              <a:gd name="connsiteX49" fmla="*/ 83545 w 3308721"/>
              <a:gd name="connsiteY49" fmla="*/ 1858230 h 2849483"/>
              <a:gd name="connsiteX50" fmla="*/ 50127 w 3308721"/>
              <a:gd name="connsiteY50" fmla="*/ 1991923 h 2849483"/>
              <a:gd name="connsiteX51" fmla="*/ 100254 w 3308721"/>
              <a:gd name="connsiteY51" fmla="*/ 1925076 h 2849483"/>
              <a:gd name="connsiteX52" fmla="*/ 116963 w 3308721"/>
              <a:gd name="connsiteY52" fmla="*/ 1841519 h 2849483"/>
              <a:gd name="connsiteX53" fmla="*/ 284053 w 3308721"/>
              <a:gd name="connsiteY53" fmla="*/ 1657692 h 2849483"/>
              <a:gd name="connsiteX54" fmla="*/ 334180 w 3308721"/>
              <a:gd name="connsiteY54" fmla="*/ 1607557 h 2849483"/>
              <a:gd name="connsiteX55" fmla="*/ 467852 w 3308721"/>
              <a:gd name="connsiteY55" fmla="*/ 1540711 h 2849483"/>
              <a:gd name="connsiteX56" fmla="*/ 534688 w 3308721"/>
              <a:gd name="connsiteY56" fmla="*/ 1490576 h 2849483"/>
              <a:gd name="connsiteX57" fmla="*/ 584815 w 3308721"/>
              <a:gd name="connsiteY57" fmla="*/ 1473865 h 2849483"/>
              <a:gd name="connsiteX58" fmla="*/ 668360 w 3308721"/>
              <a:gd name="connsiteY58" fmla="*/ 1440442 h 2849483"/>
              <a:gd name="connsiteX59" fmla="*/ 852159 w 3308721"/>
              <a:gd name="connsiteY59" fmla="*/ 1356884 h 2849483"/>
              <a:gd name="connsiteX60" fmla="*/ 902286 w 3308721"/>
              <a:gd name="connsiteY60" fmla="*/ 1323461 h 2849483"/>
              <a:gd name="connsiteX61" fmla="*/ 1019249 w 3308721"/>
              <a:gd name="connsiteY61" fmla="*/ 1273326 h 2849483"/>
              <a:gd name="connsiteX62" fmla="*/ 1069376 w 3308721"/>
              <a:gd name="connsiteY62" fmla="*/ 1239903 h 2849483"/>
              <a:gd name="connsiteX63" fmla="*/ 1236466 w 3308721"/>
              <a:gd name="connsiteY63" fmla="*/ 1189768 h 2849483"/>
              <a:gd name="connsiteX64" fmla="*/ 1303302 w 3308721"/>
              <a:gd name="connsiteY64" fmla="*/ 1156345 h 2849483"/>
              <a:gd name="connsiteX65" fmla="*/ 1420265 w 3308721"/>
              <a:gd name="connsiteY65" fmla="*/ 1106211 h 2849483"/>
              <a:gd name="connsiteX66" fmla="*/ 1704318 w 3308721"/>
              <a:gd name="connsiteY66" fmla="*/ 922384 h 2849483"/>
              <a:gd name="connsiteX67" fmla="*/ 1837990 w 3308721"/>
              <a:gd name="connsiteY67" fmla="*/ 838826 h 2849483"/>
              <a:gd name="connsiteX68" fmla="*/ 1904826 w 3308721"/>
              <a:gd name="connsiteY68" fmla="*/ 788691 h 2849483"/>
              <a:gd name="connsiteX69" fmla="*/ 1954953 w 3308721"/>
              <a:gd name="connsiteY69" fmla="*/ 755268 h 2849483"/>
              <a:gd name="connsiteX70" fmla="*/ 2038498 w 3308721"/>
              <a:gd name="connsiteY70" fmla="*/ 771980 h 2849483"/>
              <a:gd name="connsiteX71" fmla="*/ 2005080 w 3308721"/>
              <a:gd name="connsiteY71" fmla="*/ 855538 h 2849483"/>
              <a:gd name="connsiteX72" fmla="*/ 1921535 w 3308721"/>
              <a:gd name="connsiteY72" fmla="*/ 922384 h 2849483"/>
              <a:gd name="connsiteX73" fmla="*/ 1854699 w 3308721"/>
              <a:gd name="connsiteY73" fmla="*/ 1005941 h 2849483"/>
              <a:gd name="connsiteX74" fmla="*/ 1804572 w 3308721"/>
              <a:gd name="connsiteY74" fmla="*/ 1056076 h 2849483"/>
              <a:gd name="connsiteX75" fmla="*/ 1754445 w 3308721"/>
              <a:gd name="connsiteY75" fmla="*/ 1122922 h 2849483"/>
              <a:gd name="connsiteX76" fmla="*/ 1704318 w 3308721"/>
              <a:gd name="connsiteY76" fmla="*/ 1173057 h 2849483"/>
              <a:gd name="connsiteX77" fmla="*/ 1654191 w 3308721"/>
              <a:gd name="connsiteY77" fmla="*/ 1256615 h 2849483"/>
              <a:gd name="connsiteX78" fmla="*/ 1604064 w 3308721"/>
              <a:gd name="connsiteY78" fmla="*/ 1290038 h 2849483"/>
              <a:gd name="connsiteX79" fmla="*/ 1520519 w 3308721"/>
              <a:gd name="connsiteY79" fmla="*/ 1373595 h 2849483"/>
              <a:gd name="connsiteX80" fmla="*/ 1386847 w 3308721"/>
              <a:gd name="connsiteY80" fmla="*/ 1473865 h 2849483"/>
              <a:gd name="connsiteX81" fmla="*/ 1320011 w 3308721"/>
              <a:gd name="connsiteY81" fmla="*/ 1540711 h 2849483"/>
              <a:gd name="connsiteX82" fmla="*/ 1186339 w 3308721"/>
              <a:gd name="connsiteY82" fmla="*/ 1640980 h 2849483"/>
              <a:gd name="connsiteX83" fmla="*/ 1069376 w 3308721"/>
              <a:gd name="connsiteY83" fmla="*/ 1757961 h 2849483"/>
              <a:gd name="connsiteX84" fmla="*/ 1035958 w 3308721"/>
              <a:gd name="connsiteY84" fmla="*/ 1824807 h 2849483"/>
              <a:gd name="connsiteX85" fmla="*/ 902286 w 3308721"/>
              <a:gd name="connsiteY85" fmla="*/ 1958499 h 2849483"/>
              <a:gd name="connsiteX86" fmla="*/ 852159 w 3308721"/>
              <a:gd name="connsiteY86" fmla="*/ 2008634 h 2849483"/>
              <a:gd name="connsiteX87" fmla="*/ 735196 w 3308721"/>
              <a:gd name="connsiteY87" fmla="*/ 2125615 h 2849483"/>
              <a:gd name="connsiteX88" fmla="*/ 685069 w 3308721"/>
              <a:gd name="connsiteY88" fmla="*/ 2175750 h 2849483"/>
              <a:gd name="connsiteX89" fmla="*/ 618233 w 3308721"/>
              <a:gd name="connsiteY89" fmla="*/ 2259307 h 2849483"/>
              <a:gd name="connsiteX90" fmla="*/ 584815 w 3308721"/>
              <a:gd name="connsiteY90" fmla="*/ 2326153 h 2849483"/>
              <a:gd name="connsiteX91" fmla="*/ 534688 w 3308721"/>
              <a:gd name="connsiteY91" fmla="*/ 2376288 h 2849483"/>
              <a:gd name="connsiteX92" fmla="*/ 501270 w 3308721"/>
              <a:gd name="connsiteY92" fmla="*/ 2426423 h 2849483"/>
              <a:gd name="connsiteX93" fmla="*/ 384307 w 3308721"/>
              <a:gd name="connsiteY93" fmla="*/ 2576827 h 2849483"/>
              <a:gd name="connsiteX94" fmla="*/ 350889 w 3308721"/>
              <a:gd name="connsiteY94" fmla="*/ 2643673 h 2849483"/>
              <a:gd name="connsiteX95" fmla="*/ 501270 w 3308721"/>
              <a:gd name="connsiteY95" fmla="*/ 2459846 h 2849483"/>
              <a:gd name="connsiteX96" fmla="*/ 701778 w 3308721"/>
              <a:gd name="connsiteY96" fmla="*/ 2292730 h 2849483"/>
              <a:gd name="connsiteX97" fmla="*/ 785323 w 3308721"/>
              <a:gd name="connsiteY97" fmla="*/ 2225884 h 2849483"/>
              <a:gd name="connsiteX98" fmla="*/ 852159 w 3308721"/>
              <a:gd name="connsiteY98" fmla="*/ 2175750 h 2849483"/>
              <a:gd name="connsiteX99" fmla="*/ 902286 w 3308721"/>
              <a:gd name="connsiteY99" fmla="*/ 2159038 h 2849483"/>
              <a:gd name="connsiteX100" fmla="*/ 969122 w 3308721"/>
              <a:gd name="connsiteY100" fmla="*/ 2108903 h 2849483"/>
              <a:gd name="connsiteX101" fmla="*/ 1152921 w 3308721"/>
              <a:gd name="connsiteY101" fmla="*/ 2058769 h 2849483"/>
              <a:gd name="connsiteX102" fmla="*/ 1236466 w 3308721"/>
              <a:gd name="connsiteY102" fmla="*/ 2125615 h 2849483"/>
              <a:gd name="connsiteX103" fmla="*/ 1320011 w 3308721"/>
              <a:gd name="connsiteY103" fmla="*/ 2025346 h 2849483"/>
              <a:gd name="connsiteX104" fmla="*/ 1420265 w 3308721"/>
              <a:gd name="connsiteY104" fmla="*/ 1941788 h 2849483"/>
              <a:gd name="connsiteX105" fmla="*/ 2038498 w 3308721"/>
              <a:gd name="connsiteY105" fmla="*/ 1523999 h 2849483"/>
              <a:gd name="connsiteX106" fmla="*/ 2138752 w 3308721"/>
              <a:gd name="connsiteY106" fmla="*/ 1457153 h 2849483"/>
              <a:gd name="connsiteX107" fmla="*/ 2322551 w 3308721"/>
              <a:gd name="connsiteY107" fmla="*/ 1356884 h 2849483"/>
              <a:gd name="connsiteX108" fmla="*/ 2439514 w 3308721"/>
              <a:gd name="connsiteY108" fmla="*/ 1306749 h 2849483"/>
              <a:gd name="connsiteX109" fmla="*/ 2372678 w 3308721"/>
              <a:gd name="connsiteY109" fmla="*/ 1407018 h 2849483"/>
              <a:gd name="connsiteX110" fmla="*/ 2305842 w 3308721"/>
              <a:gd name="connsiteY110" fmla="*/ 1507288 h 2849483"/>
              <a:gd name="connsiteX111" fmla="*/ 2239006 w 3308721"/>
              <a:gd name="connsiteY111" fmla="*/ 1574134 h 2849483"/>
              <a:gd name="connsiteX112" fmla="*/ 2188879 w 3308721"/>
              <a:gd name="connsiteY112" fmla="*/ 1657692 h 2849483"/>
              <a:gd name="connsiteX113" fmla="*/ 2155461 w 3308721"/>
              <a:gd name="connsiteY113" fmla="*/ 1707826 h 2849483"/>
              <a:gd name="connsiteX114" fmla="*/ 2105334 w 3308721"/>
              <a:gd name="connsiteY114" fmla="*/ 1774672 h 2849483"/>
              <a:gd name="connsiteX115" fmla="*/ 2071916 w 3308721"/>
              <a:gd name="connsiteY115" fmla="*/ 1824807 h 2849483"/>
              <a:gd name="connsiteX116" fmla="*/ 2021789 w 3308721"/>
              <a:gd name="connsiteY116" fmla="*/ 1874942 h 2849483"/>
              <a:gd name="connsiteX117" fmla="*/ 1971662 w 3308721"/>
              <a:gd name="connsiteY117" fmla="*/ 1941788 h 2849483"/>
              <a:gd name="connsiteX118" fmla="*/ 1837990 w 3308721"/>
              <a:gd name="connsiteY118" fmla="*/ 2075480 h 2849483"/>
              <a:gd name="connsiteX119" fmla="*/ 1804572 w 3308721"/>
              <a:gd name="connsiteY119" fmla="*/ 2142326 h 2849483"/>
              <a:gd name="connsiteX120" fmla="*/ 1771154 w 3308721"/>
              <a:gd name="connsiteY120" fmla="*/ 2175750 h 2849483"/>
              <a:gd name="connsiteX121" fmla="*/ 1670900 w 3308721"/>
              <a:gd name="connsiteY121" fmla="*/ 2309442 h 2849483"/>
              <a:gd name="connsiteX122" fmla="*/ 1637482 w 3308721"/>
              <a:gd name="connsiteY122" fmla="*/ 2359577 h 2849483"/>
              <a:gd name="connsiteX123" fmla="*/ 1604064 w 3308721"/>
              <a:gd name="connsiteY123" fmla="*/ 2459846 h 2849483"/>
              <a:gd name="connsiteX124" fmla="*/ 1587355 w 3308721"/>
              <a:gd name="connsiteY124" fmla="*/ 2509980 h 2849483"/>
              <a:gd name="connsiteX125" fmla="*/ 1503810 w 3308721"/>
              <a:gd name="connsiteY125" fmla="*/ 2727230 h 2849483"/>
              <a:gd name="connsiteX126" fmla="*/ 1487101 w 3308721"/>
              <a:gd name="connsiteY126" fmla="*/ 2844211 h 2849483"/>
              <a:gd name="connsiteX127" fmla="*/ 1537228 w 3308721"/>
              <a:gd name="connsiteY127" fmla="*/ 2827500 h 2849483"/>
              <a:gd name="connsiteX128" fmla="*/ 1604064 w 3308721"/>
              <a:gd name="connsiteY128" fmla="*/ 2710519 h 2849483"/>
              <a:gd name="connsiteX129" fmla="*/ 1620773 w 3308721"/>
              <a:gd name="connsiteY129" fmla="*/ 2660384 h 2849483"/>
              <a:gd name="connsiteX130" fmla="*/ 1670900 w 3308721"/>
              <a:gd name="connsiteY130" fmla="*/ 2610250 h 2849483"/>
              <a:gd name="connsiteX131" fmla="*/ 1704318 w 3308721"/>
              <a:gd name="connsiteY131" fmla="*/ 2560115 h 2849483"/>
              <a:gd name="connsiteX132" fmla="*/ 1804572 w 3308721"/>
              <a:gd name="connsiteY132" fmla="*/ 2443134 h 2849483"/>
              <a:gd name="connsiteX133" fmla="*/ 1871408 w 3308721"/>
              <a:gd name="connsiteY133" fmla="*/ 2393000 h 2849483"/>
              <a:gd name="connsiteX134" fmla="*/ 1971662 w 3308721"/>
              <a:gd name="connsiteY134" fmla="*/ 2292730 h 2849483"/>
              <a:gd name="connsiteX135" fmla="*/ 2055207 w 3308721"/>
              <a:gd name="connsiteY135" fmla="*/ 2276019 h 2849483"/>
              <a:gd name="connsiteX136" fmla="*/ 2105334 w 3308721"/>
              <a:gd name="connsiteY136" fmla="*/ 2259307 h 2849483"/>
              <a:gd name="connsiteX137" fmla="*/ 2138752 w 3308721"/>
              <a:gd name="connsiteY137" fmla="*/ 2209173 h 2849483"/>
              <a:gd name="connsiteX138" fmla="*/ 2188879 w 3308721"/>
              <a:gd name="connsiteY138" fmla="*/ 2192461 h 2849483"/>
              <a:gd name="connsiteX139" fmla="*/ 2255715 w 3308721"/>
              <a:gd name="connsiteY139" fmla="*/ 2092192 h 2849483"/>
              <a:gd name="connsiteX140" fmla="*/ 2305842 w 3308721"/>
              <a:gd name="connsiteY140" fmla="*/ 1975211 h 2849483"/>
              <a:gd name="connsiteX141" fmla="*/ 2339260 w 3308721"/>
              <a:gd name="connsiteY141" fmla="*/ 1908365 h 2849483"/>
              <a:gd name="connsiteX142" fmla="*/ 2355969 w 3308721"/>
              <a:gd name="connsiteY142" fmla="*/ 1841519 h 2849483"/>
              <a:gd name="connsiteX143" fmla="*/ 2372678 w 3308721"/>
              <a:gd name="connsiteY143" fmla="*/ 1791384 h 2849483"/>
              <a:gd name="connsiteX144" fmla="*/ 2389387 w 3308721"/>
              <a:gd name="connsiteY144" fmla="*/ 1707826 h 2849483"/>
              <a:gd name="connsiteX145" fmla="*/ 2439514 w 3308721"/>
              <a:gd name="connsiteY145" fmla="*/ 1523999 h 2849483"/>
              <a:gd name="connsiteX146" fmla="*/ 2472932 w 3308721"/>
              <a:gd name="connsiteY146" fmla="*/ 2526692 h 2849483"/>
              <a:gd name="connsiteX147" fmla="*/ 2506350 w 3308721"/>
              <a:gd name="connsiteY147" fmla="*/ 2476557 h 2849483"/>
              <a:gd name="connsiteX148" fmla="*/ 2573186 w 3308721"/>
              <a:gd name="connsiteY148" fmla="*/ 2426423 h 2849483"/>
              <a:gd name="connsiteX149" fmla="*/ 2606604 w 3308721"/>
              <a:gd name="connsiteY149" fmla="*/ 2359577 h 2849483"/>
              <a:gd name="connsiteX150" fmla="*/ 2640022 w 3308721"/>
              <a:gd name="connsiteY150" fmla="*/ 2326153 h 2849483"/>
              <a:gd name="connsiteX151" fmla="*/ 2673440 w 3308721"/>
              <a:gd name="connsiteY151" fmla="*/ 2209173 h 2849483"/>
              <a:gd name="connsiteX152" fmla="*/ 2690149 w 3308721"/>
              <a:gd name="connsiteY152" fmla="*/ 2159038 h 2849483"/>
              <a:gd name="connsiteX153" fmla="*/ 2756985 w 3308721"/>
              <a:gd name="connsiteY153" fmla="*/ 1874942 h 2849483"/>
              <a:gd name="connsiteX154" fmla="*/ 2773694 w 3308721"/>
              <a:gd name="connsiteY154" fmla="*/ 1791384 h 2849483"/>
              <a:gd name="connsiteX155" fmla="*/ 2840530 w 3308721"/>
              <a:gd name="connsiteY155" fmla="*/ 1674403 h 2849483"/>
              <a:gd name="connsiteX156" fmla="*/ 2857239 w 3308721"/>
              <a:gd name="connsiteY156" fmla="*/ 1624269 h 2849483"/>
              <a:gd name="connsiteX157" fmla="*/ 2924075 w 3308721"/>
              <a:gd name="connsiteY157" fmla="*/ 1707826 h 2849483"/>
              <a:gd name="connsiteX158" fmla="*/ 2957493 w 3308721"/>
              <a:gd name="connsiteY158" fmla="*/ 2326153 h 2849483"/>
              <a:gd name="connsiteX159" fmla="*/ 2990911 w 3308721"/>
              <a:gd name="connsiteY159" fmla="*/ 2142326 h 2849483"/>
              <a:gd name="connsiteX160" fmla="*/ 3057747 w 3308721"/>
              <a:gd name="connsiteY160" fmla="*/ 1958499 h 2849483"/>
              <a:gd name="connsiteX161" fmla="*/ 3091165 w 3308721"/>
              <a:gd name="connsiteY161" fmla="*/ 1841519 h 2849483"/>
              <a:gd name="connsiteX162" fmla="*/ 3141292 w 3308721"/>
              <a:gd name="connsiteY162" fmla="*/ 1674403 h 2849483"/>
              <a:gd name="connsiteX163" fmla="*/ 3158001 w 3308721"/>
              <a:gd name="connsiteY163" fmla="*/ 1874942 h 2849483"/>
              <a:gd name="connsiteX164" fmla="*/ 3208128 w 3308721"/>
              <a:gd name="connsiteY164" fmla="*/ 1925076 h 2849483"/>
              <a:gd name="connsiteX165" fmla="*/ 3241546 w 3308721"/>
              <a:gd name="connsiteY165" fmla="*/ 1975211 h 2849483"/>
              <a:gd name="connsiteX166" fmla="*/ 3291673 w 3308721"/>
              <a:gd name="connsiteY166" fmla="*/ 1925076 h 2849483"/>
              <a:gd name="connsiteX167" fmla="*/ 3308382 w 3308721"/>
              <a:gd name="connsiteY167" fmla="*/ 1457153 h 284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308721" h="2849483">
                <a:moveTo>
                  <a:pt x="0" y="1189768"/>
                </a:moveTo>
                <a:cubicBezTo>
                  <a:pt x="27848" y="1161916"/>
                  <a:pt x="57611" y="1135854"/>
                  <a:pt x="83545" y="1106211"/>
                </a:cubicBezTo>
                <a:cubicBezTo>
                  <a:pt x="96769" y="1091095"/>
                  <a:pt x="102763" y="1070279"/>
                  <a:pt x="116963" y="1056076"/>
                </a:cubicBezTo>
                <a:cubicBezTo>
                  <a:pt x="180698" y="992332"/>
                  <a:pt x="259902" y="955198"/>
                  <a:pt x="334180" y="905672"/>
                </a:cubicBezTo>
                <a:lnTo>
                  <a:pt x="434434" y="838826"/>
                </a:lnTo>
                <a:cubicBezTo>
                  <a:pt x="517406" y="714348"/>
                  <a:pt x="410767" y="867231"/>
                  <a:pt x="517979" y="738557"/>
                </a:cubicBezTo>
                <a:cubicBezTo>
                  <a:pt x="530835" y="723127"/>
                  <a:pt x="535854" y="701141"/>
                  <a:pt x="551397" y="688422"/>
                </a:cubicBezTo>
                <a:lnTo>
                  <a:pt x="751905" y="554730"/>
                </a:lnTo>
                <a:lnTo>
                  <a:pt x="802032" y="521307"/>
                </a:lnTo>
                <a:cubicBezTo>
                  <a:pt x="818741" y="510166"/>
                  <a:pt x="837960" y="502086"/>
                  <a:pt x="852159" y="487884"/>
                </a:cubicBezTo>
                <a:cubicBezTo>
                  <a:pt x="891743" y="448293"/>
                  <a:pt x="929148" y="406511"/>
                  <a:pt x="985831" y="387614"/>
                </a:cubicBezTo>
                <a:cubicBezTo>
                  <a:pt x="1002540" y="382044"/>
                  <a:pt x="1019769" y="377842"/>
                  <a:pt x="1035958" y="370903"/>
                </a:cubicBezTo>
                <a:cubicBezTo>
                  <a:pt x="1132763" y="329409"/>
                  <a:pt x="1081338" y="334490"/>
                  <a:pt x="1203048" y="304057"/>
                </a:cubicBezTo>
                <a:cubicBezTo>
                  <a:pt x="1313447" y="276452"/>
                  <a:pt x="1247097" y="290194"/>
                  <a:pt x="1403556" y="270633"/>
                </a:cubicBezTo>
                <a:cubicBezTo>
                  <a:pt x="1436974" y="259492"/>
                  <a:pt x="1474501" y="256752"/>
                  <a:pt x="1503810" y="237210"/>
                </a:cubicBezTo>
                <a:cubicBezTo>
                  <a:pt x="1520519" y="226069"/>
                  <a:pt x="1535586" y="211944"/>
                  <a:pt x="1553937" y="203787"/>
                </a:cubicBezTo>
                <a:cubicBezTo>
                  <a:pt x="1586126" y="189479"/>
                  <a:pt x="1620773" y="181505"/>
                  <a:pt x="1654191" y="170364"/>
                </a:cubicBezTo>
                <a:lnTo>
                  <a:pt x="1704318" y="153653"/>
                </a:lnTo>
                <a:cubicBezTo>
                  <a:pt x="1721027" y="142512"/>
                  <a:pt x="1738764" y="132777"/>
                  <a:pt x="1754445" y="120230"/>
                </a:cubicBezTo>
                <a:cubicBezTo>
                  <a:pt x="1766747" y="110387"/>
                  <a:pt x="1773772" y="93853"/>
                  <a:pt x="1787863" y="86806"/>
                </a:cubicBezTo>
                <a:cubicBezTo>
                  <a:pt x="1808402" y="76535"/>
                  <a:pt x="1832618" y="76405"/>
                  <a:pt x="1854699" y="70095"/>
                </a:cubicBezTo>
                <a:cubicBezTo>
                  <a:pt x="1871634" y="65256"/>
                  <a:pt x="1888117" y="58954"/>
                  <a:pt x="1904826" y="53383"/>
                </a:cubicBezTo>
                <a:cubicBezTo>
                  <a:pt x="1927105" y="36672"/>
                  <a:pt x="1944644" y="10005"/>
                  <a:pt x="1971662" y="3249"/>
                </a:cubicBezTo>
                <a:cubicBezTo>
                  <a:pt x="1993941" y="-2321"/>
                  <a:pt x="2038498" y="-3004"/>
                  <a:pt x="2038498" y="19960"/>
                </a:cubicBezTo>
                <a:cubicBezTo>
                  <a:pt x="2038498" y="44869"/>
                  <a:pt x="1992784" y="40180"/>
                  <a:pt x="1971662" y="53383"/>
                </a:cubicBezTo>
                <a:cubicBezTo>
                  <a:pt x="1948046" y="68145"/>
                  <a:pt x="1928442" y="88756"/>
                  <a:pt x="1904826" y="103518"/>
                </a:cubicBezTo>
                <a:cubicBezTo>
                  <a:pt x="1846577" y="139929"/>
                  <a:pt x="1835302" y="137613"/>
                  <a:pt x="1771154" y="153653"/>
                </a:cubicBezTo>
                <a:cubicBezTo>
                  <a:pt x="1658605" y="266217"/>
                  <a:pt x="1788833" y="153168"/>
                  <a:pt x="1654191" y="220499"/>
                </a:cubicBezTo>
                <a:cubicBezTo>
                  <a:pt x="1629282" y="232955"/>
                  <a:pt x="1610970" y="255871"/>
                  <a:pt x="1587355" y="270633"/>
                </a:cubicBezTo>
                <a:cubicBezTo>
                  <a:pt x="1528651" y="307329"/>
                  <a:pt x="1503504" y="299379"/>
                  <a:pt x="1453683" y="354191"/>
                </a:cubicBezTo>
                <a:cubicBezTo>
                  <a:pt x="1416217" y="395410"/>
                  <a:pt x="1392814" y="448494"/>
                  <a:pt x="1353429" y="487884"/>
                </a:cubicBezTo>
                <a:lnTo>
                  <a:pt x="1169630" y="671711"/>
                </a:lnTo>
                <a:lnTo>
                  <a:pt x="1102794" y="738557"/>
                </a:lnTo>
                <a:cubicBezTo>
                  <a:pt x="1086085" y="755268"/>
                  <a:pt x="1072329" y="775581"/>
                  <a:pt x="1052667" y="788691"/>
                </a:cubicBezTo>
                <a:cubicBezTo>
                  <a:pt x="1035958" y="799832"/>
                  <a:pt x="1018221" y="809567"/>
                  <a:pt x="1002540" y="822114"/>
                </a:cubicBezTo>
                <a:cubicBezTo>
                  <a:pt x="990238" y="831957"/>
                  <a:pt x="982230" y="846798"/>
                  <a:pt x="969122" y="855538"/>
                </a:cubicBezTo>
                <a:cubicBezTo>
                  <a:pt x="948397" y="869357"/>
                  <a:pt x="922554" y="874482"/>
                  <a:pt x="902286" y="888961"/>
                </a:cubicBezTo>
                <a:cubicBezTo>
                  <a:pt x="883057" y="902698"/>
                  <a:pt x="870312" y="923965"/>
                  <a:pt x="852159" y="939095"/>
                </a:cubicBezTo>
                <a:cubicBezTo>
                  <a:pt x="808971" y="975090"/>
                  <a:pt x="802145" y="972480"/>
                  <a:pt x="751905" y="989230"/>
                </a:cubicBezTo>
                <a:lnTo>
                  <a:pt x="651651" y="1089499"/>
                </a:lnTo>
                <a:cubicBezTo>
                  <a:pt x="634942" y="1106211"/>
                  <a:pt x="620429" y="1125454"/>
                  <a:pt x="601524" y="1139634"/>
                </a:cubicBezTo>
                <a:lnTo>
                  <a:pt x="534688" y="1189768"/>
                </a:lnTo>
                <a:cubicBezTo>
                  <a:pt x="523549" y="1206480"/>
                  <a:pt x="516698" y="1227044"/>
                  <a:pt x="501270" y="1239903"/>
                </a:cubicBezTo>
                <a:cubicBezTo>
                  <a:pt x="372264" y="1347425"/>
                  <a:pt x="490976" y="1195439"/>
                  <a:pt x="384307" y="1323461"/>
                </a:cubicBezTo>
                <a:cubicBezTo>
                  <a:pt x="305373" y="1418196"/>
                  <a:pt x="399188" y="1326020"/>
                  <a:pt x="317471" y="1440442"/>
                </a:cubicBezTo>
                <a:cubicBezTo>
                  <a:pt x="303737" y="1459673"/>
                  <a:pt x="284053" y="1473865"/>
                  <a:pt x="267344" y="1490576"/>
                </a:cubicBezTo>
                <a:cubicBezTo>
                  <a:pt x="223143" y="1667406"/>
                  <a:pt x="283155" y="1459174"/>
                  <a:pt x="217217" y="1607557"/>
                </a:cubicBezTo>
                <a:cubicBezTo>
                  <a:pt x="202910" y="1639752"/>
                  <a:pt x="203339" y="1678511"/>
                  <a:pt x="183799" y="1707826"/>
                </a:cubicBezTo>
                <a:lnTo>
                  <a:pt x="116963" y="1808096"/>
                </a:lnTo>
                <a:lnTo>
                  <a:pt x="83545" y="1858230"/>
                </a:lnTo>
                <a:cubicBezTo>
                  <a:pt x="77505" y="1876352"/>
                  <a:pt x="38605" y="1986161"/>
                  <a:pt x="50127" y="1991923"/>
                </a:cubicBezTo>
                <a:cubicBezTo>
                  <a:pt x="75037" y="2004380"/>
                  <a:pt x="83545" y="1947358"/>
                  <a:pt x="100254" y="1925076"/>
                </a:cubicBezTo>
                <a:cubicBezTo>
                  <a:pt x="105824" y="1897224"/>
                  <a:pt x="105429" y="1867475"/>
                  <a:pt x="116963" y="1841519"/>
                </a:cubicBezTo>
                <a:cubicBezTo>
                  <a:pt x="139153" y="1791583"/>
                  <a:pt x="268203" y="1673545"/>
                  <a:pt x="284053" y="1657692"/>
                </a:cubicBezTo>
                <a:cubicBezTo>
                  <a:pt x="300762" y="1640980"/>
                  <a:pt x="313044" y="1618127"/>
                  <a:pt x="334180" y="1607557"/>
                </a:cubicBezTo>
                <a:cubicBezTo>
                  <a:pt x="378737" y="1585275"/>
                  <a:pt x="428000" y="1570605"/>
                  <a:pt x="467852" y="1540711"/>
                </a:cubicBezTo>
                <a:cubicBezTo>
                  <a:pt x="490131" y="1523999"/>
                  <a:pt x="510508" y="1504395"/>
                  <a:pt x="534688" y="1490576"/>
                </a:cubicBezTo>
                <a:cubicBezTo>
                  <a:pt x="549980" y="1481836"/>
                  <a:pt x="568324" y="1480050"/>
                  <a:pt x="584815" y="1473865"/>
                </a:cubicBezTo>
                <a:cubicBezTo>
                  <a:pt x="612899" y="1463332"/>
                  <a:pt x="641127" y="1453013"/>
                  <a:pt x="668360" y="1440442"/>
                </a:cubicBezTo>
                <a:cubicBezTo>
                  <a:pt x="862611" y="1350773"/>
                  <a:pt x="738923" y="1394634"/>
                  <a:pt x="852159" y="1356884"/>
                </a:cubicBezTo>
                <a:cubicBezTo>
                  <a:pt x="868868" y="1345743"/>
                  <a:pt x="884324" y="1332443"/>
                  <a:pt x="902286" y="1323461"/>
                </a:cubicBezTo>
                <a:cubicBezTo>
                  <a:pt x="1089748" y="1229715"/>
                  <a:pt x="775855" y="1412429"/>
                  <a:pt x="1019249" y="1273326"/>
                </a:cubicBezTo>
                <a:cubicBezTo>
                  <a:pt x="1036685" y="1263361"/>
                  <a:pt x="1051025" y="1248060"/>
                  <a:pt x="1069376" y="1239903"/>
                </a:cubicBezTo>
                <a:cubicBezTo>
                  <a:pt x="1275046" y="1148481"/>
                  <a:pt x="1080936" y="1248101"/>
                  <a:pt x="1236466" y="1189768"/>
                </a:cubicBezTo>
                <a:cubicBezTo>
                  <a:pt x="1259789" y="1181021"/>
                  <a:pt x="1280407" y="1166158"/>
                  <a:pt x="1303302" y="1156345"/>
                </a:cubicBezTo>
                <a:cubicBezTo>
                  <a:pt x="1406828" y="1111970"/>
                  <a:pt x="1295576" y="1175494"/>
                  <a:pt x="1420265" y="1106211"/>
                </a:cubicBezTo>
                <a:cubicBezTo>
                  <a:pt x="1494797" y="1064798"/>
                  <a:pt x="1669449" y="950283"/>
                  <a:pt x="1704318" y="922384"/>
                </a:cubicBezTo>
                <a:cubicBezTo>
                  <a:pt x="1801616" y="844534"/>
                  <a:pt x="1754028" y="866818"/>
                  <a:pt x="1837990" y="838826"/>
                </a:cubicBezTo>
                <a:cubicBezTo>
                  <a:pt x="1860269" y="822114"/>
                  <a:pt x="1882165" y="804880"/>
                  <a:pt x="1904826" y="788691"/>
                </a:cubicBezTo>
                <a:cubicBezTo>
                  <a:pt x="1921167" y="777017"/>
                  <a:pt x="1935025" y="757759"/>
                  <a:pt x="1954953" y="755268"/>
                </a:cubicBezTo>
                <a:cubicBezTo>
                  <a:pt x="1983134" y="751745"/>
                  <a:pt x="2010650" y="766409"/>
                  <a:pt x="2038498" y="771980"/>
                </a:cubicBezTo>
                <a:cubicBezTo>
                  <a:pt x="2027359" y="799833"/>
                  <a:pt x="2023495" y="831858"/>
                  <a:pt x="2005080" y="855538"/>
                </a:cubicBezTo>
                <a:cubicBezTo>
                  <a:pt x="1983186" y="883692"/>
                  <a:pt x="1946752" y="897163"/>
                  <a:pt x="1921535" y="922384"/>
                </a:cubicBezTo>
                <a:cubicBezTo>
                  <a:pt x="1896317" y="947606"/>
                  <a:pt x="1878183" y="979098"/>
                  <a:pt x="1854699" y="1005941"/>
                </a:cubicBezTo>
                <a:cubicBezTo>
                  <a:pt x="1839139" y="1023727"/>
                  <a:pt x="1819950" y="1038132"/>
                  <a:pt x="1804572" y="1056076"/>
                </a:cubicBezTo>
                <a:cubicBezTo>
                  <a:pt x="1786448" y="1077223"/>
                  <a:pt x="1772569" y="1101775"/>
                  <a:pt x="1754445" y="1122922"/>
                </a:cubicBezTo>
                <a:cubicBezTo>
                  <a:pt x="1739067" y="1140866"/>
                  <a:pt x="1718496" y="1154150"/>
                  <a:pt x="1704318" y="1173057"/>
                </a:cubicBezTo>
                <a:cubicBezTo>
                  <a:pt x="1684832" y="1199043"/>
                  <a:pt x="1675327" y="1231953"/>
                  <a:pt x="1654191" y="1256615"/>
                </a:cubicBezTo>
                <a:cubicBezTo>
                  <a:pt x="1641123" y="1271864"/>
                  <a:pt x="1619177" y="1276812"/>
                  <a:pt x="1604064" y="1290038"/>
                </a:cubicBezTo>
                <a:cubicBezTo>
                  <a:pt x="1574425" y="1315976"/>
                  <a:pt x="1550584" y="1348151"/>
                  <a:pt x="1520519" y="1373595"/>
                </a:cubicBezTo>
                <a:cubicBezTo>
                  <a:pt x="1478001" y="1409577"/>
                  <a:pt x="1426230" y="1434476"/>
                  <a:pt x="1386847" y="1473865"/>
                </a:cubicBezTo>
                <a:cubicBezTo>
                  <a:pt x="1364568" y="1496147"/>
                  <a:pt x="1344216" y="1520538"/>
                  <a:pt x="1320011" y="1540711"/>
                </a:cubicBezTo>
                <a:cubicBezTo>
                  <a:pt x="1277224" y="1576372"/>
                  <a:pt x="1225722" y="1601591"/>
                  <a:pt x="1186339" y="1640980"/>
                </a:cubicBezTo>
                <a:cubicBezTo>
                  <a:pt x="1147351" y="1679974"/>
                  <a:pt x="1094033" y="1708640"/>
                  <a:pt x="1069376" y="1757961"/>
                </a:cubicBezTo>
                <a:cubicBezTo>
                  <a:pt x="1058237" y="1780243"/>
                  <a:pt x="1051904" y="1805668"/>
                  <a:pt x="1035958" y="1824807"/>
                </a:cubicBezTo>
                <a:cubicBezTo>
                  <a:pt x="995618" y="1873222"/>
                  <a:pt x="946843" y="1913935"/>
                  <a:pt x="902286" y="1958499"/>
                </a:cubicBezTo>
                <a:lnTo>
                  <a:pt x="852159" y="2008634"/>
                </a:lnTo>
                <a:lnTo>
                  <a:pt x="735196" y="2125615"/>
                </a:lnTo>
                <a:cubicBezTo>
                  <a:pt x="718487" y="2142327"/>
                  <a:pt x="699830" y="2157295"/>
                  <a:pt x="685069" y="2175750"/>
                </a:cubicBezTo>
                <a:cubicBezTo>
                  <a:pt x="662790" y="2203602"/>
                  <a:pt x="638015" y="2229629"/>
                  <a:pt x="618233" y="2259307"/>
                </a:cubicBezTo>
                <a:cubicBezTo>
                  <a:pt x="604416" y="2280035"/>
                  <a:pt x="599293" y="2305881"/>
                  <a:pt x="584815" y="2326153"/>
                </a:cubicBezTo>
                <a:cubicBezTo>
                  <a:pt x="571081" y="2345384"/>
                  <a:pt x="549815" y="2358132"/>
                  <a:pt x="534688" y="2376288"/>
                </a:cubicBezTo>
                <a:cubicBezTo>
                  <a:pt x="521832" y="2391718"/>
                  <a:pt x="514126" y="2410993"/>
                  <a:pt x="501270" y="2426423"/>
                </a:cubicBezTo>
                <a:cubicBezTo>
                  <a:pt x="432503" y="2508955"/>
                  <a:pt x="447658" y="2450106"/>
                  <a:pt x="384307" y="2576827"/>
                </a:cubicBezTo>
                <a:cubicBezTo>
                  <a:pt x="373168" y="2599109"/>
                  <a:pt x="333275" y="2661289"/>
                  <a:pt x="350889" y="2643673"/>
                </a:cubicBezTo>
                <a:cubicBezTo>
                  <a:pt x="406864" y="2587689"/>
                  <a:pt x="440456" y="2510532"/>
                  <a:pt x="501270" y="2459846"/>
                </a:cubicBezTo>
                <a:lnTo>
                  <a:pt x="701778" y="2292730"/>
                </a:lnTo>
                <a:cubicBezTo>
                  <a:pt x="729307" y="2270055"/>
                  <a:pt x="757172" y="2247782"/>
                  <a:pt x="785323" y="2225884"/>
                </a:cubicBezTo>
                <a:cubicBezTo>
                  <a:pt x="807305" y="2208784"/>
                  <a:pt x="825739" y="2184558"/>
                  <a:pt x="852159" y="2175750"/>
                </a:cubicBezTo>
                <a:lnTo>
                  <a:pt x="902286" y="2159038"/>
                </a:lnTo>
                <a:cubicBezTo>
                  <a:pt x="924565" y="2142326"/>
                  <a:pt x="944213" y="2121359"/>
                  <a:pt x="969122" y="2108903"/>
                </a:cubicBezTo>
                <a:cubicBezTo>
                  <a:pt x="1025654" y="2080632"/>
                  <a:pt x="1091804" y="2070994"/>
                  <a:pt x="1152921" y="2058769"/>
                </a:cubicBezTo>
                <a:cubicBezTo>
                  <a:pt x="1180769" y="2081051"/>
                  <a:pt x="1201493" y="2132611"/>
                  <a:pt x="1236466" y="2125615"/>
                </a:cubicBezTo>
                <a:cubicBezTo>
                  <a:pt x="1279125" y="2117082"/>
                  <a:pt x="1289251" y="2056111"/>
                  <a:pt x="1320011" y="2025346"/>
                </a:cubicBezTo>
                <a:cubicBezTo>
                  <a:pt x="1350770" y="1994582"/>
                  <a:pt x="1385330" y="1967712"/>
                  <a:pt x="1420265" y="1941788"/>
                </a:cubicBezTo>
                <a:cubicBezTo>
                  <a:pt x="1984394" y="1523177"/>
                  <a:pt x="1652077" y="1760181"/>
                  <a:pt x="2038498" y="1523999"/>
                </a:cubicBezTo>
                <a:cubicBezTo>
                  <a:pt x="2072769" y="1503052"/>
                  <a:pt x="2104546" y="1478206"/>
                  <a:pt x="2138752" y="1457153"/>
                </a:cubicBezTo>
                <a:cubicBezTo>
                  <a:pt x="2452211" y="1264226"/>
                  <a:pt x="2118552" y="1473472"/>
                  <a:pt x="2322551" y="1356884"/>
                </a:cubicBezTo>
                <a:cubicBezTo>
                  <a:pt x="2412299" y="1305592"/>
                  <a:pt x="2329737" y="1334198"/>
                  <a:pt x="2439514" y="1306749"/>
                </a:cubicBezTo>
                <a:cubicBezTo>
                  <a:pt x="2407558" y="1402633"/>
                  <a:pt x="2445691" y="1313130"/>
                  <a:pt x="2372678" y="1407018"/>
                </a:cubicBezTo>
                <a:cubicBezTo>
                  <a:pt x="2348020" y="1438726"/>
                  <a:pt x="2334243" y="1478883"/>
                  <a:pt x="2305842" y="1507288"/>
                </a:cubicBezTo>
                <a:cubicBezTo>
                  <a:pt x="2283563" y="1529570"/>
                  <a:pt x="2258349" y="1549261"/>
                  <a:pt x="2239006" y="1574134"/>
                </a:cubicBezTo>
                <a:cubicBezTo>
                  <a:pt x="2219067" y="1599774"/>
                  <a:pt x="2206092" y="1630148"/>
                  <a:pt x="2188879" y="1657692"/>
                </a:cubicBezTo>
                <a:cubicBezTo>
                  <a:pt x="2178236" y="1674724"/>
                  <a:pt x="2167133" y="1691482"/>
                  <a:pt x="2155461" y="1707826"/>
                </a:cubicBezTo>
                <a:cubicBezTo>
                  <a:pt x="2139274" y="1730490"/>
                  <a:pt x="2121520" y="1752008"/>
                  <a:pt x="2105334" y="1774672"/>
                </a:cubicBezTo>
                <a:cubicBezTo>
                  <a:pt x="2093662" y="1791016"/>
                  <a:pt x="2084772" y="1809377"/>
                  <a:pt x="2071916" y="1824807"/>
                </a:cubicBezTo>
                <a:cubicBezTo>
                  <a:pt x="2056789" y="1842963"/>
                  <a:pt x="2037167" y="1856998"/>
                  <a:pt x="2021789" y="1874942"/>
                </a:cubicBezTo>
                <a:cubicBezTo>
                  <a:pt x="2003665" y="1896089"/>
                  <a:pt x="1990480" y="1921256"/>
                  <a:pt x="1971662" y="1941788"/>
                </a:cubicBezTo>
                <a:cubicBezTo>
                  <a:pt x="1929082" y="1988245"/>
                  <a:pt x="1866169" y="2019113"/>
                  <a:pt x="1837990" y="2075480"/>
                </a:cubicBezTo>
                <a:cubicBezTo>
                  <a:pt x="1826851" y="2097762"/>
                  <a:pt x="1818389" y="2121598"/>
                  <a:pt x="1804572" y="2142326"/>
                </a:cubicBezTo>
                <a:cubicBezTo>
                  <a:pt x="1795834" y="2155435"/>
                  <a:pt x="1780995" y="2163447"/>
                  <a:pt x="1771154" y="2175750"/>
                </a:cubicBezTo>
                <a:cubicBezTo>
                  <a:pt x="1736361" y="2219249"/>
                  <a:pt x="1701794" y="2263093"/>
                  <a:pt x="1670900" y="2309442"/>
                </a:cubicBezTo>
                <a:cubicBezTo>
                  <a:pt x="1659761" y="2326154"/>
                  <a:pt x="1645638" y="2341224"/>
                  <a:pt x="1637482" y="2359577"/>
                </a:cubicBezTo>
                <a:cubicBezTo>
                  <a:pt x="1623175" y="2391772"/>
                  <a:pt x="1615203" y="2426423"/>
                  <a:pt x="1604064" y="2459846"/>
                </a:cubicBezTo>
                <a:cubicBezTo>
                  <a:pt x="1598494" y="2476557"/>
                  <a:pt x="1594508" y="2493883"/>
                  <a:pt x="1587355" y="2509980"/>
                </a:cubicBezTo>
                <a:cubicBezTo>
                  <a:pt x="1544281" y="2606912"/>
                  <a:pt x="1519971" y="2638332"/>
                  <a:pt x="1503810" y="2727230"/>
                </a:cubicBezTo>
                <a:cubicBezTo>
                  <a:pt x="1496765" y="2765984"/>
                  <a:pt x="1474647" y="2806842"/>
                  <a:pt x="1487101" y="2844211"/>
                </a:cubicBezTo>
                <a:cubicBezTo>
                  <a:pt x="1492670" y="2860920"/>
                  <a:pt x="1520519" y="2833070"/>
                  <a:pt x="1537228" y="2827500"/>
                </a:cubicBezTo>
                <a:cubicBezTo>
                  <a:pt x="1570789" y="2777150"/>
                  <a:pt x="1578625" y="2769885"/>
                  <a:pt x="1604064" y="2710519"/>
                </a:cubicBezTo>
                <a:cubicBezTo>
                  <a:pt x="1611002" y="2694328"/>
                  <a:pt x="1611003" y="2675042"/>
                  <a:pt x="1620773" y="2660384"/>
                </a:cubicBezTo>
                <a:cubicBezTo>
                  <a:pt x="1633880" y="2640720"/>
                  <a:pt x="1655773" y="2628406"/>
                  <a:pt x="1670900" y="2610250"/>
                </a:cubicBezTo>
                <a:cubicBezTo>
                  <a:pt x="1683756" y="2594820"/>
                  <a:pt x="1692646" y="2576459"/>
                  <a:pt x="1704318" y="2560115"/>
                </a:cubicBezTo>
                <a:cubicBezTo>
                  <a:pt x="1739070" y="2511454"/>
                  <a:pt x="1759829" y="2481491"/>
                  <a:pt x="1804572" y="2443134"/>
                </a:cubicBezTo>
                <a:cubicBezTo>
                  <a:pt x="1825716" y="2425008"/>
                  <a:pt x="1851717" y="2412694"/>
                  <a:pt x="1871408" y="2393000"/>
                </a:cubicBezTo>
                <a:cubicBezTo>
                  <a:pt x="1919306" y="2345095"/>
                  <a:pt x="1908657" y="2316360"/>
                  <a:pt x="1971662" y="2292730"/>
                </a:cubicBezTo>
                <a:cubicBezTo>
                  <a:pt x="1998253" y="2282757"/>
                  <a:pt x="2027655" y="2282908"/>
                  <a:pt x="2055207" y="2276019"/>
                </a:cubicBezTo>
                <a:cubicBezTo>
                  <a:pt x="2072294" y="2271747"/>
                  <a:pt x="2088625" y="2264878"/>
                  <a:pt x="2105334" y="2259307"/>
                </a:cubicBezTo>
                <a:cubicBezTo>
                  <a:pt x="2116473" y="2242596"/>
                  <a:pt x="2123070" y="2221720"/>
                  <a:pt x="2138752" y="2209173"/>
                </a:cubicBezTo>
                <a:cubicBezTo>
                  <a:pt x="2152505" y="2198169"/>
                  <a:pt x="2176426" y="2204916"/>
                  <a:pt x="2188879" y="2192461"/>
                </a:cubicBezTo>
                <a:cubicBezTo>
                  <a:pt x="2217280" y="2164056"/>
                  <a:pt x="2237754" y="2128120"/>
                  <a:pt x="2255715" y="2092192"/>
                </a:cubicBezTo>
                <a:cubicBezTo>
                  <a:pt x="2366547" y="1870496"/>
                  <a:pt x="2232085" y="2147336"/>
                  <a:pt x="2305842" y="1975211"/>
                </a:cubicBezTo>
                <a:cubicBezTo>
                  <a:pt x="2315654" y="1952313"/>
                  <a:pt x="2330514" y="1931691"/>
                  <a:pt x="2339260" y="1908365"/>
                </a:cubicBezTo>
                <a:cubicBezTo>
                  <a:pt x="2347323" y="1886859"/>
                  <a:pt x="2349660" y="1863603"/>
                  <a:pt x="2355969" y="1841519"/>
                </a:cubicBezTo>
                <a:cubicBezTo>
                  <a:pt x="2360808" y="1824581"/>
                  <a:pt x="2368406" y="1808474"/>
                  <a:pt x="2372678" y="1791384"/>
                </a:cubicBezTo>
                <a:cubicBezTo>
                  <a:pt x="2379566" y="1763828"/>
                  <a:pt x="2383001" y="1735503"/>
                  <a:pt x="2389387" y="1707826"/>
                </a:cubicBezTo>
                <a:cubicBezTo>
                  <a:pt x="2417654" y="1585318"/>
                  <a:pt x="2411895" y="1606870"/>
                  <a:pt x="2439514" y="1523999"/>
                </a:cubicBezTo>
                <a:cubicBezTo>
                  <a:pt x="2535418" y="1907672"/>
                  <a:pt x="2407796" y="1375786"/>
                  <a:pt x="2472932" y="2526692"/>
                </a:cubicBezTo>
                <a:cubicBezTo>
                  <a:pt x="2474067" y="2546744"/>
                  <a:pt x="2492150" y="2490760"/>
                  <a:pt x="2506350" y="2476557"/>
                </a:cubicBezTo>
                <a:cubicBezTo>
                  <a:pt x="2526041" y="2456863"/>
                  <a:pt x="2550907" y="2443134"/>
                  <a:pt x="2573186" y="2426423"/>
                </a:cubicBezTo>
                <a:cubicBezTo>
                  <a:pt x="2584325" y="2404141"/>
                  <a:pt x="2592787" y="2380305"/>
                  <a:pt x="2606604" y="2359577"/>
                </a:cubicBezTo>
                <a:cubicBezTo>
                  <a:pt x="2615342" y="2346468"/>
                  <a:pt x="2631917" y="2339663"/>
                  <a:pt x="2640022" y="2326153"/>
                </a:cubicBezTo>
                <a:cubicBezTo>
                  <a:pt x="2650948" y="2307939"/>
                  <a:pt x="2669468" y="2223078"/>
                  <a:pt x="2673440" y="2209173"/>
                </a:cubicBezTo>
                <a:cubicBezTo>
                  <a:pt x="2678279" y="2192235"/>
                  <a:pt x="2685515" y="2176033"/>
                  <a:pt x="2690149" y="2159038"/>
                </a:cubicBezTo>
                <a:cubicBezTo>
                  <a:pt x="2714264" y="2070603"/>
                  <a:pt x="2737929" y="1963883"/>
                  <a:pt x="2756985" y="1874942"/>
                </a:cubicBezTo>
                <a:cubicBezTo>
                  <a:pt x="2762936" y="1847168"/>
                  <a:pt x="2764713" y="1818331"/>
                  <a:pt x="2773694" y="1791384"/>
                </a:cubicBezTo>
                <a:cubicBezTo>
                  <a:pt x="2802987" y="1703492"/>
                  <a:pt x="2803861" y="1747751"/>
                  <a:pt x="2840530" y="1674403"/>
                </a:cubicBezTo>
                <a:cubicBezTo>
                  <a:pt x="2848407" y="1658647"/>
                  <a:pt x="2851669" y="1640980"/>
                  <a:pt x="2857239" y="1624269"/>
                </a:cubicBezTo>
                <a:cubicBezTo>
                  <a:pt x="2899272" y="1652295"/>
                  <a:pt x="2920971" y="1651945"/>
                  <a:pt x="2924075" y="1707826"/>
                </a:cubicBezTo>
                <a:cubicBezTo>
                  <a:pt x="2960127" y="2356866"/>
                  <a:pt x="2893856" y="2071569"/>
                  <a:pt x="2957493" y="2326153"/>
                </a:cubicBezTo>
                <a:cubicBezTo>
                  <a:pt x="2969261" y="2243767"/>
                  <a:pt x="2969425" y="2213956"/>
                  <a:pt x="2990911" y="2142326"/>
                </a:cubicBezTo>
                <a:cubicBezTo>
                  <a:pt x="3026013" y="2025301"/>
                  <a:pt x="3017889" y="2064804"/>
                  <a:pt x="3057747" y="1958499"/>
                </a:cubicBezTo>
                <a:cubicBezTo>
                  <a:pt x="3085824" y="1883615"/>
                  <a:pt x="3064830" y="1929314"/>
                  <a:pt x="3091165" y="1841519"/>
                </a:cubicBezTo>
                <a:cubicBezTo>
                  <a:pt x="3152185" y="1638088"/>
                  <a:pt x="3102779" y="1828476"/>
                  <a:pt x="3141292" y="1674403"/>
                </a:cubicBezTo>
                <a:cubicBezTo>
                  <a:pt x="3146862" y="1741249"/>
                  <a:pt x="3140720" y="1810128"/>
                  <a:pt x="3158001" y="1874942"/>
                </a:cubicBezTo>
                <a:cubicBezTo>
                  <a:pt x="3164089" y="1897776"/>
                  <a:pt x="3193001" y="1906920"/>
                  <a:pt x="3208128" y="1925076"/>
                </a:cubicBezTo>
                <a:cubicBezTo>
                  <a:pt x="3220984" y="1940506"/>
                  <a:pt x="3230407" y="1958499"/>
                  <a:pt x="3241546" y="1975211"/>
                </a:cubicBezTo>
                <a:cubicBezTo>
                  <a:pt x="3258255" y="1958499"/>
                  <a:pt x="3286805" y="1948201"/>
                  <a:pt x="3291673" y="1925076"/>
                </a:cubicBezTo>
                <a:cubicBezTo>
                  <a:pt x="3312551" y="1825890"/>
                  <a:pt x="3308382" y="1571150"/>
                  <a:pt x="3308382" y="1457153"/>
                </a:cubicBez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910864" y="1671154"/>
            <a:ext cx="2617069" cy="3074925"/>
          </a:xfrm>
          <a:custGeom>
            <a:avLst/>
            <a:gdLst>
              <a:gd name="connsiteX0" fmla="*/ 1273541 w 2617069"/>
              <a:gd name="connsiteY0" fmla="*/ 0 h 3074925"/>
              <a:gd name="connsiteX1" fmla="*/ 1189996 w 2617069"/>
              <a:gd name="connsiteY1" fmla="*/ 33424 h 3074925"/>
              <a:gd name="connsiteX2" fmla="*/ 1139869 w 2617069"/>
              <a:gd name="connsiteY2" fmla="*/ 50135 h 3074925"/>
              <a:gd name="connsiteX3" fmla="*/ 1073033 w 2617069"/>
              <a:gd name="connsiteY3" fmla="*/ 83558 h 3074925"/>
              <a:gd name="connsiteX4" fmla="*/ 1022906 w 2617069"/>
              <a:gd name="connsiteY4" fmla="*/ 116981 h 3074925"/>
              <a:gd name="connsiteX5" fmla="*/ 922652 w 2617069"/>
              <a:gd name="connsiteY5" fmla="*/ 133693 h 3074925"/>
              <a:gd name="connsiteX6" fmla="*/ 772271 w 2617069"/>
              <a:gd name="connsiteY6" fmla="*/ 250674 h 3074925"/>
              <a:gd name="connsiteX7" fmla="*/ 722144 w 2617069"/>
              <a:gd name="connsiteY7" fmla="*/ 284097 h 3074925"/>
              <a:gd name="connsiteX8" fmla="*/ 672017 w 2617069"/>
              <a:gd name="connsiteY8" fmla="*/ 334231 h 3074925"/>
              <a:gd name="connsiteX9" fmla="*/ 621890 w 2617069"/>
              <a:gd name="connsiteY9" fmla="*/ 367654 h 3074925"/>
              <a:gd name="connsiteX10" fmla="*/ 571763 w 2617069"/>
              <a:gd name="connsiteY10" fmla="*/ 417789 h 3074925"/>
              <a:gd name="connsiteX11" fmla="*/ 521636 w 2617069"/>
              <a:gd name="connsiteY11" fmla="*/ 434501 h 3074925"/>
              <a:gd name="connsiteX12" fmla="*/ 471509 w 2617069"/>
              <a:gd name="connsiteY12" fmla="*/ 484635 h 3074925"/>
              <a:gd name="connsiteX13" fmla="*/ 421382 w 2617069"/>
              <a:gd name="connsiteY13" fmla="*/ 518058 h 3074925"/>
              <a:gd name="connsiteX14" fmla="*/ 387964 w 2617069"/>
              <a:gd name="connsiteY14" fmla="*/ 568193 h 3074925"/>
              <a:gd name="connsiteX15" fmla="*/ 287710 w 2617069"/>
              <a:gd name="connsiteY15" fmla="*/ 651751 h 3074925"/>
              <a:gd name="connsiteX16" fmla="*/ 254292 w 2617069"/>
              <a:gd name="connsiteY16" fmla="*/ 701885 h 3074925"/>
              <a:gd name="connsiteX17" fmla="*/ 154038 w 2617069"/>
              <a:gd name="connsiteY17" fmla="*/ 802155 h 3074925"/>
              <a:gd name="connsiteX18" fmla="*/ 120620 w 2617069"/>
              <a:gd name="connsiteY18" fmla="*/ 852289 h 3074925"/>
              <a:gd name="connsiteX19" fmla="*/ 70493 w 2617069"/>
              <a:gd name="connsiteY19" fmla="*/ 902424 h 3074925"/>
              <a:gd name="connsiteX20" fmla="*/ 37075 w 2617069"/>
              <a:gd name="connsiteY20" fmla="*/ 952558 h 3074925"/>
              <a:gd name="connsiteX21" fmla="*/ 3657 w 2617069"/>
              <a:gd name="connsiteY21" fmla="*/ 985982 h 3074925"/>
              <a:gd name="connsiteX22" fmla="*/ 220874 w 2617069"/>
              <a:gd name="connsiteY22" fmla="*/ 935847 h 3074925"/>
              <a:gd name="connsiteX23" fmla="*/ 271001 w 2617069"/>
              <a:gd name="connsiteY23" fmla="*/ 919135 h 3074925"/>
              <a:gd name="connsiteX24" fmla="*/ 321128 w 2617069"/>
              <a:gd name="connsiteY24" fmla="*/ 885712 h 3074925"/>
              <a:gd name="connsiteX25" fmla="*/ 521636 w 2617069"/>
              <a:gd name="connsiteY25" fmla="*/ 869001 h 3074925"/>
              <a:gd name="connsiteX26" fmla="*/ 672017 w 2617069"/>
              <a:gd name="connsiteY26" fmla="*/ 785443 h 3074925"/>
              <a:gd name="connsiteX27" fmla="*/ 738853 w 2617069"/>
              <a:gd name="connsiteY27" fmla="*/ 718597 h 3074925"/>
              <a:gd name="connsiteX28" fmla="*/ 1056324 w 2617069"/>
              <a:gd name="connsiteY28" fmla="*/ 484635 h 3074925"/>
              <a:gd name="connsiteX29" fmla="*/ 1139869 w 2617069"/>
              <a:gd name="connsiteY29" fmla="*/ 434501 h 3074925"/>
              <a:gd name="connsiteX30" fmla="*/ 1290250 w 2617069"/>
              <a:gd name="connsiteY30" fmla="*/ 384366 h 3074925"/>
              <a:gd name="connsiteX31" fmla="*/ 1407213 w 2617069"/>
              <a:gd name="connsiteY31" fmla="*/ 350943 h 3074925"/>
              <a:gd name="connsiteX32" fmla="*/ 1624430 w 2617069"/>
              <a:gd name="connsiteY32" fmla="*/ 334231 h 3074925"/>
              <a:gd name="connsiteX33" fmla="*/ 2125700 w 2617069"/>
              <a:gd name="connsiteY33" fmla="*/ 317520 h 3074925"/>
              <a:gd name="connsiteX34" fmla="*/ 2058864 w 2617069"/>
              <a:gd name="connsiteY34" fmla="*/ 367654 h 3074925"/>
              <a:gd name="connsiteX35" fmla="*/ 2008737 w 2617069"/>
              <a:gd name="connsiteY35" fmla="*/ 384366 h 3074925"/>
              <a:gd name="connsiteX36" fmla="*/ 1875065 w 2617069"/>
              <a:gd name="connsiteY36" fmla="*/ 434501 h 3074925"/>
              <a:gd name="connsiteX37" fmla="*/ 1691266 w 2617069"/>
              <a:gd name="connsiteY37" fmla="*/ 584904 h 3074925"/>
              <a:gd name="connsiteX38" fmla="*/ 1657848 w 2617069"/>
              <a:gd name="connsiteY38" fmla="*/ 635039 h 3074925"/>
              <a:gd name="connsiteX39" fmla="*/ 1641139 w 2617069"/>
              <a:gd name="connsiteY39" fmla="*/ 685174 h 3074925"/>
              <a:gd name="connsiteX40" fmla="*/ 1591012 w 2617069"/>
              <a:gd name="connsiteY40" fmla="*/ 701885 h 3074925"/>
              <a:gd name="connsiteX41" fmla="*/ 1540885 w 2617069"/>
              <a:gd name="connsiteY41" fmla="*/ 735308 h 3074925"/>
              <a:gd name="connsiteX42" fmla="*/ 1490758 w 2617069"/>
              <a:gd name="connsiteY42" fmla="*/ 785443 h 3074925"/>
              <a:gd name="connsiteX43" fmla="*/ 1390504 w 2617069"/>
              <a:gd name="connsiteY43" fmla="*/ 818866 h 3074925"/>
              <a:gd name="connsiteX44" fmla="*/ 1156578 w 2617069"/>
              <a:gd name="connsiteY44" fmla="*/ 885712 h 3074925"/>
              <a:gd name="connsiteX45" fmla="*/ 1106451 w 2617069"/>
              <a:gd name="connsiteY45" fmla="*/ 902424 h 3074925"/>
              <a:gd name="connsiteX46" fmla="*/ 1056324 w 2617069"/>
              <a:gd name="connsiteY46" fmla="*/ 919135 h 3074925"/>
              <a:gd name="connsiteX47" fmla="*/ 989488 w 2617069"/>
              <a:gd name="connsiteY47" fmla="*/ 952558 h 3074925"/>
              <a:gd name="connsiteX48" fmla="*/ 889234 w 2617069"/>
              <a:gd name="connsiteY48" fmla="*/ 985982 h 3074925"/>
              <a:gd name="connsiteX49" fmla="*/ 788980 w 2617069"/>
              <a:gd name="connsiteY49" fmla="*/ 1036116 h 3074925"/>
              <a:gd name="connsiteX50" fmla="*/ 855816 w 2617069"/>
              <a:gd name="connsiteY50" fmla="*/ 1069539 h 3074925"/>
              <a:gd name="connsiteX51" fmla="*/ 1039615 w 2617069"/>
              <a:gd name="connsiteY51" fmla="*/ 1019405 h 3074925"/>
              <a:gd name="connsiteX52" fmla="*/ 1156578 w 2617069"/>
              <a:gd name="connsiteY52" fmla="*/ 1002693 h 3074925"/>
              <a:gd name="connsiteX53" fmla="*/ 1357086 w 2617069"/>
              <a:gd name="connsiteY53" fmla="*/ 952558 h 3074925"/>
              <a:gd name="connsiteX54" fmla="*/ 1540885 w 2617069"/>
              <a:gd name="connsiteY54" fmla="*/ 919135 h 3074925"/>
              <a:gd name="connsiteX55" fmla="*/ 2342917 w 2617069"/>
              <a:gd name="connsiteY55" fmla="*/ 952558 h 3074925"/>
              <a:gd name="connsiteX56" fmla="*/ 2526716 w 2617069"/>
              <a:gd name="connsiteY56" fmla="*/ 985982 h 3074925"/>
              <a:gd name="connsiteX57" fmla="*/ 2593552 w 2617069"/>
              <a:gd name="connsiteY57" fmla="*/ 1019405 h 3074925"/>
              <a:gd name="connsiteX58" fmla="*/ 2192536 w 2617069"/>
              <a:gd name="connsiteY58" fmla="*/ 1086251 h 3074925"/>
              <a:gd name="connsiteX59" fmla="*/ 2142409 w 2617069"/>
              <a:gd name="connsiteY59" fmla="*/ 1119674 h 3074925"/>
              <a:gd name="connsiteX60" fmla="*/ 2008737 w 2617069"/>
              <a:gd name="connsiteY60" fmla="*/ 1186520 h 3074925"/>
              <a:gd name="connsiteX61" fmla="*/ 1908483 w 2617069"/>
              <a:gd name="connsiteY61" fmla="*/ 1286789 h 3074925"/>
              <a:gd name="connsiteX62" fmla="*/ 1858356 w 2617069"/>
              <a:gd name="connsiteY62" fmla="*/ 1320212 h 3074925"/>
              <a:gd name="connsiteX63" fmla="*/ 1674557 w 2617069"/>
              <a:gd name="connsiteY63" fmla="*/ 1336924 h 3074925"/>
              <a:gd name="connsiteX64" fmla="*/ 1524176 w 2617069"/>
              <a:gd name="connsiteY64" fmla="*/ 1370347 h 3074925"/>
              <a:gd name="connsiteX65" fmla="*/ 1139869 w 2617069"/>
              <a:gd name="connsiteY65" fmla="*/ 1387059 h 3074925"/>
              <a:gd name="connsiteX66" fmla="*/ 1089742 w 2617069"/>
              <a:gd name="connsiteY66" fmla="*/ 1420482 h 3074925"/>
              <a:gd name="connsiteX67" fmla="*/ 1022906 w 2617069"/>
              <a:gd name="connsiteY67" fmla="*/ 1504039 h 3074925"/>
              <a:gd name="connsiteX68" fmla="*/ 1006197 w 2617069"/>
              <a:gd name="connsiteY68" fmla="*/ 1554174 h 3074925"/>
              <a:gd name="connsiteX69" fmla="*/ 1089742 w 2617069"/>
              <a:gd name="connsiteY69" fmla="*/ 1520751 h 3074925"/>
              <a:gd name="connsiteX70" fmla="*/ 1373795 w 2617069"/>
              <a:gd name="connsiteY70" fmla="*/ 1470616 h 3074925"/>
              <a:gd name="connsiteX71" fmla="*/ 1741393 w 2617069"/>
              <a:gd name="connsiteY71" fmla="*/ 1487328 h 3074925"/>
              <a:gd name="connsiteX72" fmla="*/ 1791520 w 2617069"/>
              <a:gd name="connsiteY72" fmla="*/ 1504039 h 3074925"/>
              <a:gd name="connsiteX73" fmla="*/ 1858356 w 2617069"/>
              <a:gd name="connsiteY73" fmla="*/ 1520751 h 3074925"/>
              <a:gd name="connsiteX74" fmla="*/ 1908483 w 2617069"/>
              <a:gd name="connsiteY74" fmla="*/ 1554174 h 3074925"/>
              <a:gd name="connsiteX75" fmla="*/ 2008737 w 2617069"/>
              <a:gd name="connsiteY75" fmla="*/ 1587597 h 3074925"/>
              <a:gd name="connsiteX76" fmla="*/ 2075573 w 2617069"/>
              <a:gd name="connsiteY76" fmla="*/ 1621020 h 3074925"/>
              <a:gd name="connsiteX77" fmla="*/ 2125700 w 2617069"/>
              <a:gd name="connsiteY77" fmla="*/ 1671155 h 3074925"/>
              <a:gd name="connsiteX78" fmla="*/ 2175827 w 2617069"/>
              <a:gd name="connsiteY78" fmla="*/ 1687866 h 3074925"/>
              <a:gd name="connsiteX79" fmla="*/ 2476589 w 2617069"/>
              <a:gd name="connsiteY79" fmla="*/ 1721289 h 3074925"/>
              <a:gd name="connsiteX80" fmla="*/ 2526716 w 2617069"/>
              <a:gd name="connsiteY80" fmla="*/ 1738001 h 3074925"/>
              <a:gd name="connsiteX81" fmla="*/ 2459880 w 2617069"/>
              <a:gd name="connsiteY81" fmla="*/ 1788136 h 3074925"/>
              <a:gd name="connsiteX82" fmla="*/ 2393044 w 2617069"/>
              <a:gd name="connsiteY82" fmla="*/ 1804847 h 3074925"/>
              <a:gd name="connsiteX83" fmla="*/ 2225954 w 2617069"/>
              <a:gd name="connsiteY83" fmla="*/ 1838270 h 3074925"/>
              <a:gd name="connsiteX84" fmla="*/ 1707975 w 2617069"/>
              <a:gd name="connsiteY84" fmla="*/ 1854982 h 3074925"/>
              <a:gd name="connsiteX85" fmla="*/ 1641139 w 2617069"/>
              <a:gd name="connsiteY85" fmla="*/ 1871693 h 3074925"/>
              <a:gd name="connsiteX86" fmla="*/ 1323668 w 2617069"/>
              <a:gd name="connsiteY86" fmla="*/ 1905116 h 3074925"/>
              <a:gd name="connsiteX87" fmla="*/ 1273541 w 2617069"/>
              <a:gd name="connsiteY87" fmla="*/ 1921828 h 3074925"/>
              <a:gd name="connsiteX88" fmla="*/ 1240123 w 2617069"/>
              <a:gd name="connsiteY88" fmla="*/ 1971963 h 3074925"/>
              <a:gd name="connsiteX89" fmla="*/ 1139869 w 2617069"/>
              <a:gd name="connsiteY89" fmla="*/ 2005386 h 3074925"/>
              <a:gd name="connsiteX90" fmla="*/ 1189996 w 2617069"/>
              <a:gd name="connsiteY90" fmla="*/ 1971963 h 3074925"/>
              <a:gd name="connsiteX91" fmla="*/ 1707975 w 2617069"/>
              <a:gd name="connsiteY91" fmla="*/ 1988674 h 3074925"/>
              <a:gd name="connsiteX92" fmla="*/ 1908483 w 2617069"/>
              <a:gd name="connsiteY92" fmla="*/ 2022097 h 3074925"/>
              <a:gd name="connsiteX93" fmla="*/ 2075573 w 2617069"/>
              <a:gd name="connsiteY93" fmla="*/ 2055520 h 3074925"/>
              <a:gd name="connsiteX94" fmla="*/ 2192536 w 2617069"/>
              <a:gd name="connsiteY94" fmla="*/ 2122367 h 3074925"/>
              <a:gd name="connsiteX95" fmla="*/ 2376335 w 2617069"/>
              <a:gd name="connsiteY95" fmla="*/ 2239347 h 3074925"/>
              <a:gd name="connsiteX96" fmla="*/ 2426462 w 2617069"/>
              <a:gd name="connsiteY96" fmla="*/ 2272770 h 3074925"/>
              <a:gd name="connsiteX97" fmla="*/ 2476589 w 2617069"/>
              <a:gd name="connsiteY97" fmla="*/ 2306194 h 3074925"/>
              <a:gd name="connsiteX98" fmla="*/ 2426462 w 2617069"/>
              <a:gd name="connsiteY98" fmla="*/ 2322905 h 3074925"/>
              <a:gd name="connsiteX99" fmla="*/ 2342917 w 2617069"/>
              <a:gd name="connsiteY99" fmla="*/ 2356328 h 3074925"/>
              <a:gd name="connsiteX100" fmla="*/ 2225954 w 2617069"/>
              <a:gd name="connsiteY100" fmla="*/ 2373040 h 3074925"/>
              <a:gd name="connsiteX101" fmla="*/ 1507467 w 2617069"/>
              <a:gd name="connsiteY101" fmla="*/ 2356328 h 3074925"/>
              <a:gd name="connsiteX102" fmla="*/ 1123160 w 2617069"/>
              <a:gd name="connsiteY102" fmla="*/ 2339617 h 3074925"/>
              <a:gd name="connsiteX103" fmla="*/ 1139869 w 2617069"/>
              <a:gd name="connsiteY103" fmla="*/ 2406463 h 3074925"/>
              <a:gd name="connsiteX104" fmla="*/ 1189996 w 2617069"/>
              <a:gd name="connsiteY104" fmla="*/ 2423174 h 3074925"/>
              <a:gd name="connsiteX105" fmla="*/ 1256832 w 2617069"/>
              <a:gd name="connsiteY105" fmla="*/ 2456597 h 3074925"/>
              <a:gd name="connsiteX106" fmla="*/ 1340377 w 2617069"/>
              <a:gd name="connsiteY106" fmla="*/ 2523444 h 3074925"/>
              <a:gd name="connsiteX107" fmla="*/ 1407213 w 2617069"/>
              <a:gd name="connsiteY107" fmla="*/ 2556867 h 3074925"/>
              <a:gd name="connsiteX108" fmla="*/ 1524176 w 2617069"/>
              <a:gd name="connsiteY108" fmla="*/ 2607001 h 3074925"/>
              <a:gd name="connsiteX109" fmla="*/ 1591012 w 2617069"/>
              <a:gd name="connsiteY109" fmla="*/ 2640424 h 3074925"/>
              <a:gd name="connsiteX110" fmla="*/ 1641139 w 2617069"/>
              <a:gd name="connsiteY110" fmla="*/ 2690559 h 3074925"/>
              <a:gd name="connsiteX111" fmla="*/ 1691266 w 2617069"/>
              <a:gd name="connsiteY111" fmla="*/ 2723982 h 3074925"/>
              <a:gd name="connsiteX112" fmla="*/ 1624430 w 2617069"/>
              <a:gd name="connsiteY112" fmla="*/ 2740694 h 3074925"/>
              <a:gd name="connsiteX113" fmla="*/ 1089742 w 2617069"/>
              <a:gd name="connsiteY113" fmla="*/ 2757405 h 3074925"/>
              <a:gd name="connsiteX114" fmla="*/ 1173287 w 2617069"/>
              <a:gd name="connsiteY114" fmla="*/ 2790828 h 3074925"/>
              <a:gd name="connsiteX115" fmla="*/ 1273541 w 2617069"/>
              <a:gd name="connsiteY115" fmla="*/ 2840963 h 3074925"/>
              <a:gd name="connsiteX116" fmla="*/ 1340377 w 2617069"/>
              <a:gd name="connsiteY116" fmla="*/ 2891098 h 3074925"/>
              <a:gd name="connsiteX117" fmla="*/ 1390504 w 2617069"/>
              <a:gd name="connsiteY117" fmla="*/ 2924521 h 3074925"/>
              <a:gd name="connsiteX118" fmla="*/ 1373795 w 2617069"/>
              <a:gd name="connsiteY118" fmla="*/ 2974655 h 3074925"/>
              <a:gd name="connsiteX119" fmla="*/ 1256832 w 2617069"/>
              <a:gd name="connsiteY119" fmla="*/ 2874386 h 3074925"/>
              <a:gd name="connsiteX120" fmla="*/ 1106451 w 2617069"/>
              <a:gd name="connsiteY120" fmla="*/ 2857675 h 3074925"/>
              <a:gd name="connsiteX121" fmla="*/ 1056324 w 2617069"/>
              <a:gd name="connsiteY121" fmla="*/ 2840963 h 3074925"/>
              <a:gd name="connsiteX122" fmla="*/ 939361 w 2617069"/>
              <a:gd name="connsiteY122" fmla="*/ 2807540 h 3074925"/>
              <a:gd name="connsiteX123" fmla="*/ 805689 w 2617069"/>
              <a:gd name="connsiteY123" fmla="*/ 2757405 h 3074925"/>
              <a:gd name="connsiteX124" fmla="*/ 822398 w 2617069"/>
              <a:gd name="connsiteY124" fmla="*/ 2807540 h 3074925"/>
              <a:gd name="connsiteX125" fmla="*/ 905943 w 2617069"/>
              <a:gd name="connsiteY125" fmla="*/ 3008078 h 3074925"/>
              <a:gd name="connsiteX126" fmla="*/ 939361 w 2617069"/>
              <a:gd name="connsiteY126" fmla="*/ 3058213 h 3074925"/>
              <a:gd name="connsiteX127" fmla="*/ 989488 w 2617069"/>
              <a:gd name="connsiteY127" fmla="*/ 3074925 h 30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617069" h="3074925">
                <a:moveTo>
                  <a:pt x="1273541" y="0"/>
                </a:moveTo>
                <a:cubicBezTo>
                  <a:pt x="1245693" y="11141"/>
                  <a:pt x="1218080" y="22891"/>
                  <a:pt x="1189996" y="33424"/>
                </a:cubicBezTo>
                <a:cubicBezTo>
                  <a:pt x="1173505" y="39609"/>
                  <a:pt x="1156058" y="43196"/>
                  <a:pt x="1139869" y="50135"/>
                </a:cubicBezTo>
                <a:cubicBezTo>
                  <a:pt x="1116974" y="59948"/>
                  <a:pt x="1094659" y="71198"/>
                  <a:pt x="1073033" y="83558"/>
                </a:cubicBezTo>
                <a:cubicBezTo>
                  <a:pt x="1055597" y="93523"/>
                  <a:pt x="1041958" y="110629"/>
                  <a:pt x="1022906" y="116981"/>
                </a:cubicBezTo>
                <a:cubicBezTo>
                  <a:pt x="990766" y="127696"/>
                  <a:pt x="956070" y="128122"/>
                  <a:pt x="922652" y="133693"/>
                </a:cubicBezTo>
                <a:cubicBezTo>
                  <a:pt x="669272" y="302638"/>
                  <a:pt x="929323" y="119777"/>
                  <a:pt x="772271" y="250674"/>
                </a:cubicBezTo>
                <a:cubicBezTo>
                  <a:pt x="756844" y="263532"/>
                  <a:pt x="737571" y="271239"/>
                  <a:pt x="722144" y="284097"/>
                </a:cubicBezTo>
                <a:cubicBezTo>
                  <a:pt x="703991" y="299227"/>
                  <a:pt x="690170" y="319101"/>
                  <a:pt x="672017" y="334231"/>
                </a:cubicBezTo>
                <a:cubicBezTo>
                  <a:pt x="656590" y="347089"/>
                  <a:pt x="637317" y="354796"/>
                  <a:pt x="621890" y="367654"/>
                </a:cubicBezTo>
                <a:cubicBezTo>
                  <a:pt x="603737" y="382784"/>
                  <a:pt x="591425" y="404679"/>
                  <a:pt x="571763" y="417789"/>
                </a:cubicBezTo>
                <a:cubicBezTo>
                  <a:pt x="557109" y="427560"/>
                  <a:pt x="538345" y="428930"/>
                  <a:pt x="521636" y="434501"/>
                </a:cubicBezTo>
                <a:cubicBezTo>
                  <a:pt x="504927" y="451212"/>
                  <a:pt x="489662" y="469505"/>
                  <a:pt x="471509" y="484635"/>
                </a:cubicBezTo>
                <a:cubicBezTo>
                  <a:pt x="456082" y="497493"/>
                  <a:pt x="435581" y="503856"/>
                  <a:pt x="421382" y="518058"/>
                </a:cubicBezTo>
                <a:cubicBezTo>
                  <a:pt x="407182" y="532261"/>
                  <a:pt x="400820" y="552763"/>
                  <a:pt x="387964" y="568193"/>
                </a:cubicBezTo>
                <a:cubicBezTo>
                  <a:pt x="347760" y="616446"/>
                  <a:pt x="337000" y="618886"/>
                  <a:pt x="287710" y="651751"/>
                </a:cubicBezTo>
                <a:cubicBezTo>
                  <a:pt x="276571" y="668462"/>
                  <a:pt x="267634" y="686873"/>
                  <a:pt x="254292" y="701885"/>
                </a:cubicBezTo>
                <a:cubicBezTo>
                  <a:pt x="222894" y="737213"/>
                  <a:pt x="180253" y="762827"/>
                  <a:pt x="154038" y="802155"/>
                </a:cubicBezTo>
                <a:cubicBezTo>
                  <a:pt x="142899" y="818866"/>
                  <a:pt x="133476" y="836859"/>
                  <a:pt x="120620" y="852289"/>
                </a:cubicBezTo>
                <a:cubicBezTo>
                  <a:pt x="105493" y="870445"/>
                  <a:pt x="85620" y="884268"/>
                  <a:pt x="70493" y="902424"/>
                </a:cubicBezTo>
                <a:cubicBezTo>
                  <a:pt x="57637" y="917854"/>
                  <a:pt x="49620" y="936874"/>
                  <a:pt x="37075" y="952558"/>
                </a:cubicBezTo>
                <a:cubicBezTo>
                  <a:pt x="27234" y="964861"/>
                  <a:pt x="-12033" y="987409"/>
                  <a:pt x="3657" y="985982"/>
                </a:cubicBezTo>
                <a:cubicBezTo>
                  <a:pt x="77661" y="979254"/>
                  <a:pt x="148784" y="953872"/>
                  <a:pt x="220874" y="935847"/>
                </a:cubicBezTo>
                <a:cubicBezTo>
                  <a:pt x="237961" y="931575"/>
                  <a:pt x="255248" y="927013"/>
                  <a:pt x="271001" y="919135"/>
                </a:cubicBezTo>
                <a:cubicBezTo>
                  <a:pt x="288963" y="910153"/>
                  <a:pt x="301435" y="889651"/>
                  <a:pt x="321128" y="885712"/>
                </a:cubicBezTo>
                <a:cubicBezTo>
                  <a:pt x="386893" y="872557"/>
                  <a:pt x="454800" y="874571"/>
                  <a:pt x="521636" y="869001"/>
                </a:cubicBezTo>
                <a:cubicBezTo>
                  <a:pt x="636544" y="792384"/>
                  <a:pt x="583787" y="814858"/>
                  <a:pt x="672017" y="785443"/>
                </a:cubicBezTo>
                <a:cubicBezTo>
                  <a:pt x="694296" y="763161"/>
                  <a:pt x="715434" y="739677"/>
                  <a:pt x="738853" y="718597"/>
                </a:cubicBezTo>
                <a:cubicBezTo>
                  <a:pt x="830995" y="635656"/>
                  <a:pt x="956718" y="544407"/>
                  <a:pt x="1056324" y="484635"/>
                </a:cubicBezTo>
                <a:cubicBezTo>
                  <a:pt x="1084172" y="467924"/>
                  <a:pt x="1110821" y="449027"/>
                  <a:pt x="1139869" y="434501"/>
                </a:cubicBezTo>
                <a:cubicBezTo>
                  <a:pt x="1216691" y="396084"/>
                  <a:pt x="1215787" y="405644"/>
                  <a:pt x="1290250" y="384366"/>
                </a:cubicBezTo>
                <a:cubicBezTo>
                  <a:pt x="1331856" y="372477"/>
                  <a:pt x="1362804" y="356168"/>
                  <a:pt x="1407213" y="350943"/>
                </a:cubicBezTo>
                <a:cubicBezTo>
                  <a:pt x="1479335" y="342457"/>
                  <a:pt x="1552024" y="339802"/>
                  <a:pt x="1624430" y="334231"/>
                </a:cubicBezTo>
                <a:cubicBezTo>
                  <a:pt x="1923980" y="284299"/>
                  <a:pt x="1757284" y="297049"/>
                  <a:pt x="2125700" y="317520"/>
                </a:cubicBezTo>
                <a:cubicBezTo>
                  <a:pt x="2103421" y="334231"/>
                  <a:pt x="2083043" y="353835"/>
                  <a:pt x="2058864" y="367654"/>
                </a:cubicBezTo>
                <a:cubicBezTo>
                  <a:pt x="2043572" y="376394"/>
                  <a:pt x="2025228" y="378181"/>
                  <a:pt x="2008737" y="384366"/>
                </a:cubicBezTo>
                <a:cubicBezTo>
                  <a:pt x="1848900" y="444314"/>
                  <a:pt x="1988844" y="396568"/>
                  <a:pt x="1875065" y="434501"/>
                </a:cubicBezTo>
                <a:cubicBezTo>
                  <a:pt x="1816259" y="478612"/>
                  <a:pt x="1740992" y="525224"/>
                  <a:pt x="1691266" y="584904"/>
                </a:cubicBezTo>
                <a:cubicBezTo>
                  <a:pt x="1678410" y="600334"/>
                  <a:pt x="1666829" y="617075"/>
                  <a:pt x="1657848" y="635039"/>
                </a:cubicBezTo>
                <a:cubicBezTo>
                  <a:pt x="1649971" y="650795"/>
                  <a:pt x="1653594" y="672717"/>
                  <a:pt x="1641139" y="685174"/>
                </a:cubicBezTo>
                <a:cubicBezTo>
                  <a:pt x="1628686" y="697629"/>
                  <a:pt x="1607721" y="696315"/>
                  <a:pt x="1591012" y="701885"/>
                </a:cubicBezTo>
                <a:cubicBezTo>
                  <a:pt x="1574303" y="713026"/>
                  <a:pt x="1556312" y="722450"/>
                  <a:pt x="1540885" y="735308"/>
                </a:cubicBezTo>
                <a:cubicBezTo>
                  <a:pt x="1522732" y="750438"/>
                  <a:pt x="1511415" y="773965"/>
                  <a:pt x="1490758" y="785443"/>
                </a:cubicBezTo>
                <a:cubicBezTo>
                  <a:pt x="1459966" y="802552"/>
                  <a:pt x="1424678" y="810321"/>
                  <a:pt x="1390504" y="818866"/>
                </a:cubicBezTo>
                <a:cubicBezTo>
                  <a:pt x="1222665" y="860832"/>
                  <a:pt x="1300398" y="837764"/>
                  <a:pt x="1156578" y="885712"/>
                </a:cubicBezTo>
                <a:lnTo>
                  <a:pt x="1106451" y="902424"/>
                </a:lnTo>
                <a:cubicBezTo>
                  <a:pt x="1089742" y="907994"/>
                  <a:pt x="1072077" y="911257"/>
                  <a:pt x="1056324" y="919135"/>
                </a:cubicBezTo>
                <a:cubicBezTo>
                  <a:pt x="1034045" y="930276"/>
                  <a:pt x="1012615" y="943306"/>
                  <a:pt x="989488" y="952558"/>
                </a:cubicBezTo>
                <a:cubicBezTo>
                  <a:pt x="956782" y="965643"/>
                  <a:pt x="918543" y="966440"/>
                  <a:pt x="889234" y="985982"/>
                </a:cubicBezTo>
                <a:cubicBezTo>
                  <a:pt x="824453" y="1029176"/>
                  <a:pt x="858159" y="1013054"/>
                  <a:pt x="788980" y="1036116"/>
                </a:cubicBezTo>
                <a:cubicBezTo>
                  <a:pt x="811259" y="1047257"/>
                  <a:pt x="831059" y="1066788"/>
                  <a:pt x="855816" y="1069539"/>
                </a:cubicBezTo>
                <a:cubicBezTo>
                  <a:pt x="897210" y="1074139"/>
                  <a:pt x="1007546" y="1026807"/>
                  <a:pt x="1039615" y="1019405"/>
                </a:cubicBezTo>
                <a:cubicBezTo>
                  <a:pt x="1077990" y="1010548"/>
                  <a:pt x="1118039" y="1010808"/>
                  <a:pt x="1156578" y="1002693"/>
                </a:cubicBezTo>
                <a:cubicBezTo>
                  <a:pt x="1223993" y="988498"/>
                  <a:pt x="1289130" y="963885"/>
                  <a:pt x="1357086" y="952558"/>
                </a:cubicBezTo>
                <a:cubicBezTo>
                  <a:pt x="1485354" y="931178"/>
                  <a:pt x="1424119" y="942492"/>
                  <a:pt x="1540885" y="919135"/>
                </a:cubicBezTo>
                <a:lnTo>
                  <a:pt x="2342917" y="952558"/>
                </a:lnTo>
                <a:cubicBezTo>
                  <a:pt x="2405240" y="955897"/>
                  <a:pt x="2468831" y="961170"/>
                  <a:pt x="2526716" y="985982"/>
                </a:cubicBezTo>
                <a:cubicBezTo>
                  <a:pt x="2549610" y="995795"/>
                  <a:pt x="2571273" y="1008264"/>
                  <a:pt x="2593552" y="1019405"/>
                </a:cubicBezTo>
                <a:cubicBezTo>
                  <a:pt x="2655512" y="1205311"/>
                  <a:pt x="2618455" y="1040610"/>
                  <a:pt x="2192536" y="1086251"/>
                </a:cubicBezTo>
                <a:cubicBezTo>
                  <a:pt x="2172568" y="1088391"/>
                  <a:pt x="2160371" y="1110692"/>
                  <a:pt x="2142409" y="1119674"/>
                </a:cubicBezTo>
                <a:cubicBezTo>
                  <a:pt x="2078020" y="1151873"/>
                  <a:pt x="2058509" y="1142271"/>
                  <a:pt x="2008737" y="1186520"/>
                </a:cubicBezTo>
                <a:cubicBezTo>
                  <a:pt x="1973414" y="1217923"/>
                  <a:pt x="1947807" y="1260569"/>
                  <a:pt x="1908483" y="1286789"/>
                </a:cubicBezTo>
                <a:cubicBezTo>
                  <a:pt x="1891774" y="1297930"/>
                  <a:pt x="1877993" y="1316003"/>
                  <a:pt x="1858356" y="1320212"/>
                </a:cubicBezTo>
                <a:cubicBezTo>
                  <a:pt x="1798203" y="1333104"/>
                  <a:pt x="1735823" y="1331353"/>
                  <a:pt x="1674557" y="1336924"/>
                </a:cubicBezTo>
                <a:cubicBezTo>
                  <a:pt x="1641914" y="1345086"/>
                  <a:pt x="1553881" y="1368225"/>
                  <a:pt x="1524176" y="1370347"/>
                </a:cubicBezTo>
                <a:cubicBezTo>
                  <a:pt x="1396279" y="1379484"/>
                  <a:pt x="1267971" y="1381488"/>
                  <a:pt x="1139869" y="1387059"/>
                </a:cubicBezTo>
                <a:cubicBezTo>
                  <a:pt x="1123160" y="1398200"/>
                  <a:pt x="1102286" y="1404799"/>
                  <a:pt x="1089742" y="1420482"/>
                </a:cubicBezTo>
                <a:cubicBezTo>
                  <a:pt x="997506" y="1535793"/>
                  <a:pt x="1166556" y="1408258"/>
                  <a:pt x="1022906" y="1504039"/>
                </a:cubicBezTo>
                <a:cubicBezTo>
                  <a:pt x="1017336" y="1520751"/>
                  <a:pt x="989108" y="1549901"/>
                  <a:pt x="1006197" y="1554174"/>
                </a:cubicBezTo>
                <a:cubicBezTo>
                  <a:pt x="1035295" y="1561450"/>
                  <a:pt x="1060902" y="1528992"/>
                  <a:pt x="1089742" y="1520751"/>
                </a:cubicBezTo>
                <a:cubicBezTo>
                  <a:pt x="1207229" y="1487178"/>
                  <a:pt x="1256267" y="1485310"/>
                  <a:pt x="1373795" y="1470616"/>
                </a:cubicBezTo>
                <a:cubicBezTo>
                  <a:pt x="1496328" y="1476187"/>
                  <a:pt x="1619125" y="1477545"/>
                  <a:pt x="1741393" y="1487328"/>
                </a:cubicBezTo>
                <a:cubicBezTo>
                  <a:pt x="1758950" y="1488733"/>
                  <a:pt x="1774585" y="1499200"/>
                  <a:pt x="1791520" y="1504039"/>
                </a:cubicBezTo>
                <a:cubicBezTo>
                  <a:pt x="1813601" y="1510349"/>
                  <a:pt x="1836077" y="1515180"/>
                  <a:pt x="1858356" y="1520751"/>
                </a:cubicBezTo>
                <a:cubicBezTo>
                  <a:pt x="1875065" y="1531892"/>
                  <a:pt x="1890132" y="1546017"/>
                  <a:pt x="1908483" y="1554174"/>
                </a:cubicBezTo>
                <a:cubicBezTo>
                  <a:pt x="1940672" y="1568482"/>
                  <a:pt x="1976031" y="1574513"/>
                  <a:pt x="2008737" y="1587597"/>
                </a:cubicBezTo>
                <a:cubicBezTo>
                  <a:pt x="2031864" y="1596849"/>
                  <a:pt x="2053294" y="1609879"/>
                  <a:pt x="2075573" y="1621020"/>
                </a:cubicBezTo>
                <a:cubicBezTo>
                  <a:pt x="2092282" y="1637732"/>
                  <a:pt x="2106038" y="1658045"/>
                  <a:pt x="2125700" y="1671155"/>
                </a:cubicBezTo>
                <a:cubicBezTo>
                  <a:pt x="2140354" y="1680926"/>
                  <a:pt x="2158892" y="1683027"/>
                  <a:pt x="2175827" y="1687866"/>
                </a:cubicBezTo>
                <a:cubicBezTo>
                  <a:pt x="2294728" y="1721843"/>
                  <a:pt x="2300686" y="1708723"/>
                  <a:pt x="2476589" y="1721289"/>
                </a:cubicBezTo>
                <a:cubicBezTo>
                  <a:pt x="2493298" y="1726860"/>
                  <a:pt x="2530987" y="1720914"/>
                  <a:pt x="2526716" y="1738001"/>
                </a:cubicBezTo>
                <a:cubicBezTo>
                  <a:pt x="2519962" y="1765020"/>
                  <a:pt x="2484789" y="1775680"/>
                  <a:pt x="2459880" y="1788136"/>
                </a:cubicBezTo>
                <a:cubicBezTo>
                  <a:pt x="2439341" y="1798407"/>
                  <a:pt x="2415499" y="1800035"/>
                  <a:pt x="2393044" y="1804847"/>
                </a:cubicBezTo>
                <a:cubicBezTo>
                  <a:pt x="2337505" y="1816750"/>
                  <a:pt x="2282724" y="1836438"/>
                  <a:pt x="2225954" y="1838270"/>
                </a:cubicBezTo>
                <a:lnTo>
                  <a:pt x="1707975" y="1854982"/>
                </a:lnTo>
                <a:cubicBezTo>
                  <a:pt x="1685696" y="1860552"/>
                  <a:pt x="1663836" y="1868201"/>
                  <a:pt x="1641139" y="1871693"/>
                </a:cubicBezTo>
                <a:cubicBezTo>
                  <a:pt x="1598607" y="1878237"/>
                  <a:pt x="1359509" y="1901531"/>
                  <a:pt x="1323668" y="1905116"/>
                </a:cubicBezTo>
                <a:cubicBezTo>
                  <a:pt x="1306959" y="1910687"/>
                  <a:pt x="1287294" y="1910824"/>
                  <a:pt x="1273541" y="1921828"/>
                </a:cubicBezTo>
                <a:cubicBezTo>
                  <a:pt x="1257859" y="1934376"/>
                  <a:pt x="1257153" y="1961317"/>
                  <a:pt x="1240123" y="1971963"/>
                </a:cubicBezTo>
                <a:cubicBezTo>
                  <a:pt x="1210253" y="1990635"/>
                  <a:pt x="1110560" y="2024928"/>
                  <a:pt x="1139869" y="2005386"/>
                </a:cubicBezTo>
                <a:lnTo>
                  <a:pt x="1189996" y="1971963"/>
                </a:lnTo>
                <a:cubicBezTo>
                  <a:pt x="1362656" y="1977533"/>
                  <a:pt x="1535645" y="1976649"/>
                  <a:pt x="1707975" y="1988674"/>
                </a:cubicBezTo>
                <a:cubicBezTo>
                  <a:pt x="1775569" y="1993391"/>
                  <a:pt x="1841647" y="2010956"/>
                  <a:pt x="1908483" y="2022097"/>
                </a:cubicBezTo>
                <a:cubicBezTo>
                  <a:pt x="2031384" y="2042584"/>
                  <a:pt x="1975873" y="2030592"/>
                  <a:pt x="2075573" y="2055520"/>
                </a:cubicBezTo>
                <a:cubicBezTo>
                  <a:pt x="2180602" y="2125550"/>
                  <a:pt x="2065347" y="2051695"/>
                  <a:pt x="2192536" y="2122367"/>
                </a:cubicBezTo>
                <a:cubicBezTo>
                  <a:pt x="2263336" y="2161706"/>
                  <a:pt x="2307414" y="2193393"/>
                  <a:pt x="2376335" y="2239347"/>
                </a:cubicBezTo>
                <a:lnTo>
                  <a:pt x="2426462" y="2272770"/>
                </a:lnTo>
                <a:lnTo>
                  <a:pt x="2476589" y="2306194"/>
                </a:lnTo>
                <a:cubicBezTo>
                  <a:pt x="2459880" y="2311764"/>
                  <a:pt x="2442953" y="2316720"/>
                  <a:pt x="2426462" y="2322905"/>
                </a:cubicBezTo>
                <a:cubicBezTo>
                  <a:pt x="2398378" y="2333438"/>
                  <a:pt x="2372015" y="2349052"/>
                  <a:pt x="2342917" y="2356328"/>
                </a:cubicBezTo>
                <a:cubicBezTo>
                  <a:pt x="2304710" y="2365881"/>
                  <a:pt x="2264942" y="2367469"/>
                  <a:pt x="2225954" y="2373040"/>
                </a:cubicBezTo>
                <a:cubicBezTo>
                  <a:pt x="1986458" y="2367469"/>
                  <a:pt x="1746684" y="2369145"/>
                  <a:pt x="1507467" y="2356328"/>
                </a:cubicBezTo>
                <a:cubicBezTo>
                  <a:pt x="1056976" y="2332191"/>
                  <a:pt x="1499112" y="2302015"/>
                  <a:pt x="1123160" y="2339617"/>
                </a:cubicBezTo>
                <a:cubicBezTo>
                  <a:pt x="1128730" y="2361899"/>
                  <a:pt x="1125523" y="2388527"/>
                  <a:pt x="1139869" y="2406463"/>
                </a:cubicBezTo>
                <a:cubicBezTo>
                  <a:pt x="1150871" y="2420217"/>
                  <a:pt x="1173807" y="2416235"/>
                  <a:pt x="1189996" y="2423174"/>
                </a:cubicBezTo>
                <a:cubicBezTo>
                  <a:pt x="1212891" y="2432987"/>
                  <a:pt x="1234553" y="2445456"/>
                  <a:pt x="1256832" y="2456597"/>
                </a:cubicBezTo>
                <a:cubicBezTo>
                  <a:pt x="1293426" y="2493198"/>
                  <a:pt x="1291193" y="2495335"/>
                  <a:pt x="1340377" y="2523444"/>
                </a:cubicBezTo>
                <a:cubicBezTo>
                  <a:pt x="1362003" y="2535804"/>
                  <a:pt x="1385587" y="2544507"/>
                  <a:pt x="1407213" y="2556867"/>
                </a:cubicBezTo>
                <a:cubicBezTo>
                  <a:pt x="1496960" y="2608159"/>
                  <a:pt x="1414400" y="2579554"/>
                  <a:pt x="1524176" y="2607001"/>
                </a:cubicBezTo>
                <a:cubicBezTo>
                  <a:pt x="1546455" y="2618142"/>
                  <a:pt x="1570744" y="2625944"/>
                  <a:pt x="1591012" y="2640424"/>
                </a:cubicBezTo>
                <a:cubicBezTo>
                  <a:pt x="1610241" y="2654161"/>
                  <a:pt x="1622986" y="2675429"/>
                  <a:pt x="1641139" y="2690559"/>
                </a:cubicBezTo>
                <a:cubicBezTo>
                  <a:pt x="1656566" y="2703417"/>
                  <a:pt x="1674557" y="2712841"/>
                  <a:pt x="1691266" y="2723982"/>
                </a:cubicBezTo>
                <a:cubicBezTo>
                  <a:pt x="1668987" y="2729553"/>
                  <a:pt x="1647359" y="2739420"/>
                  <a:pt x="1624430" y="2740694"/>
                </a:cubicBezTo>
                <a:cubicBezTo>
                  <a:pt x="1446388" y="2750587"/>
                  <a:pt x="1266967" y="2737711"/>
                  <a:pt x="1089742" y="2757405"/>
                </a:cubicBezTo>
                <a:cubicBezTo>
                  <a:pt x="1059931" y="2760718"/>
                  <a:pt x="1146460" y="2777413"/>
                  <a:pt x="1173287" y="2790828"/>
                </a:cubicBezTo>
                <a:cubicBezTo>
                  <a:pt x="1302854" y="2855621"/>
                  <a:pt x="1147543" y="2798956"/>
                  <a:pt x="1273541" y="2840963"/>
                </a:cubicBezTo>
                <a:cubicBezTo>
                  <a:pt x="1295820" y="2857675"/>
                  <a:pt x="1317716" y="2874909"/>
                  <a:pt x="1340377" y="2891098"/>
                </a:cubicBezTo>
                <a:cubicBezTo>
                  <a:pt x="1356718" y="2902772"/>
                  <a:pt x="1383046" y="2905874"/>
                  <a:pt x="1390504" y="2924521"/>
                </a:cubicBezTo>
                <a:cubicBezTo>
                  <a:pt x="1397045" y="2940876"/>
                  <a:pt x="1379365" y="2957944"/>
                  <a:pt x="1373795" y="2974655"/>
                </a:cubicBezTo>
                <a:cubicBezTo>
                  <a:pt x="1359304" y="2960162"/>
                  <a:pt x="1290762" y="2882870"/>
                  <a:pt x="1256832" y="2874386"/>
                </a:cubicBezTo>
                <a:cubicBezTo>
                  <a:pt x="1207903" y="2862152"/>
                  <a:pt x="1156578" y="2863245"/>
                  <a:pt x="1106451" y="2857675"/>
                </a:cubicBezTo>
                <a:cubicBezTo>
                  <a:pt x="1089742" y="2852104"/>
                  <a:pt x="1073259" y="2845803"/>
                  <a:pt x="1056324" y="2840963"/>
                </a:cubicBezTo>
                <a:cubicBezTo>
                  <a:pt x="909432" y="2798986"/>
                  <a:pt x="1059569" y="2847614"/>
                  <a:pt x="939361" y="2807540"/>
                </a:cubicBezTo>
                <a:cubicBezTo>
                  <a:pt x="909407" y="2787568"/>
                  <a:pt x="846983" y="2736755"/>
                  <a:pt x="805689" y="2757405"/>
                </a:cubicBezTo>
                <a:cubicBezTo>
                  <a:pt x="789934" y="2765284"/>
                  <a:pt x="818577" y="2790344"/>
                  <a:pt x="822398" y="2807540"/>
                </a:cubicBezTo>
                <a:cubicBezTo>
                  <a:pt x="857365" y="2964917"/>
                  <a:pt x="806496" y="2858885"/>
                  <a:pt x="905943" y="3008078"/>
                </a:cubicBezTo>
                <a:cubicBezTo>
                  <a:pt x="917082" y="3024790"/>
                  <a:pt x="920308" y="3051861"/>
                  <a:pt x="939361" y="3058213"/>
                </a:cubicBezTo>
                <a:lnTo>
                  <a:pt x="989488" y="3074925"/>
                </a:ln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52400" y="1219200"/>
            <a:ext cx="44958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lt"/>
              </a:rPr>
              <a:t>Plasma Membrane</a:t>
            </a:r>
          </a:p>
          <a:p>
            <a:pPr marL="514350" indent="-514350" eaLnBrk="1" hangingPunct="1">
              <a:buFont typeface="+mj-lt"/>
              <a:buAutoNum type="arabicParenR"/>
            </a:pPr>
            <a:endParaRPr lang="en-US" sz="3200" dirty="0">
              <a:latin typeface="+mj-lt"/>
            </a:endParaRPr>
          </a:p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lt"/>
              </a:rPr>
              <a:t>Nucleus</a:t>
            </a:r>
          </a:p>
          <a:p>
            <a:pPr marL="514350" indent="-514350" eaLnBrk="1" hangingPunct="1">
              <a:buFont typeface="+mj-lt"/>
              <a:buAutoNum type="arabicParenR"/>
            </a:pPr>
            <a:endParaRPr lang="en-US" sz="3200" dirty="0">
              <a:latin typeface="+mj-lt"/>
            </a:endParaRPr>
          </a:p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lt"/>
              </a:rPr>
              <a:t>Cytoplasm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098B09A-DD4A-6A4B-B387-A8C26A5E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17407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625" y="1295400"/>
            <a:ext cx="8762637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Cytoplasm</a:t>
            </a:r>
            <a:r>
              <a:rPr lang="en-US" dirty="0">
                <a:latin typeface="+mj-lt"/>
              </a:rPr>
              <a:t> = </a:t>
            </a:r>
            <a:r>
              <a:rPr lang="en-US" u="sng" dirty="0">
                <a:latin typeface="+mj-lt"/>
              </a:rPr>
              <a:t>Cytosol</a:t>
            </a:r>
            <a:r>
              <a:rPr lang="en-US" dirty="0">
                <a:latin typeface="+mj-lt"/>
              </a:rPr>
              <a:t> + </a:t>
            </a:r>
            <a:r>
              <a:rPr lang="en-US" u="sng" dirty="0">
                <a:latin typeface="+mj-lt"/>
              </a:rPr>
              <a:t>Organelles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8" descr="A standard eukaryotic cell with three basic parts: the plasma membrane, the nucleus, and the cytoplasm.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1905000" y="1993546"/>
            <a:ext cx="5410200" cy="4841876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1997828" y="3860311"/>
            <a:ext cx="3132256" cy="2577031"/>
          </a:xfrm>
          <a:custGeom>
            <a:avLst/>
            <a:gdLst>
              <a:gd name="connsiteX0" fmla="*/ 0 w 3308721"/>
              <a:gd name="connsiteY0" fmla="*/ 1189768 h 2849483"/>
              <a:gd name="connsiteX1" fmla="*/ 83545 w 3308721"/>
              <a:gd name="connsiteY1" fmla="*/ 1106211 h 2849483"/>
              <a:gd name="connsiteX2" fmla="*/ 116963 w 3308721"/>
              <a:gd name="connsiteY2" fmla="*/ 1056076 h 2849483"/>
              <a:gd name="connsiteX3" fmla="*/ 334180 w 3308721"/>
              <a:gd name="connsiteY3" fmla="*/ 905672 h 2849483"/>
              <a:gd name="connsiteX4" fmla="*/ 434434 w 3308721"/>
              <a:gd name="connsiteY4" fmla="*/ 838826 h 2849483"/>
              <a:gd name="connsiteX5" fmla="*/ 517979 w 3308721"/>
              <a:gd name="connsiteY5" fmla="*/ 738557 h 2849483"/>
              <a:gd name="connsiteX6" fmla="*/ 551397 w 3308721"/>
              <a:gd name="connsiteY6" fmla="*/ 688422 h 2849483"/>
              <a:gd name="connsiteX7" fmla="*/ 751905 w 3308721"/>
              <a:gd name="connsiteY7" fmla="*/ 554730 h 2849483"/>
              <a:gd name="connsiteX8" fmla="*/ 802032 w 3308721"/>
              <a:gd name="connsiteY8" fmla="*/ 521307 h 2849483"/>
              <a:gd name="connsiteX9" fmla="*/ 852159 w 3308721"/>
              <a:gd name="connsiteY9" fmla="*/ 487884 h 2849483"/>
              <a:gd name="connsiteX10" fmla="*/ 985831 w 3308721"/>
              <a:gd name="connsiteY10" fmla="*/ 387614 h 2849483"/>
              <a:gd name="connsiteX11" fmla="*/ 1035958 w 3308721"/>
              <a:gd name="connsiteY11" fmla="*/ 370903 h 2849483"/>
              <a:gd name="connsiteX12" fmla="*/ 1203048 w 3308721"/>
              <a:gd name="connsiteY12" fmla="*/ 304057 h 2849483"/>
              <a:gd name="connsiteX13" fmla="*/ 1403556 w 3308721"/>
              <a:gd name="connsiteY13" fmla="*/ 270633 h 2849483"/>
              <a:gd name="connsiteX14" fmla="*/ 1503810 w 3308721"/>
              <a:gd name="connsiteY14" fmla="*/ 237210 h 2849483"/>
              <a:gd name="connsiteX15" fmla="*/ 1553937 w 3308721"/>
              <a:gd name="connsiteY15" fmla="*/ 203787 h 2849483"/>
              <a:gd name="connsiteX16" fmla="*/ 1654191 w 3308721"/>
              <a:gd name="connsiteY16" fmla="*/ 170364 h 2849483"/>
              <a:gd name="connsiteX17" fmla="*/ 1704318 w 3308721"/>
              <a:gd name="connsiteY17" fmla="*/ 153653 h 2849483"/>
              <a:gd name="connsiteX18" fmla="*/ 1754445 w 3308721"/>
              <a:gd name="connsiteY18" fmla="*/ 120230 h 2849483"/>
              <a:gd name="connsiteX19" fmla="*/ 1787863 w 3308721"/>
              <a:gd name="connsiteY19" fmla="*/ 86806 h 2849483"/>
              <a:gd name="connsiteX20" fmla="*/ 1854699 w 3308721"/>
              <a:gd name="connsiteY20" fmla="*/ 70095 h 2849483"/>
              <a:gd name="connsiteX21" fmla="*/ 1904826 w 3308721"/>
              <a:gd name="connsiteY21" fmla="*/ 53383 h 2849483"/>
              <a:gd name="connsiteX22" fmla="*/ 1971662 w 3308721"/>
              <a:gd name="connsiteY22" fmla="*/ 3249 h 2849483"/>
              <a:gd name="connsiteX23" fmla="*/ 2038498 w 3308721"/>
              <a:gd name="connsiteY23" fmla="*/ 19960 h 2849483"/>
              <a:gd name="connsiteX24" fmla="*/ 1971662 w 3308721"/>
              <a:gd name="connsiteY24" fmla="*/ 53383 h 2849483"/>
              <a:gd name="connsiteX25" fmla="*/ 1904826 w 3308721"/>
              <a:gd name="connsiteY25" fmla="*/ 103518 h 2849483"/>
              <a:gd name="connsiteX26" fmla="*/ 1771154 w 3308721"/>
              <a:gd name="connsiteY26" fmla="*/ 153653 h 2849483"/>
              <a:gd name="connsiteX27" fmla="*/ 1654191 w 3308721"/>
              <a:gd name="connsiteY27" fmla="*/ 220499 h 2849483"/>
              <a:gd name="connsiteX28" fmla="*/ 1587355 w 3308721"/>
              <a:gd name="connsiteY28" fmla="*/ 270633 h 2849483"/>
              <a:gd name="connsiteX29" fmla="*/ 1453683 w 3308721"/>
              <a:gd name="connsiteY29" fmla="*/ 354191 h 2849483"/>
              <a:gd name="connsiteX30" fmla="*/ 1353429 w 3308721"/>
              <a:gd name="connsiteY30" fmla="*/ 487884 h 2849483"/>
              <a:gd name="connsiteX31" fmla="*/ 1169630 w 3308721"/>
              <a:gd name="connsiteY31" fmla="*/ 671711 h 2849483"/>
              <a:gd name="connsiteX32" fmla="*/ 1102794 w 3308721"/>
              <a:gd name="connsiteY32" fmla="*/ 738557 h 2849483"/>
              <a:gd name="connsiteX33" fmla="*/ 1052667 w 3308721"/>
              <a:gd name="connsiteY33" fmla="*/ 788691 h 2849483"/>
              <a:gd name="connsiteX34" fmla="*/ 1002540 w 3308721"/>
              <a:gd name="connsiteY34" fmla="*/ 822114 h 2849483"/>
              <a:gd name="connsiteX35" fmla="*/ 969122 w 3308721"/>
              <a:gd name="connsiteY35" fmla="*/ 855538 h 2849483"/>
              <a:gd name="connsiteX36" fmla="*/ 902286 w 3308721"/>
              <a:gd name="connsiteY36" fmla="*/ 888961 h 2849483"/>
              <a:gd name="connsiteX37" fmla="*/ 852159 w 3308721"/>
              <a:gd name="connsiteY37" fmla="*/ 939095 h 2849483"/>
              <a:gd name="connsiteX38" fmla="*/ 751905 w 3308721"/>
              <a:gd name="connsiteY38" fmla="*/ 989230 h 2849483"/>
              <a:gd name="connsiteX39" fmla="*/ 651651 w 3308721"/>
              <a:gd name="connsiteY39" fmla="*/ 1089499 h 2849483"/>
              <a:gd name="connsiteX40" fmla="*/ 601524 w 3308721"/>
              <a:gd name="connsiteY40" fmla="*/ 1139634 h 2849483"/>
              <a:gd name="connsiteX41" fmla="*/ 534688 w 3308721"/>
              <a:gd name="connsiteY41" fmla="*/ 1189768 h 2849483"/>
              <a:gd name="connsiteX42" fmla="*/ 501270 w 3308721"/>
              <a:gd name="connsiteY42" fmla="*/ 1239903 h 2849483"/>
              <a:gd name="connsiteX43" fmla="*/ 384307 w 3308721"/>
              <a:gd name="connsiteY43" fmla="*/ 1323461 h 2849483"/>
              <a:gd name="connsiteX44" fmla="*/ 317471 w 3308721"/>
              <a:gd name="connsiteY44" fmla="*/ 1440442 h 2849483"/>
              <a:gd name="connsiteX45" fmla="*/ 267344 w 3308721"/>
              <a:gd name="connsiteY45" fmla="*/ 1490576 h 2849483"/>
              <a:gd name="connsiteX46" fmla="*/ 217217 w 3308721"/>
              <a:gd name="connsiteY46" fmla="*/ 1607557 h 2849483"/>
              <a:gd name="connsiteX47" fmla="*/ 183799 w 3308721"/>
              <a:gd name="connsiteY47" fmla="*/ 1707826 h 2849483"/>
              <a:gd name="connsiteX48" fmla="*/ 116963 w 3308721"/>
              <a:gd name="connsiteY48" fmla="*/ 1808096 h 2849483"/>
              <a:gd name="connsiteX49" fmla="*/ 83545 w 3308721"/>
              <a:gd name="connsiteY49" fmla="*/ 1858230 h 2849483"/>
              <a:gd name="connsiteX50" fmla="*/ 50127 w 3308721"/>
              <a:gd name="connsiteY50" fmla="*/ 1991923 h 2849483"/>
              <a:gd name="connsiteX51" fmla="*/ 100254 w 3308721"/>
              <a:gd name="connsiteY51" fmla="*/ 1925076 h 2849483"/>
              <a:gd name="connsiteX52" fmla="*/ 116963 w 3308721"/>
              <a:gd name="connsiteY52" fmla="*/ 1841519 h 2849483"/>
              <a:gd name="connsiteX53" fmla="*/ 284053 w 3308721"/>
              <a:gd name="connsiteY53" fmla="*/ 1657692 h 2849483"/>
              <a:gd name="connsiteX54" fmla="*/ 334180 w 3308721"/>
              <a:gd name="connsiteY54" fmla="*/ 1607557 h 2849483"/>
              <a:gd name="connsiteX55" fmla="*/ 467852 w 3308721"/>
              <a:gd name="connsiteY55" fmla="*/ 1540711 h 2849483"/>
              <a:gd name="connsiteX56" fmla="*/ 534688 w 3308721"/>
              <a:gd name="connsiteY56" fmla="*/ 1490576 h 2849483"/>
              <a:gd name="connsiteX57" fmla="*/ 584815 w 3308721"/>
              <a:gd name="connsiteY57" fmla="*/ 1473865 h 2849483"/>
              <a:gd name="connsiteX58" fmla="*/ 668360 w 3308721"/>
              <a:gd name="connsiteY58" fmla="*/ 1440442 h 2849483"/>
              <a:gd name="connsiteX59" fmla="*/ 852159 w 3308721"/>
              <a:gd name="connsiteY59" fmla="*/ 1356884 h 2849483"/>
              <a:gd name="connsiteX60" fmla="*/ 902286 w 3308721"/>
              <a:gd name="connsiteY60" fmla="*/ 1323461 h 2849483"/>
              <a:gd name="connsiteX61" fmla="*/ 1019249 w 3308721"/>
              <a:gd name="connsiteY61" fmla="*/ 1273326 h 2849483"/>
              <a:gd name="connsiteX62" fmla="*/ 1069376 w 3308721"/>
              <a:gd name="connsiteY62" fmla="*/ 1239903 h 2849483"/>
              <a:gd name="connsiteX63" fmla="*/ 1236466 w 3308721"/>
              <a:gd name="connsiteY63" fmla="*/ 1189768 h 2849483"/>
              <a:gd name="connsiteX64" fmla="*/ 1303302 w 3308721"/>
              <a:gd name="connsiteY64" fmla="*/ 1156345 h 2849483"/>
              <a:gd name="connsiteX65" fmla="*/ 1420265 w 3308721"/>
              <a:gd name="connsiteY65" fmla="*/ 1106211 h 2849483"/>
              <a:gd name="connsiteX66" fmla="*/ 1704318 w 3308721"/>
              <a:gd name="connsiteY66" fmla="*/ 922384 h 2849483"/>
              <a:gd name="connsiteX67" fmla="*/ 1837990 w 3308721"/>
              <a:gd name="connsiteY67" fmla="*/ 838826 h 2849483"/>
              <a:gd name="connsiteX68" fmla="*/ 1904826 w 3308721"/>
              <a:gd name="connsiteY68" fmla="*/ 788691 h 2849483"/>
              <a:gd name="connsiteX69" fmla="*/ 1954953 w 3308721"/>
              <a:gd name="connsiteY69" fmla="*/ 755268 h 2849483"/>
              <a:gd name="connsiteX70" fmla="*/ 2038498 w 3308721"/>
              <a:gd name="connsiteY70" fmla="*/ 771980 h 2849483"/>
              <a:gd name="connsiteX71" fmla="*/ 2005080 w 3308721"/>
              <a:gd name="connsiteY71" fmla="*/ 855538 h 2849483"/>
              <a:gd name="connsiteX72" fmla="*/ 1921535 w 3308721"/>
              <a:gd name="connsiteY72" fmla="*/ 922384 h 2849483"/>
              <a:gd name="connsiteX73" fmla="*/ 1854699 w 3308721"/>
              <a:gd name="connsiteY73" fmla="*/ 1005941 h 2849483"/>
              <a:gd name="connsiteX74" fmla="*/ 1804572 w 3308721"/>
              <a:gd name="connsiteY74" fmla="*/ 1056076 h 2849483"/>
              <a:gd name="connsiteX75" fmla="*/ 1754445 w 3308721"/>
              <a:gd name="connsiteY75" fmla="*/ 1122922 h 2849483"/>
              <a:gd name="connsiteX76" fmla="*/ 1704318 w 3308721"/>
              <a:gd name="connsiteY76" fmla="*/ 1173057 h 2849483"/>
              <a:gd name="connsiteX77" fmla="*/ 1654191 w 3308721"/>
              <a:gd name="connsiteY77" fmla="*/ 1256615 h 2849483"/>
              <a:gd name="connsiteX78" fmla="*/ 1604064 w 3308721"/>
              <a:gd name="connsiteY78" fmla="*/ 1290038 h 2849483"/>
              <a:gd name="connsiteX79" fmla="*/ 1520519 w 3308721"/>
              <a:gd name="connsiteY79" fmla="*/ 1373595 h 2849483"/>
              <a:gd name="connsiteX80" fmla="*/ 1386847 w 3308721"/>
              <a:gd name="connsiteY80" fmla="*/ 1473865 h 2849483"/>
              <a:gd name="connsiteX81" fmla="*/ 1320011 w 3308721"/>
              <a:gd name="connsiteY81" fmla="*/ 1540711 h 2849483"/>
              <a:gd name="connsiteX82" fmla="*/ 1186339 w 3308721"/>
              <a:gd name="connsiteY82" fmla="*/ 1640980 h 2849483"/>
              <a:gd name="connsiteX83" fmla="*/ 1069376 w 3308721"/>
              <a:gd name="connsiteY83" fmla="*/ 1757961 h 2849483"/>
              <a:gd name="connsiteX84" fmla="*/ 1035958 w 3308721"/>
              <a:gd name="connsiteY84" fmla="*/ 1824807 h 2849483"/>
              <a:gd name="connsiteX85" fmla="*/ 902286 w 3308721"/>
              <a:gd name="connsiteY85" fmla="*/ 1958499 h 2849483"/>
              <a:gd name="connsiteX86" fmla="*/ 852159 w 3308721"/>
              <a:gd name="connsiteY86" fmla="*/ 2008634 h 2849483"/>
              <a:gd name="connsiteX87" fmla="*/ 735196 w 3308721"/>
              <a:gd name="connsiteY87" fmla="*/ 2125615 h 2849483"/>
              <a:gd name="connsiteX88" fmla="*/ 685069 w 3308721"/>
              <a:gd name="connsiteY88" fmla="*/ 2175750 h 2849483"/>
              <a:gd name="connsiteX89" fmla="*/ 618233 w 3308721"/>
              <a:gd name="connsiteY89" fmla="*/ 2259307 h 2849483"/>
              <a:gd name="connsiteX90" fmla="*/ 584815 w 3308721"/>
              <a:gd name="connsiteY90" fmla="*/ 2326153 h 2849483"/>
              <a:gd name="connsiteX91" fmla="*/ 534688 w 3308721"/>
              <a:gd name="connsiteY91" fmla="*/ 2376288 h 2849483"/>
              <a:gd name="connsiteX92" fmla="*/ 501270 w 3308721"/>
              <a:gd name="connsiteY92" fmla="*/ 2426423 h 2849483"/>
              <a:gd name="connsiteX93" fmla="*/ 384307 w 3308721"/>
              <a:gd name="connsiteY93" fmla="*/ 2576827 h 2849483"/>
              <a:gd name="connsiteX94" fmla="*/ 350889 w 3308721"/>
              <a:gd name="connsiteY94" fmla="*/ 2643673 h 2849483"/>
              <a:gd name="connsiteX95" fmla="*/ 501270 w 3308721"/>
              <a:gd name="connsiteY95" fmla="*/ 2459846 h 2849483"/>
              <a:gd name="connsiteX96" fmla="*/ 701778 w 3308721"/>
              <a:gd name="connsiteY96" fmla="*/ 2292730 h 2849483"/>
              <a:gd name="connsiteX97" fmla="*/ 785323 w 3308721"/>
              <a:gd name="connsiteY97" fmla="*/ 2225884 h 2849483"/>
              <a:gd name="connsiteX98" fmla="*/ 852159 w 3308721"/>
              <a:gd name="connsiteY98" fmla="*/ 2175750 h 2849483"/>
              <a:gd name="connsiteX99" fmla="*/ 902286 w 3308721"/>
              <a:gd name="connsiteY99" fmla="*/ 2159038 h 2849483"/>
              <a:gd name="connsiteX100" fmla="*/ 969122 w 3308721"/>
              <a:gd name="connsiteY100" fmla="*/ 2108903 h 2849483"/>
              <a:gd name="connsiteX101" fmla="*/ 1152921 w 3308721"/>
              <a:gd name="connsiteY101" fmla="*/ 2058769 h 2849483"/>
              <a:gd name="connsiteX102" fmla="*/ 1236466 w 3308721"/>
              <a:gd name="connsiteY102" fmla="*/ 2125615 h 2849483"/>
              <a:gd name="connsiteX103" fmla="*/ 1320011 w 3308721"/>
              <a:gd name="connsiteY103" fmla="*/ 2025346 h 2849483"/>
              <a:gd name="connsiteX104" fmla="*/ 1420265 w 3308721"/>
              <a:gd name="connsiteY104" fmla="*/ 1941788 h 2849483"/>
              <a:gd name="connsiteX105" fmla="*/ 2038498 w 3308721"/>
              <a:gd name="connsiteY105" fmla="*/ 1523999 h 2849483"/>
              <a:gd name="connsiteX106" fmla="*/ 2138752 w 3308721"/>
              <a:gd name="connsiteY106" fmla="*/ 1457153 h 2849483"/>
              <a:gd name="connsiteX107" fmla="*/ 2322551 w 3308721"/>
              <a:gd name="connsiteY107" fmla="*/ 1356884 h 2849483"/>
              <a:gd name="connsiteX108" fmla="*/ 2439514 w 3308721"/>
              <a:gd name="connsiteY108" fmla="*/ 1306749 h 2849483"/>
              <a:gd name="connsiteX109" fmla="*/ 2372678 w 3308721"/>
              <a:gd name="connsiteY109" fmla="*/ 1407018 h 2849483"/>
              <a:gd name="connsiteX110" fmla="*/ 2305842 w 3308721"/>
              <a:gd name="connsiteY110" fmla="*/ 1507288 h 2849483"/>
              <a:gd name="connsiteX111" fmla="*/ 2239006 w 3308721"/>
              <a:gd name="connsiteY111" fmla="*/ 1574134 h 2849483"/>
              <a:gd name="connsiteX112" fmla="*/ 2188879 w 3308721"/>
              <a:gd name="connsiteY112" fmla="*/ 1657692 h 2849483"/>
              <a:gd name="connsiteX113" fmla="*/ 2155461 w 3308721"/>
              <a:gd name="connsiteY113" fmla="*/ 1707826 h 2849483"/>
              <a:gd name="connsiteX114" fmla="*/ 2105334 w 3308721"/>
              <a:gd name="connsiteY114" fmla="*/ 1774672 h 2849483"/>
              <a:gd name="connsiteX115" fmla="*/ 2071916 w 3308721"/>
              <a:gd name="connsiteY115" fmla="*/ 1824807 h 2849483"/>
              <a:gd name="connsiteX116" fmla="*/ 2021789 w 3308721"/>
              <a:gd name="connsiteY116" fmla="*/ 1874942 h 2849483"/>
              <a:gd name="connsiteX117" fmla="*/ 1971662 w 3308721"/>
              <a:gd name="connsiteY117" fmla="*/ 1941788 h 2849483"/>
              <a:gd name="connsiteX118" fmla="*/ 1837990 w 3308721"/>
              <a:gd name="connsiteY118" fmla="*/ 2075480 h 2849483"/>
              <a:gd name="connsiteX119" fmla="*/ 1804572 w 3308721"/>
              <a:gd name="connsiteY119" fmla="*/ 2142326 h 2849483"/>
              <a:gd name="connsiteX120" fmla="*/ 1771154 w 3308721"/>
              <a:gd name="connsiteY120" fmla="*/ 2175750 h 2849483"/>
              <a:gd name="connsiteX121" fmla="*/ 1670900 w 3308721"/>
              <a:gd name="connsiteY121" fmla="*/ 2309442 h 2849483"/>
              <a:gd name="connsiteX122" fmla="*/ 1637482 w 3308721"/>
              <a:gd name="connsiteY122" fmla="*/ 2359577 h 2849483"/>
              <a:gd name="connsiteX123" fmla="*/ 1604064 w 3308721"/>
              <a:gd name="connsiteY123" fmla="*/ 2459846 h 2849483"/>
              <a:gd name="connsiteX124" fmla="*/ 1587355 w 3308721"/>
              <a:gd name="connsiteY124" fmla="*/ 2509980 h 2849483"/>
              <a:gd name="connsiteX125" fmla="*/ 1503810 w 3308721"/>
              <a:gd name="connsiteY125" fmla="*/ 2727230 h 2849483"/>
              <a:gd name="connsiteX126" fmla="*/ 1487101 w 3308721"/>
              <a:gd name="connsiteY126" fmla="*/ 2844211 h 2849483"/>
              <a:gd name="connsiteX127" fmla="*/ 1537228 w 3308721"/>
              <a:gd name="connsiteY127" fmla="*/ 2827500 h 2849483"/>
              <a:gd name="connsiteX128" fmla="*/ 1604064 w 3308721"/>
              <a:gd name="connsiteY128" fmla="*/ 2710519 h 2849483"/>
              <a:gd name="connsiteX129" fmla="*/ 1620773 w 3308721"/>
              <a:gd name="connsiteY129" fmla="*/ 2660384 h 2849483"/>
              <a:gd name="connsiteX130" fmla="*/ 1670900 w 3308721"/>
              <a:gd name="connsiteY130" fmla="*/ 2610250 h 2849483"/>
              <a:gd name="connsiteX131" fmla="*/ 1704318 w 3308721"/>
              <a:gd name="connsiteY131" fmla="*/ 2560115 h 2849483"/>
              <a:gd name="connsiteX132" fmla="*/ 1804572 w 3308721"/>
              <a:gd name="connsiteY132" fmla="*/ 2443134 h 2849483"/>
              <a:gd name="connsiteX133" fmla="*/ 1871408 w 3308721"/>
              <a:gd name="connsiteY133" fmla="*/ 2393000 h 2849483"/>
              <a:gd name="connsiteX134" fmla="*/ 1971662 w 3308721"/>
              <a:gd name="connsiteY134" fmla="*/ 2292730 h 2849483"/>
              <a:gd name="connsiteX135" fmla="*/ 2055207 w 3308721"/>
              <a:gd name="connsiteY135" fmla="*/ 2276019 h 2849483"/>
              <a:gd name="connsiteX136" fmla="*/ 2105334 w 3308721"/>
              <a:gd name="connsiteY136" fmla="*/ 2259307 h 2849483"/>
              <a:gd name="connsiteX137" fmla="*/ 2138752 w 3308721"/>
              <a:gd name="connsiteY137" fmla="*/ 2209173 h 2849483"/>
              <a:gd name="connsiteX138" fmla="*/ 2188879 w 3308721"/>
              <a:gd name="connsiteY138" fmla="*/ 2192461 h 2849483"/>
              <a:gd name="connsiteX139" fmla="*/ 2255715 w 3308721"/>
              <a:gd name="connsiteY139" fmla="*/ 2092192 h 2849483"/>
              <a:gd name="connsiteX140" fmla="*/ 2305842 w 3308721"/>
              <a:gd name="connsiteY140" fmla="*/ 1975211 h 2849483"/>
              <a:gd name="connsiteX141" fmla="*/ 2339260 w 3308721"/>
              <a:gd name="connsiteY141" fmla="*/ 1908365 h 2849483"/>
              <a:gd name="connsiteX142" fmla="*/ 2355969 w 3308721"/>
              <a:gd name="connsiteY142" fmla="*/ 1841519 h 2849483"/>
              <a:gd name="connsiteX143" fmla="*/ 2372678 w 3308721"/>
              <a:gd name="connsiteY143" fmla="*/ 1791384 h 2849483"/>
              <a:gd name="connsiteX144" fmla="*/ 2389387 w 3308721"/>
              <a:gd name="connsiteY144" fmla="*/ 1707826 h 2849483"/>
              <a:gd name="connsiteX145" fmla="*/ 2439514 w 3308721"/>
              <a:gd name="connsiteY145" fmla="*/ 1523999 h 2849483"/>
              <a:gd name="connsiteX146" fmla="*/ 2472932 w 3308721"/>
              <a:gd name="connsiteY146" fmla="*/ 2526692 h 2849483"/>
              <a:gd name="connsiteX147" fmla="*/ 2506350 w 3308721"/>
              <a:gd name="connsiteY147" fmla="*/ 2476557 h 2849483"/>
              <a:gd name="connsiteX148" fmla="*/ 2573186 w 3308721"/>
              <a:gd name="connsiteY148" fmla="*/ 2426423 h 2849483"/>
              <a:gd name="connsiteX149" fmla="*/ 2606604 w 3308721"/>
              <a:gd name="connsiteY149" fmla="*/ 2359577 h 2849483"/>
              <a:gd name="connsiteX150" fmla="*/ 2640022 w 3308721"/>
              <a:gd name="connsiteY150" fmla="*/ 2326153 h 2849483"/>
              <a:gd name="connsiteX151" fmla="*/ 2673440 w 3308721"/>
              <a:gd name="connsiteY151" fmla="*/ 2209173 h 2849483"/>
              <a:gd name="connsiteX152" fmla="*/ 2690149 w 3308721"/>
              <a:gd name="connsiteY152" fmla="*/ 2159038 h 2849483"/>
              <a:gd name="connsiteX153" fmla="*/ 2756985 w 3308721"/>
              <a:gd name="connsiteY153" fmla="*/ 1874942 h 2849483"/>
              <a:gd name="connsiteX154" fmla="*/ 2773694 w 3308721"/>
              <a:gd name="connsiteY154" fmla="*/ 1791384 h 2849483"/>
              <a:gd name="connsiteX155" fmla="*/ 2840530 w 3308721"/>
              <a:gd name="connsiteY155" fmla="*/ 1674403 h 2849483"/>
              <a:gd name="connsiteX156" fmla="*/ 2857239 w 3308721"/>
              <a:gd name="connsiteY156" fmla="*/ 1624269 h 2849483"/>
              <a:gd name="connsiteX157" fmla="*/ 2924075 w 3308721"/>
              <a:gd name="connsiteY157" fmla="*/ 1707826 h 2849483"/>
              <a:gd name="connsiteX158" fmla="*/ 2957493 w 3308721"/>
              <a:gd name="connsiteY158" fmla="*/ 2326153 h 2849483"/>
              <a:gd name="connsiteX159" fmla="*/ 2990911 w 3308721"/>
              <a:gd name="connsiteY159" fmla="*/ 2142326 h 2849483"/>
              <a:gd name="connsiteX160" fmla="*/ 3057747 w 3308721"/>
              <a:gd name="connsiteY160" fmla="*/ 1958499 h 2849483"/>
              <a:gd name="connsiteX161" fmla="*/ 3091165 w 3308721"/>
              <a:gd name="connsiteY161" fmla="*/ 1841519 h 2849483"/>
              <a:gd name="connsiteX162" fmla="*/ 3141292 w 3308721"/>
              <a:gd name="connsiteY162" fmla="*/ 1674403 h 2849483"/>
              <a:gd name="connsiteX163" fmla="*/ 3158001 w 3308721"/>
              <a:gd name="connsiteY163" fmla="*/ 1874942 h 2849483"/>
              <a:gd name="connsiteX164" fmla="*/ 3208128 w 3308721"/>
              <a:gd name="connsiteY164" fmla="*/ 1925076 h 2849483"/>
              <a:gd name="connsiteX165" fmla="*/ 3241546 w 3308721"/>
              <a:gd name="connsiteY165" fmla="*/ 1975211 h 2849483"/>
              <a:gd name="connsiteX166" fmla="*/ 3291673 w 3308721"/>
              <a:gd name="connsiteY166" fmla="*/ 1925076 h 2849483"/>
              <a:gd name="connsiteX167" fmla="*/ 3308382 w 3308721"/>
              <a:gd name="connsiteY167" fmla="*/ 1457153 h 284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308721" h="2849483">
                <a:moveTo>
                  <a:pt x="0" y="1189768"/>
                </a:moveTo>
                <a:cubicBezTo>
                  <a:pt x="27848" y="1161916"/>
                  <a:pt x="57611" y="1135854"/>
                  <a:pt x="83545" y="1106211"/>
                </a:cubicBezTo>
                <a:cubicBezTo>
                  <a:pt x="96769" y="1091095"/>
                  <a:pt x="102763" y="1070279"/>
                  <a:pt x="116963" y="1056076"/>
                </a:cubicBezTo>
                <a:cubicBezTo>
                  <a:pt x="180698" y="992332"/>
                  <a:pt x="259902" y="955198"/>
                  <a:pt x="334180" y="905672"/>
                </a:cubicBezTo>
                <a:lnTo>
                  <a:pt x="434434" y="838826"/>
                </a:lnTo>
                <a:cubicBezTo>
                  <a:pt x="517406" y="714348"/>
                  <a:pt x="410767" y="867231"/>
                  <a:pt x="517979" y="738557"/>
                </a:cubicBezTo>
                <a:cubicBezTo>
                  <a:pt x="530835" y="723127"/>
                  <a:pt x="535854" y="701141"/>
                  <a:pt x="551397" y="688422"/>
                </a:cubicBezTo>
                <a:lnTo>
                  <a:pt x="751905" y="554730"/>
                </a:lnTo>
                <a:lnTo>
                  <a:pt x="802032" y="521307"/>
                </a:lnTo>
                <a:cubicBezTo>
                  <a:pt x="818741" y="510166"/>
                  <a:pt x="837960" y="502086"/>
                  <a:pt x="852159" y="487884"/>
                </a:cubicBezTo>
                <a:cubicBezTo>
                  <a:pt x="891743" y="448293"/>
                  <a:pt x="929148" y="406511"/>
                  <a:pt x="985831" y="387614"/>
                </a:cubicBezTo>
                <a:cubicBezTo>
                  <a:pt x="1002540" y="382044"/>
                  <a:pt x="1019769" y="377842"/>
                  <a:pt x="1035958" y="370903"/>
                </a:cubicBezTo>
                <a:cubicBezTo>
                  <a:pt x="1132763" y="329409"/>
                  <a:pt x="1081338" y="334490"/>
                  <a:pt x="1203048" y="304057"/>
                </a:cubicBezTo>
                <a:cubicBezTo>
                  <a:pt x="1313447" y="276452"/>
                  <a:pt x="1247097" y="290194"/>
                  <a:pt x="1403556" y="270633"/>
                </a:cubicBezTo>
                <a:cubicBezTo>
                  <a:pt x="1436974" y="259492"/>
                  <a:pt x="1474501" y="256752"/>
                  <a:pt x="1503810" y="237210"/>
                </a:cubicBezTo>
                <a:cubicBezTo>
                  <a:pt x="1520519" y="226069"/>
                  <a:pt x="1535586" y="211944"/>
                  <a:pt x="1553937" y="203787"/>
                </a:cubicBezTo>
                <a:cubicBezTo>
                  <a:pt x="1586126" y="189479"/>
                  <a:pt x="1620773" y="181505"/>
                  <a:pt x="1654191" y="170364"/>
                </a:cubicBezTo>
                <a:lnTo>
                  <a:pt x="1704318" y="153653"/>
                </a:lnTo>
                <a:cubicBezTo>
                  <a:pt x="1721027" y="142512"/>
                  <a:pt x="1738764" y="132777"/>
                  <a:pt x="1754445" y="120230"/>
                </a:cubicBezTo>
                <a:cubicBezTo>
                  <a:pt x="1766747" y="110387"/>
                  <a:pt x="1773772" y="93853"/>
                  <a:pt x="1787863" y="86806"/>
                </a:cubicBezTo>
                <a:cubicBezTo>
                  <a:pt x="1808402" y="76535"/>
                  <a:pt x="1832618" y="76405"/>
                  <a:pt x="1854699" y="70095"/>
                </a:cubicBezTo>
                <a:cubicBezTo>
                  <a:pt x="1871634" y="65256"/>
                  <a:pt x="1888117" y="58954"/>
                  <a:pt x="1904826" y="53383"/>
                </a:cubicBezTo>
                <a:cubicBezTo>
                  <a:pt x="1927105" y="36672"/>
                  <a:pt x="1944644" y="10005"/>
                  <a:pt x="1971662" y="3249"/>
                </a:cubicBezTo>
                <a:cubicBezTo>
                  <a:pt x="1993941" y="-2321"/>
                  <a:pt x="2038498" y="-3004"/>
                  <a:pt x="2038498" y="19960"/>
                </a:cubicBezTo>
                <a:cubicBezTo>
                  <a:pt x="2038498" y="44869"/>
                  <a:pt x="1992784" y="40180"/>
                  <a:pt x="1971662" y="53383"/>
                </a:cubicBezTo>
                <a:cubicBezTo>
                  <a:pt x="1948046" y="68145"/>
                  <a:pt x="1928442" y="88756"/>
                  <a:pt x="1904826" y="103518"/>
                </a:cubicBezTo>
                <a:cubicBezTo>
                  <a:pt x="1846577" y="139929"/>
                  <a:pt x="1835302" y="137613"/>
                  <a:pt x="1771154" y="153653"/>
                </a:cubicBezTo>
                <a:cubicBezTo>
                  <a:pt x="1658605" y="266217"/>
                  <a:pt x="1788833" y="153168"/>
                  <a:pt x="1654191" y="220499"/>
                </a:cubicBezTo>
                <a:cubicBezTo>
                  <a:pt x="1629282" y="232955"/>
                  <a:pt x="1610970" y="255871"/>
                  <a:pt x="1587355" y="270633"/>
                </a:cubicBezTo>
                <a:cubicBezTo>
                  <a:pt x="1528651" y="307329"/>
                  <a:pt x="1503504" y="299379"/>
                  <a:pt x="1453683" y="354191"/>
                </a:cubicBezTo>
                <a:cubicBezTo>
                  <a:pt x="1416217" y="395410"/>
                  <a:pt x="1392814" y="448494"/>
                  <a:pt x="1353429" y="487884"/>
                </a:cubicBezTo>
                <a:lnTo>
                  <a:pt x="1169630" y="671711"/>
                </a:lnTo>
                <a:lnTo>
                  <a:pt x="1102794" y="738557"/>
                </a:lnTo>
                <a:cubicBezTo>
                  <a:pt x="1086085" y="755268"/>
                  <a:pt x="1072329" y="775581"/>
                  <a:pt x="1052667" y="788691"/>
                </a:cubicBezTo>
                <a:cubicBezTo>
                  <a:pt x="1035958" y="799832"/>
                  <a:pt x="1018221" y="809567"/>
                  <a:pt x="1002540" y="822114"/>
                </a:cubicBezTo>
                <a:cubicBezTo>
                  <a:pt x="990238" y="831957"/>
                  <a:pt x="982230" y="846798"/>
                  <a:pt x="969122" y="855538"/>
                </a:cubicBezTo>
                <a:cubicBezTo>
                  <a:pt x="948397" y="869357"/>
                  <a:pt x="922554" y="874482"/>
                  <a:pt x="902286" y="888961"/>
                </a:cubicBezTo>
                <a:cubicBezTo>
                  <a:pt x="883057" y="902698"/>
                  <a:pt x="870312" y="923965"/>
                  <a:pt x="852159" y="939095"/>
                </a:cubicBezTo>
                <a:cubicBezTo>
                  <a:pt x="808971" y="975090"/>
                  <a:pt x="802145" y="972480"/>
                  <a:pt x="751905" y="989230"/>
                </a:cubicBezTo>
                <a:lnTo>
                  <a:pt x="651651" y="1089499"/>
                </a:lnTo>
                <a:cubicBezTo>
                  <a:pt x="634942" y="1106211"/>
                  <a:pt x="620429" y="1125454"/>
                  <a:pt x="601524" y="1139634"/>
                </a:cubicBezTo>
                <a:lnTo>
                  <a:pt x="534688" y="1189768"/>
                </a:lnTo>
                <a:cubicBezTo>
                  <a:pt x="523549" y="1206480"/>
                  <a:pt x="516698" y="1227044"/>
                  <a:pt x="501270" y="1239903"/>
                </a:cubicBezTo>
                <a:cubicBezTo>
                  <a:pt x="372264" y="1347425"/>
                  <a:pt x="490976" y="1195439"/>
                  <a:pt x="384307" y="1323461"/>
                </a:cubicBezTo>
                <a:cubicBezTo>
                  <a:pt x="305373" y="1418196"/>
                  <a:pt x="399188" y="1326020"/>
                  <a:pt x="317471" y="1440442"/>
                </a:cubicBezTo>
                <a:cubicBezTo>
                  <a:pt x="303737" y="1459673"/>
                  <a:pt x="284053" y="1473865"/>
                  <a:pt x="267344" y="1490576"/>
                </a:cubicBezTo>
                <a:cubicBezTo>
                  <a:pt x="223143" y="1667406"/>
                  <a:pt x="283155" y="1459174"/>
                  <a:pt x="217217" y="1607557"/>
                </a:cubicBezTo>
                <a:cubicBezTo>
                  <a:pt x="202910" y="1639752"/>
                  <a:pt x="203339" y="1678511"/>
                  <a:pt x="183799" y="1707826"/>
                </a:cubicBezTo>
                <a:lnTo>
                  <a:pt x="116963" y="1808096"/>
                </a:lnTo>
                <a:lnTo>
                  <a:pt x="83545" y="1858230"/>
                </a:lnTo>
                <a:cubicBezTo>
                  <a:pt x="77505" y="1876352"/>
                  <a:pt x="38605" y="1986161"/>
                  <a:pt x="50127" y="1991923"/>
                </a:cubicBezTo>
                <a:cubicBezTo>
                  <a:pt x="75037" y="2004380"/>
                  <a:pt x="83545" y="1947358"/>
                  <a:pt x="100254" y="1925076"/>
                </a:cubicBezTo>
                <a:cubicBezTo>
                  <a:pt x="105824" y="1897224"/>
                  <a:pt x="105429" y="1867475"/>
                  <a:pt x="116963" y="1841519"/>
                </a:cubicBezTo>
                <a:cubicBezTo>
                  <a:pt x="139153" y="1791583"/>
                  <a:pt x="268203" y="1673545"/>
                  <a:pt x="284053" y="1657692"/>
                </a:cubicBezTo>
                <a:cubicBezTo>
                  <a:pt x="300762" y="1640980"/>
                  <a:pt x="313044" y="1618127"/>
                  <a:pt x="334180" y="1607557"/>
                </a:cubicBezTo>
                <a:cubicBezTo>
                  <a:pt x="378737" y="1585275"/>
                  <a:pt x="428000" y="1570605"/>
                  <a:pt x="467852" y="1540711"/>
                </a:cubicBezTo>
                <a:cubicBezTo>
                  <a:pt x="490131" y="1523999"/>
                  <a:pt x="510508" y="1504395"/>
                  <a:pt x="534688" y="1490576"/>
                </a:cubicBezTo>
                <a:cubicBezTo>
                  <a:pt x="549980" y="1481836"/>
                  <a:pt x="568324" y="1480050"/>
                  <a:pt x="584815" y="1473865"/>
                </a:cubicBezTo>
                <a:cubicBezTo>
                  <a:pt x="612899" y="1463332"/>
                  <a:pt x="641127" y="1453013"/>
                  <a:pt x="668360" y="1440442"/>
                </a:cubicBezTo>
                <a:cubicBezTo>
                  <a:pt x="862611" y="1350773"/>
                  <a:pt x="738923" y="1394634"/>
                  <a:pt x="852159" y="1356884"/>
                </a:cubicBezTo>
                <a:cubicBezTo>
                  <a:pt x="868868" y="1345743"/>
                  <a:pt x="884324" y="1332443"/>
                  <a:pt x="902286" y="1323461"/>
                </a:cubicBezTo>
                <a:cubicBezTo>
                  <a:pt x="1089748" y="1229715"/>
                  <a:pt x="775855" y="1412429"/>
                  <a:pt x="1019249" y="1273326"/>
                </a:cubicBezTo>
                <a:cubicBezTo>
                  <a:pt x="1036685" y="1263361"/>
                  <a:pt x="1051025" y="1248060"/>
                  <a:pt x="1069376" y="1239903"/>
                </a:cubicBezTo>
                <a:cubicBezTo>
                  <a:pt x="1275046" y="1148481"/>
                  <a:pt x="1080936" y="1248101"/>
                  <a:pt x="1236466" y="1189768"/>
                </a:cubicBezTo>
                <a:cubicBezTo>
                  <a:pt x="1259789" y="1181021"/>
                  <a:pt x="1280407" y="1166158"/>
                  <a:pt x="1303302" y="1156345"/>
                </a:cubicBezTo>
                <a:cubicBezTo>
                  <a:pt x="1406828" y="1111970"/>
                  <a:pt x="1295576" y="1175494"/>
                  <a:pt x="1420265" y="1106211"/>
                </a:cubicBezTo>
                <a:cubicBezTo>
                  <a:pt x="1494797" y="1064798"/>
                  <a:pt x="1669449" y="950283"/>
                  <a:pt x="1704318" y="922384"/>
                </a:cubicBezTo>
                <a:cubicBezTo>
                  <a:pt x="1801616" y="844534"/>
                  <a:pt x="1754028" y="866818"/>
                  <a:pt x="1837990" y="838826"/>
                </a:cubicBezTo>
                <a:cubicBezTo>
                  <a:pt x="1860269" y="822114"/>
                  <a:pt x="1882165" y="804880"/>
                  <a:pt x="1904826" y="788691"/>
                </a:cubicBezTo>
                <a:cubicBezTo>
                  <a:pt x="1921167" y="777017"/>
                  <a:pt x="1935025" y="757759"/>
                  <a:pt x="1954953" y="755268"/>
                </a:cubicBezTo>
                <a:cubicBezTo>
                  <a:pt x="1983134" y="751745"/>
                  <a:pt x="2010650" y="766409"/>
                  <a:pt x="2038498" y="771980"/>
                </a:cubicBezTo>
                <a:cubicBezTo>
                  <a:pt x="2027359" y="799833"/>
                  <a:pt x="2023495" y="831858"/>
                  <a:pt x="2005080" y="855538"/>
                </a:cubicBezTo>
                <a:cubicBezTo>
                  <a:pt x="1983186" y="883692"/>
                  <a:pt x="1946752" y="897163"/>
                  <a:pt x="1921535" y="922384"/>
                </a:cubicBezTo>
                <a:cubicBezTo>
                  <a:pt x="1896317" y="947606"/>
                  <a:pt x="1878183" y="979098"/>
                  <a:pt x="1854699" y="1005941"/>
                </a:cubicBezTo>
                <a:cubicBezTo>
                  <a:pt x="1839139" y="1023727"/>
                  <a:pt x="1819950" y="1038132"/>
                  <a:pt x="1804572" y="1056076"/>
                </a:cubicBezTo>
                <a:cubicBezTo>
                  <a:pt x="1786448" y="1077223"/>
                  <a:pt x="1772569" y="1101775"/>
                  <a:pt x="1754445" y="1122922"/>
                </a:cubicBezTo>
                <a:cubicBezTo>
                  <a:pt x="1739067" y="1140866"/>
                  <a:pt x="1718496" y="1154150"/>
                  <a:pt x="1704318" y="1173057"/>
                </a:cubicBezTo>
                <a:cubicBezTo>
                  <a:pt x="1684832" y="1199043"/>
                  <a:pt x="1675327" y="1231953"/>
                  <a:pt x="1654191" y="1256615"/>
                </a:cubicBezTo>
                <a:cubicBezTo>
                  <a:pt x="1641123" y="1271864"/>
                  <a:pt x="1619177" y="1276812"/>
                  <a:pt x="1604064" y="1290038"/>
                </a:cubicBezTo>
                <a:cubicBezTo>
                  <a:pt x="1574425" y="1315976"/>
                  <a:pt x="1550584" y="1348151"/>
                  <a:pt x="1520519" y="1373595"/>
                </a:cubicBezTo>
                <a:cubicBezTo>
                  <a:pt x="1478001" y="1409577"/>
                  <a:pt x="1426230" y="1434476"/>
                  <a:pt x="1386847" y="1473865"/>
                </a:cubicBezTo>
                <a:cubicBezTo>
                  <a:pt x="1364568" y="1496147"/>
                  <a:pt x="1344216" y="1520538"/>
                  <a:pt x="1320011" y="1540711"/>
                </a:cubicBezTo>
                <a:cubicBezTo>
                  <a:pt x="1277224" y="1576372"/>
                  <a:pt x="1225722" y="1601591"/>
                  <a:pt x="1186339" y="1640980"/>
                </a:cubicBezTo>
                <a:cubicBezTo>
                  <a:pt x="1147351" y="1679974"/>
                  <a:pt x="1094033" y="1708640"/>
                  <a:pt x="1069376" y="1757961"/>
                </a:cubicBezTo>
                <a:cubicBezTo>
                  <a:pt x="1058237" y="1780243"/>
                  <a:pt x="1051904" y="1805668"/>
                  <a:pt x="1035958" y="1824807"/>
                </a:cubicBezTo>
                <a:cubicBezTo>
                  <a:pt x="995618" y="1873222"/>
                  <a:pt x="946843" y="1913935"/>
                  <a:pt x="902286" y="1958499"/>
                </a:cubicBezTo>
                <a:lnTo>
                  <a:pt x="852159" y="2008634"/>
                </a:lnTo>
                <a:lnTo>
                  <a:pt x="735196" y="2125615"/>
                </a:lnTo>
                <a:cubicBezTo>
                  <a:pt x="718487" y="2142327"/>
                  <a:pt x="699830" y="2157295"/>
                  <a:pt x="685069" y="2175750"/>
                </a:cubicBezTo>
                <a:cubicBezTo>
                  <a:pt x="662790" y="2203602"/>
                  <a:pt x="638015" y="2229629"/>
                  <a:pt x="618233" y="2259307"/>
                </a:cubicBezTo>
                <a:cubicBezTo>
                  <a:pt x="604416" y="2280035"/>
                  <a:pt x="599293" y="2305881"/>
                  <a:pt x="584815" y="2326153"/>
                </a:cubicBezTo>
                <a:cubicBezTo>
                  <a:pt x="571081" y="2345384"/>
                  <a:pt x="549815" y="2358132"/>
                  <a:pt x="534688" y="2376288"/>
                </a:cubicBezTo>
                <a:cubicBezTo>
                  <a:pt x="521832" y="2391718"/>
                  <a:pt x="514126" y="2410993"/>
                  <a:pt x="501270" y="2426423"/>
                </a:cubicBezTo>
                <a:cubicBezTo>
                  <a:pt x="432503" y="2508955"/>
                  <a:pt x="447658" y="2450106"/>
                  <a:pt x="384307" y="2576827"/>
                </a:cubicBezTo>
                <a:cubicBezTo>
                  <a:pt x="373168" y="2599109"/>
                  <a:pt x="333275" y="2661289"/>
                  <a:pt x="350889" y="2643673"/>
                </a:cubicBezTo>
                <a:cubicBezTo>
                  <a:pt x="406864" y="2587689"/>
                  <a:pt x="440456" y="2510532"/>
                  <a:pt x="501270" y="2459846"/>
                </a:cubicBezTo>
                <a:lnTo>
                  <a:pt x="701778" y="2292730"/>
                </a:lnTo>
                <a:cubicBezTo>
                  <a:pt x="729307" y="2270055"/>
                  <a:pt x="757172" y="2247782"/>
                  <a:pt x="785323" y="2225884"/>
                </a:cubicBezTo>
                <a:cubicBezTo>
                  <a:pt x="807305" y="2208784"/>
                  <a:pt x="825739" y="2184558"/>
                  <a:pt x="852159" y="2175750"/>
                </a:cubicBezTo>
                <a:lnTo>
                  <a:pt x="902286" y="2159038"/>
                </a:lnTo>
                <a:cubicBezTo>
                  <a:pt x="924565" y="2142326"/>
                  <a:pt x="944213" y="2121359"/>
                  <a:pt x="969122" y="2108903"/>
                </a:cubicBezTo>
                <a:cubicBezTo>
                  <a:pt x="1025654" y="2080632"/>
                  <a:pt x="1091804" y="2070994"/>
                  <a:pt x="1152921" y="2058769"/>
                </a:cubicBezTo>
                <a:cubicBezTo>
                  <a:pt x="1180769" y="2081051"/>
                  <a:pt x="1201493" y="2132611"/>
                  <a:pt x="1236466" y="2125615"/>
                </a:cubicBezTo>
                <a:cubicBezTo>
                  <a:pt x="1279125" y="2117082"/>
                  <a:pt x="1289251" y="2056111"/>
                  <a:pt x="1320011" y="2025346"/>
                </a:cubicBezTo>
                <a:cubicBezTo>
                  <a:pt x="1350770" y="1994582"/>
                  <a:pt x="1385330" y="1967712"/>
                  <a:pt x="1420265" y="1941788"/>
                </a:cubicBezTo>
                <a:cubicBezTo>
                  <a:pt x="1984394" y="1523177"/>
                  <a:pt x="1652077" y="1760181"/>
                  <a:pt x="2038498" y="1523999"/>
                </a:cubicBezTo>
                <a:cubicBezTo>
                  <a:pt x="2072769" y="1503052"/>
                  <a:pt x="2104546" y="1478206"/>
                  <a:pt x="2138752" y="1457153"/>
                </a:cubicBezTo>
                <a:cubicBezTo>
                  <a:pt x="2452211" y="1264226"/>
                  <a:pt x="2118552" y="1473472"/>
                  <a:pt x="2322551" y="1356884"/>
                </a:cubicBezTo>
                <a:cubicBezTo>
                  <a:pt x="2412299" y="1305592"/>
                  <a:pt x="2329737" y="1334198"/>
                  <a:pt x="2439514" y="1306749"/>
                </a:cubicBezTo>
                <a:cubicBezTo>
                  <a:pt x="2407558" y="1402633"/>
                  <a:pt x="2445691" y="1313130"/>
                  <a:pt x="2372678" y="1407018"/>
                </a:cubicBezTo>
                <a:cubicBezTo>
                  <a:pt x="2348020" y="1438726"/>
                  <a:pt x="2334243" y="1478883"/>
                  <a:pt x="2305842" y="1507288"/>
                </a:cubicBezTo>
                <a:cubicBezTo>
                  <a:pt x="2283563" y="1529570"/>
                  <a:pt x="2258349" y="1549261"/>
                  <a:pt x="2239006" y="1574134"/>
                </a:cubicBezTo>
                <a:cubicBezTo>
                  <a:pt x="2219067" y="1599774"/>
                  <a:pt x="2206092" y="1630148"/>
                  <a:pt x="2188879" y="1657692"/>
                </a:cubicBezTo>
                <a:cubicBezTo>
                  <a:pt x="2178236" y="1674724"/>
                  <a:pt x="2167133" y="1691482"/>
                  <a:pt x="2155461" y="1707826"/>
                </a:cubicBezTo>
                <a:cubicBezTo>
                  <a:pt x="2139274" y="1730490"/>
                  <a:pt x="2121520" y="1752008"/>
                  <a:pt x="2105334" y="1774672"/>
                </a:cubicBezTo>
                <a:cubicBezTo>
                  <a:pt x="2093662" y="1791016"/>
                  <a:pt x="2084772" y="1809377"/>
                  <a:pt x="2071916" y="1824807"/>
                </a:cubicBezTo>
                <a:cubicBezTo>
                  <a:pt x="2056789" y="1842963"/>
                  <a:pt x="2037167" y="1856998"/>
                  <a:pt x="2021789" y="1874942"/>
                </a:cubicBezTo>
                <a:cubicBezTo>
                  <a:pt x="2003665" y="1896089"/>
                  <a:pt x="1990480" y="1921256"/>
                  <a:pt x="1971662" y="1941788"/>
                </a:cubicBezTo>
                <a:cubicBezTo>
                  <a:pt x="1929082" y="1988245"/>
                  <a:pt x="1866169" y="2019113"/>
                  <a:pt x="1837990" y="2075480"/>
                </a:cubicBezTo>
                <a:cubicBezTo>
                  <a:pt x="1826851" y="2097762"/>
                  <a:pt x="1818389" y="2121598"/>
                  <a:pt x="1804572" y="2142326"/>
                </a:cubicBezTo>
                <a:cubicBezTo>
                  <a:pt x="1795834" y="2155435"/>
                  <a:pt x="1780995" y="2163447"/>
                  <a:pt x="1771154" y="2175750"/>
                </a:cubicBezTo>
                <a:cubicBezTo>
                  <a:pt x="1736361" y="2219249"/>
                  <a:pt x="1701794" y="2263093"/>
                  <a:pt x="1670900" y="2309442"/>
                </a:cubicBezTo>
                <a:cubicBezTo>
                  <a:pt x="1659761" y="2326154"/>
                  <a:pt x="1645638" y="2341224"/>
                  <a:pt x="1637482" y="2359577"/>
                </a:cubicBezTo>
                <a:cubicBezTo>
                  <a:pt x="1623175" y="2391772"/>
                  <a:pt x="1615203" y="2426423"/>
                  <a:pt x="1604064" y="2459846"/>
                </a:cubicBezTo>
                <a:cubicBezTo>
                  <a:pt x="1598494" y="2476557"/>
                  <a:pt x="1594508" y="2493883"/>
                  <a:pt x="1587355" y="2509980"/>
                </a:cubicBezTo>
                <a:cubicBezTo>
                  <a:pt x="1544281" y="2606912"/>
                  <a:pt x="1519971" y="2638332"/>
                  <a:pt x="1503810" y="2727230"/>
                </a:cubicBezTo>
                <a:cubicBezTo>
                  <a:pt x="1496765" y="2765984"/>
                  <a:pt x="1474647" y="2806842"/>
                  <a:pt x="1487101" y="2844211"/>
                </a:cubicBezTo>
                <a:cubicBezTo>
                  <a:pt x="1492670" y="2860920"/>
                  <a:pt x="1520519" y="2833070"/>
                  <a:pt x="1537228" y="2827500"/>
                </a:cubicBezTo>
                <a:cubicBezTo>
                  <a:pt x="1570789" y="2777150"/>
                  <a:pt x="1578625" y="2769885"/>
                  <a:pt x="1604064" y="2710519"/>
                </a:cubicBezTo>
                <a:cubicBezTo>
                  <a:pt x="1611002" y="2694328"/>
                  <a:pt x="1611003" y="2675042"/>
                  <a:pt x="1620773" y="2660384"/>
                </a:cubicBezTo>
                <a:cubicBezTo>
                  <a:pt x="1633880" y="2640720"/>
                  <a:pt x="1655773" y="2628406"/>
                  <a:pt x="1670900" y="2610250"/>
                </a:cubicBezTo>
                <a:cubicBezTo>
                  <a:pt x="1683756" y="2594820"/>
                  <a:pt x="1692646" y="2576459"/>
                  <a:pt x="1704318" y="2560115"/>
                </a:cubicBezTo>
                <a:cubicBezTo>
                  <a:pt x="1739070" y="2511454"/>
                  <a:pt x="1759829" y="2481491"/>
                  <a:pt x="1804572" y="2443134"/>
                </a:cubicBezTo>
                <a:cubicBezTo>
                  <a:pt x="1825716" y="2425008"/>
                  <a:pt x="1851717" y="2412694"/>
                  <a:pt x="1871408" y="2393000"/>
                </a:cubicBezTo>
                <a:cubicBezTo>
                  <a:pt x="1919306" y="2345095"/>
                  <a:pt x="1908657" y="2316360"/>
                  <a:pt x="1971662" y="2292730"/>
                </a:cubicBezTo>
                <a:cubicBezTo>
                  <a:pt x="1998253" y="2282757"/>
                  <a:pt x="2027655" y="2282908"/>
                  <a:pt x="2055207" y="2276019"/>
                </a:cubicBezTo>
                <a:cubicBezTo>
                  <a:pt x="2072294" y="2271747"/>
                  <a:pt x="2088625" y="2264878"/>
                  <a:pt x="2105334" y="2259307"/>
                </a:cubicBezTo>
                <a:cubicBezTo>
                  <a:pt x="2116473" y="2242596"/>
                  <a:pt x="2123070" y="2221720"/>
                  <a:pt x="2138752" y="2209173"/>
                </a:cubicBezTo>
                <a:cubicBezTo>
                  <a:pt x="2152505" y="2198169"/>
                  <a:pt x="2176426" y="2204916"/>
                  <a:pt x="2188879" y="2192461"/>
                </a:cubicBezTo>
                <a:cubicBezTo>
                  <a:pt x="2217280" y="2164056"/>
                  <a:pt x="2237754" y="2128120"/>
                  <a:pt x="2255715" y="2092192"/>
                </a:cubicBezTo>
                <a:cubicBezTo>
                  <a:pt x="2366547" y="1870496"/>
                  <a:pt x="2232085" y="2147336"/>
                  <a:pt x="2305842" y="1975211"/>
                </a:cubicBezTo>
                <a:cubicBezTo>
                  <a:pt x="2315654" y="1952313"/>
                  <a:pt x="2330514" y="1931691"/>
                  <a:pt x="2339260" y="1908365"/>
                </a:cubicBezTo>
                <a:cubicBezTo>
                  <a:pt x="2347323" y="1886859"/>
                  <a:pt x="2349660" y="1863603"/>
                  <a:pt x="2355969" y="1841519"/>
                </a:cubicBezTo>
                <a:cubicBezTo>
                  <a:pt x="2360808" y="1824581"/>
                  <a:pt x="2368406" y="1808474"/>
                  <a:pt x="2372678" y="1791384"/>
                </a:cubicBezTo>
                <a:cubicBezTo>
                  <a:pt x="2379566" y="1763828"/>
                  <a:pt x="2383001" y="1735503"/>
                  <a:pt x="2389387" y="1707826"/>
                </a:cubicBezTo>
                <a:cubicBezTo>
                  <a:pt x="2417654" y="1585318"/>
                  <a:pt x="2411895" y="1606870"/>
                  <a:pt x="2439514" y="1523999"/>
                </a:cubicBezTo>
                <a:cubicBezTo>
                  <a:pt x="2535418" y="1907672"/>
                  <a:pt x="2407796" y="1375786"/>
                  <a:pt x="2472932" y="2526692"/>
                </a:cubicBezTo>
                <a:cubicBezTo>
                  <a:pt x="2474067" y="2546744"/>
                  <a:pt x="2492150" y="2490760"/>
                  <a:pt x="2506350" y="2476557"/>
                </a:cubicBezTo>
                <a:cubicBezTo>
                  <a:pt x="2526041" y="2456863"/>
                  <a:pt x="2550907" y="2443134"/>
                  <a:pt x="2573186" y="2426423"/>
                </a:cubicBezTo>
                <a:cubicBezTo>
                  <a:pt x="2584325" y="2404141"/>
                  <a:pt x="2592787" y="2380305"/>
                  <a:pt x="2606604" y="2359577"/>
                </a:cubicBezTo>
                <a:cubicBezTo>
                  <a:pt x="2615342" y="2346468"/>
                  <a:pt x="2631917" y="2339663"/>
                  <a:pt x="2640022" y="2326153"/>
                </a:cubicBezTo>
                <a:cubicBezTo>
                  <a:pt x="2650948" y="2307939"/>
                  <a:pt x="2669468" y="2223078"/>
                  <a:pt x="2673440" y="2209173"/>
                </a:cubicBezTo>
                <a:cubicBezTo>
                  <a:pt x="2678279" y="2192235"/>
                  <a:pt x="2685515" y="2176033"/>
                  <a:pt x="2690149" y="2159038"/>
                </a:cubicBezTo>
                <a:cubicBezTo>
                  <a:pt x="2714264" y="2070603"/>
                  <a:pt x="2737929" y="1963883"/>
                  <a:pt x="2756985" y="1874942"/>
                </a:cubicBezTo>
                <a:cubicBezTo>
                  <a:pt x="2762936" y="1847168"/>
                  <a:pt x="2764713" y="1818331"/>
                  <a:pt x="2773694" y="1791384"/>
                </a:cubicBezTo>
                <a:cubicBezTo>
                  <a:pt x="2802987" y="1703492"/>
                  <a:pt x="2803861" y="1747751"/>
                  <a:pt x="2840530" y="1674403"/>
                </a:cubicBezTo>
                <a:cubicBezTo>
                  <a:pt x="2848407" y="1658647"/>
                  <a:pt x="2851669" y="1640980"/>
                  <a:pt x="2857239" y="1624269"/>
                </a:cubicBezTo>
                <a:cubicBezTo>
                  <a:pt x="2899272" y="1652295"/>
                  <a:pt x="2920971" y="1651945"/>
                  <a:pt x="2924075" y="1707826"/>
                </a:cubicBezTo>
                <a:cubicBezTo>
                  <a:pt x="2960127" y="2356866"/>
                  <a:pt x="2893856" y="2071569"/>
                  <a:pt x="2957493" y="2326153"/>
                </a:cubicBezTo>
                <a:cubicBezTo>
                  <a:pt x="2969261" y="2243767"/>
                  <a:pt x="2969425" y="2213956"/>
                  <a:pt x="2990911" y="2142326"/>
                </a:cubicBezTo>
                <a:cubicBezTo>
                  <a:pt x="3026013" y="2025301"/>
                  <a:pt x="3017889" y="2064804"/>
                  <a:pt x="3057747" y="1958499"/>
                </a:cubicBezTo>
                <a:cubicBezTo>
                  <a:pt x="3085824" y="1883615"/>
                  <a:pt x="3064830" y="1929314"/>
                  <a:pt x="3091165" y="1841519"/>
                </a:cubicBezTo>
                <a:cubicBezTo>
                  <a:pt x="3152185" y="1638088"/>
                  <a:pt x="3102779" y="1828476"/>
                  <a:pt x="3141292" y="1674403"/>
                </a:cubicBezTo>
                <a:cubicBezTo>
                  <a:pt x="3146862" y="1741249"/>
                  <a:pt x="3140720" y="1810128"/>
                  <a:pt x="3158001" y="1874942"/>
                </a:cubicBezTo>
                <a:cubicBezTo>
                  <a:pt x="3164089" y="1897776"/>
                  <a:pt x="3193001" y="1906920"/>
                  <a:pt x="3208128" y="1925076"/>
                </a:cubicBezTo>
                <a:cubicBezTo>
                  <a:pt x="3220984" y="1940506"/>
                  <a:pt x="3230407" y="1958499"/>
                  <a:pt x="3241546" y="1975211"/>
                </a:cubicBezTo>
                <a:cubicBezTo>
                  <a:pt x="3258255" y="1958499"/>
                  <a:pt x="3286805" y="1948201"/>
                  <a:pt x="3291673" y="1925076"/>
                </a:cubicBezTo>
                <a:cubicBezTo>
                  <a:pt x="3312551" y="1825890"/>
                  <a:pt x="3308382" y="1571150"/>
                  <a:pt x="3308382" y="1457153"/>
                </a:cubicBez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767865" y="2247384"/>
            <a:ext cx="2477492" cy="2780917"/>
          </a:xfrm>
          <a:custGeom>
            <a:avLst/>
            <a:gdLst>
              <a:gd name="connsiteX0" fmla="*/ 1273541 w 2617069"/>
              <a:gd name="connsiteY0" fmla="*/ 0 h 3074925"/>
              <a:gd name="connsiteX1" fmla="*/ 1189996 w 2617069"/>
              <a:gd name="connsiteY1" fmla="*/ 33424 h 3074925"/>
              <a:gd name="connsiteX2" fmla="*/ 1139869 w 2617069"/>
              <a:gd name="connsiteY2" fmla="*/ 50135 h 3074925"/>
              <a:gd name="connsiteX3" fmla="*/ 1073033 w 2617069"/>
              <a:gd name="connsiteY3" fmla="*/ 83558 h 3074925"/>
              <a:gd name="connsiteX4" fmla="*/ 1022906 w 2617069"/>
              <a:gd name="connsiteY4" fmla="*/ 116981 h 3074925"/>
              <a:gd name="connsiteX5" fmla="*/ 922652 w 2617069"/>
              <a:gd name="connsiteY5" fmla="*/ 133693 h 3074925"/>
              <a:gd name="connsiteX6" fmla="*/ 772271 w 2617069"/>
              <a:gd name="connsiteY6" fmla="*/ 250674 h 3074925"/>
              <a:gd name="connsiteX7" fmla="*/ 722144 w 2617069"/>
              <a:gd name="connsiteY7" fmla="*/ 284097 h 3074925"/>
              <a:gd name="connsiteX8" fmla="*/ 672017 w 2617069"/>
              <a:gd name="connsiteY8" fmla="*/ 334231 h 3074925"/>
              <a:gd name="connsiteX9" fmla="*/ 621890 w 2617069"/>
              <a:gd name="connsiteY9" fmla="*/ 367654 h 3074925"/>
              <a:gd name="connsiteX10" fmla="*/ 571763 w 2617069"/>
              <a:gd name="connsiteY10" fmla="*/ 417789 h 3074925"/>
              <a:gd name="connsiteX11" fmla="*/ 521636 w 2617069"/>
              <a:gd name="connsiteY11" fmla="*/ 434501 h 3074925"/>
              <a:gd name="connsiteX12" fmla="*/ 471509 w 2617069"/>
              <a:gd name="connsiteY12" fmla="*/ 484635 h 3074925"/>
              <a:gd name="connsiteX13" fmla="*/ 421382 w 2617069"/>
              <a:gd name="connsiteY13" fmla="*/ 518058 h 3074925"/>
              <a:gd name="connsiteX14" fmla="*/ 387964 w 2617069"/>
              <a:gd name="connsiteY14" fmla="*/ 568193 h 3074925"/>
              <a:gd name="connsiteX15" fmla="*/ 287710 w 2617069"/>
              <a:gd name="connsiteY15" fmla="*/ 651751 h 3074925"/>
              <a:gd name="connsiteX16" fmla="*/ 254292 w 2617069"/>
              <a:gd name="connsiteY16" fmla="*/ 701885 h 3074925"/>
              <a:gd name="connsiteX17" fmla="*/ 154038 w 2617069"/>
              <a:gd name="connsiteY17" fmla="*/ 802155 h 3074925"/>
              <a:gd name="connsiteX18" fmla="*/ 120620 w 2617069"/>
              <a:gd name="connsiteY18" fmla="*/ 852289 h 3074925"/>
              <a:gd name="connsiteX19" fmla="*/ 70493 w 2617069"/>
              <a:gd name="connsiteY19" fmla="*/ 902424 h 3074925"/>
              <a:gd name="connsiteX20" fmla="*/ 37075 w 2617069"/>
              <a:gd name="connsiteY20" fmla="*/ 952558 h 3074925"/>
              <a:gd name="connsiteX21" fmla="*/ 3657 w 2617069"/>
              <a:gd name="connsiteY21" fmla="*/ 985982 h 3074925"/>
              <a:gd name="connsiteX22" fmla="*/ 220874 w 2617069"/>
              <a:gd name="connsiteY22" fmla="*/ 935847 h 3074925"/>
              <a:gd name="connsiteX23" fmla="*/ 271001 w 2617069"/>
              <a:gd name="connsiteY23" fmla="*/ 919135 h 3074925"/>
              <a:gd name="connsiteX24" fmla="*/ 321128 w 2617069"/>
              <a:gd name="connsiteY24" fmla="*/ 885712 h 3074925"/>
              <a:gd name="connsiteX25" fmla="*/ 521636 w 2617069"/>
              <a:gd name="connsiteY25" fmla="*/ 869001 h 3074925"/>
              <a:gd name="connsiteX26" fmla="*/ 672017 w 2617069"/>
              <a:gd name="connsiteY26" fmla="*/ 785443 h 3074925"/>
              <a:gd name="connsiteX27" fmla="*/ 738853 w 2617069"/>
              <a:gd name="connsiteY27" fmla="*/ 718597 h 3074925"/>
              <a:gd name="connsiteX28" fmla="*/ 1056324 w 2617069"/>
              <a:gd name="connsiteY28" fmla="*/ 484635 h 3074925"/>
              <a:gd name="connsiteX29" fmla="*/ 1139869 w 2617069"/>
              <a:gd name="connsiteY29" fmla="*/ 434501 h 3074925"/>
              <a:gd name="connsiteX30" fmla="*/ 1290250 w 2617069"/>
              <a:gd name="connsiteY30" fmla="*/ 384366 h 3074925"/>
              <a:gd name="connsiteX31" fmla="*/ 1407213 w 2617069"/>
              <a:gd name="connsiteY31" fmla="*/ 350943 h 3074925"/>
              <a:gd name="connsiteX32" fmla="*/ 1624430 w 2617069"/>
              <a:gd name="connsiteY32" fmla="*/ 334231 h 3074925"/>
              <a:gd name="connsiteX33" fmla="*/ 2125700 w 2617069"/>
              <a:gd name="connsiteY33" fmla="*/ 317520 h 3074925"/>
              <a:gd name="connsiteX34" fmla="*/ 2058864 w 2617069"/>
              <a:gd name="connsiteY34" fmla="*/ 367654 h 3074925"/>
              <a:gd name="connsiteX35" fmla="*/ 2008737 w 2617069"/>
              <a:gd name="connsiteY35" fmla="*/ 384366 h 3074925"/>
              <a:gd name="connsiteX36" fmla="*/ 1875065 w 2617069"/>
              <a:gd name="connsiteY36" fmla="*/ 434501 h 3074925"/>
              <a:gd name="connsiteX37" fmla="*/ 1691266 w 2617069"/>
              <a:gd name="connsiteY37" fmla="*/ 584904 h 3074925"/>
              <a:gd name="connsiteX38" fmla="*/ 1657848 w 2617069"/>
              <a:gd name="connsiteY38" fmla="*/ 635039 h 3074925"/>
              <a:gd name="connsiteX39" fmla="*/ 1641139 w 2617069"/>
              <a:gd name="connsiteY39" fmla="*/ 685174 h 3074925"/>
              <a:gd name="connsiteX40" fmla="*/ 1591012 w 2617069"/>
              <a:gd name="connsiteY40" fmla="*/ 701885 h 3074925"/>
              <a:gd name="connsiteX41" fmla="*/ 1540885 w 2617069"/>
              <a:gd name="connsiteY41" fmla="*/ 735308 h 3074925"/>
              <a:gd name="connsiteX42" fmla="*/ 1490758 w 2617069"/>
              <a:gd name="connsiteY42" fmla="*/ 785443 h 3074925"/>
              <a:gd name="connsiteX43" fmla="*/ 1390504 w 2617069"/>
              <a:gd name="connsiteY43" fmla="*/ 818866 h 3074925"/>
              <a:gd name="connsiteX44" fmla="*/ 1156578 w 2617069"/>
              <a:gd name="connsiteY44" fmla="*/ 885712 h 3074925"/>
              <a:gd name="connsiteX45" fmla="*/ 1106451 w 2617069"/>
              <a:gd name="connsiteY45" fmla="*/ 902424 h 3074925"/>
              <a:gd name="connsiteX46" fmla="*/ 1056324 w 2617069"/>
              <a:gd name="connsiteY46" fmla="*/ 919135 h 3074925"/>
              <a:gd name="connsiteX47" fmla="*/ 989488 w 2617069"/>
              <a:gd name="connsiteY47" fmla="*/ 952558 h 3074925"/>
              <a:gd name="connsiteX48" fmla="*/ 889234 w 2617069"/>
              <a:gd name="connsiteY48" fmla="*/ 985982 h 3074925"/>
              <a:gd name="connsiteX49" fmla="*/ 788980 w 2617069"/>
              <a:gd name="connsiteY49" fmla="*/ 1036116 h 3074925"/>
              <a:gd name="connsiteX50" fmla="*/ 855816 w 2617069"/>
              <a:gd name="connsiteY50" fmla="*/ 1069539 h 3074925"/>
              <a:gd name="connsiteX51" fmla="*/ 1039615 w 2617069"/>
              <a:gd name="connsiteY51" fmla="*/ 1019405 h 3074925"/>
              <a:gd name="connsiteX52" fmla="*/ 1156578 w 2617069"/>
              <a:gd name="connsiteY52" fmla="*/ 1002693 h 3074925"/>
              <a:gd name="connsiteX53" fmla="*/ 1357086 w 2617069"/>
              <a:gd name="connsiteY53" fmla="*/ 952558 h 3074925"/>
              <a:gd name="connsiteX54" fmla="*/ 1540885 w 2617069"/>
              <a:gd name="connsiteY54" fmla="*/ 919135 h 3074925"/>
              <a:gd name="connsiteX55" fmla="*/ 2342917 w 2617069"/>
              <a:gd name="connsiteY55" fmla="*/ 952558 h 3074925"/>
              <a:gd name="connsiteX56" fmla="*/ 2526716 w 2617069"/>
              <a:gd name="connsiteY56" fmla="*/ 985982 h 3074925"/>
              <a:gd name="connsiteX57" fmla="*/ 2593552 w 2617069"/>
              <a:gd name="connsiteY57" fmla="*/ 1019405 h 3074925"/>
              <a:gd name="connsiteX58" fmla="*/ 2192536 w 2617069"/>
              <a:gd name="connsiteY58" fmla="*/ 1086251 h 3074925"/>
              <a:gd name="connsiteX59" fmla="*/ 2142409 w 2617069"/>
              <a:gd name="connsiteY59" fmla="*/ 1119674 h 3074925"/>
              <a:gd name="connsiteX60" fmla="*/ 2008737 w 2617069"/>
              <a:gd name="connsiteY60" fmla="*/ 1186520 h 3074925"/>
              <a:gd name="connsiteX61" fmla="*/ 1908483 w 2617069"/>
              <a:gd name="connsiteY61" fmla="*/ 1286789 h 3074925"/>
              <a:gd name="connsiteX62" fmla="*/ 1858356 w 2617069"/>
              <a:gd name="connsiteY62" fmla="*/ 1320212 h 3074925"/>
              <a:gd name="connsiteX63" fmla="*/ 1674557 w 2617069"/>
              <a:gd name="connsiteY63" fmla="*/ 1336924 h 3074925"/>
              <a:gd name="connsiteX64" fmla="*/ 1524176 w 2617069"/>
              <a:gd name="connsiteY64" fmla="*/ 1370347 h 3074925"/>
              <a:gd name="connsiteX65" fmla="*/ 1139869 w 2617069"/>
              <a:gd name="connsiteY65" fmla="*/ 1387059 h 3074925"/>
              <a:gd name="connsiteX66" fmla="*/ 1089742 w 2617069"/>
              <a:gd name="connsiteY66" fmla="*/ 1420482 h 3074925"/>
              <a:gd name="connsiteX67" fmla="*/ 1022906 w 2617069"/>
              <a:gd name="connsiteY67" fmla="*/ 1504039 h 3074925"/>
              <a:gd name="connsiteX68" fmla="*/ 1006197 w 2617069"/>
              <a:gd name="connsiteY68" fmla="*/ 1554174 h 3074925"/>
              <a:gd name="connsiteX69" fmla="*/ 1089742 w 2617069"/>
              <a:gd name="connsiteY69" fmla="*/ 1520751 h 3074925"/>
              <a:gd name="connsiteX70" fmla="*/ 1373795 w 2617069"/>
              <a:gd name="connsiteY70" fmla="*/ 1470616 h 3074925"/>
              <a:gd name="connsiteX71" fmla="*/ 1741393 w 2617069"/>
              <a:gd name="connsiteY71" fmla="*/ 1487328 h 3074925"/>
              <a:gd name="connsiteX72" fmla="*/ 1791520 w 2617069"/>
              <a:gd name="connsiteY72" fmla="*/ 1504039 h 3074925"/>
              <a:gd name="connsiteX73" fmla="*/ 1858356 w 2617069"/>
              <a:gd name="connsiteY73" fmla="*/ 1520751 h 3074925"/>
              <a:gd name="connsiteX74" fmla="*/ 1908483 w 2617069"/>
              <a:gd name="connsiteY74" fmla="*/ 1554174 h 3074925"/>
              <a:gd name="connsiteX75" fmla="*/ 2008737 w 2617069"/>
              <a:gd name="connsiteY75" fmla="*/ 1587597 h 3074925"/>
              <a:gd name="connsiteX76" fmla="*/ 2075573 w 2617069"/>
              <a:gd name="connsiteY76" fmla="*/ 1621020 h 3074925"/>
              <a:gd name="connsiteX77" fmla="*/ 2125700 w 2617069"/>
              <a:gd name="connsiteY77" fmla="*/ 1671155 h 3074925"/>
              <a:gd name="connsiteX78" fmla="*/ 2175827 w 2617069"/>
              <a:gd name="connsiteY78" fmla="*/ 1687866 h 3074925"/>
              <a:gd name="connsiteX79" fmla="*/ 2476589 w 2617069"/>
              <a:gd name="connsiteY79" fmla="*/ 1721289 h 3074925"/>
              <a:gd name="connsiteX80" fmla="*/ 2526716 w 2617069"/>
              <a:gd name="connsiteY80" fmla="*/ 1738001 h 3074925"/>
              <a:gd name="connsiteX81" fmla="*/ 2459880 w 2617069"/>
              <a:gd name="connsiteY81" fmla="*/ 1788136 h 3074925"/>
              <a:gd name="connsiteX82" fmla="*/ 2393044 w 2617069"/>
              <a:gd name="connsiteY82" fmla="*/ 1804847 h 3074925"/>
              <a:gd name="connsiteX83" fmla="*/ 2225954 w 2617069"/>
              <a:gd name="connsiteY83" fmla="*/ 1838270 h 3074925"/>
              <a:gd name="connsiteX84" fmla="*/ 1707975 w 2617069"/>
              <a:gd name="connsiteY84" fmla="*/ 1854982 h 3074925"/>
              <a:gd name="connsiteX85" fmla="*/ 1641139 w 2617069"/>
              <a:gd name="connsiteY85" fmla="*/ 1871693 h 3074925"/>
              <a:gd name="connsiteX86" fmla="*/ 1323668 w 2617069"/>
              <a:gd name="connsiteY86" fmla="*/ 1905116 h 3074925"/>
              <a:gd name="connsiteX87" fmla="*/ 1273541 w 2617069"/>
              <a:gd name="connsiteY87" fmla="*/ 1921828 h 3074925"/>
              <a:gd name="connsiteX88" fmla="*/ 1240123 w 2617069"/>
              <a:gd name="connsiteY88" fmla="*/ 1971963 h 3074925"/>
              <a:gd name="connsiteX89" fmla="*/ 1139869 w 2617069"/>
              <a:gd name="connsiteY89" fmla="*/ 2005386 h 3074925"/>
              <a:gd name="connsiteX90" fmla="*/ 1189996 w 2617069"/>
              <a:gd name="connsiteY90" fmla="*/ 1971963 h 3074925"/>
              <a:gd name="connsiteX91" fmla="*/ 1707975 w 2617069"/>
              <a:gd name="connsiteY91" fmla="*/ 1988674 h 3074925"/>
              <a:gd name="connsiteX92" fmla="*/ 1908483 w 2617069"/>
              <a:gd name="connsiteY92" fmla="*/ 2022097 h 3074925"/>
              <a:gd name="connsiteX93" fmla="*/ 2075573 w 2617069"/>
              <a:gd name="connsiteY93" fmla="*/ 2055520 h 3074925"/>
              <a:gd name="connsiteX94" fmla="*/ 2192536 w 2617069"/>
              <a:gd name="connsiteY94" fmla="*/ 2122367 h 3074925"/>
              <a:gd name="connsiteX95" fmla="*/ 2376335 w 2617069"/>
              <a:gd name="connsiteY95" fmla="*/ 2239347 h 3074925"/>
              <a:gd name="connsiteX96" fmla="*/ 2426462 w 2617069"/>
              <a:gd name="connsiteY96" fmla="*/ 2272770 h 3074925"/>
              <a:gd name="connsiteX97" fmla="*/ 2476589 w 2617069"/>
              <a:gd name="connsiteY97" fmla="*/ 2306194 h 3074925"/>
              <a:gd name="connsiteX98" fmla="*/ 2426462 w 2617069"/>
              <a:gd name="connsiteY98" fmla="*/ 2322905 h 3074925"/>
              <a:gd name="connsiteX99" fmla="*/ 2342917 w 2617069"/>
              <a:gd name="connsiteY99" fmla="*/ 2356328 h 3074925"/>
              <a:gd name="connsiteX100" fmla="*/ 2225954 w 2617069"/>
              <a:gd name="connsiteY100" fmla="*/ 2373040 h 3074925"/>
              <a:gd name="connsiteX101" fmla="*/ 1507467 w 2617069"/>
              <a:gd name="connsiteY101" fmla="*/ 2356328 h 3074925"/>
              <a:gd name="connsiteX102" fmla="*/ 1123160 w 2617069"/>
              <a:gd name="connsiteY102" fmla="*/ 2339617 h 3074925"/>
              <a:gd name="connsiteX103" fmla="*/ 1139869 w 2617069"/>
              <a:gd name="connsiteY103" fmla="*/ 2406463 h 3074925"/>
              <a:gd name="connsiteX104" fmla="*/ 1189996 w 2617069"/>
              <a:gd name="connsiteY104" fmla="*/ 2423174 h 3074925"/>
              <a:gd name="connsiteX105" fmla="*/ 1256832 w 2617069"/>
              <a:gd name="connsiteY105" fmla="*/ 2456597 h 3074925"/>
              <a:gd name="connsiteX106" fmla="*/ 1340377 w 2617069"/>
              <a:gd name="connsiteY106" fmla="*/ 2523444 h 3074925"/>
              <a:gd name="connsiteX107" fmla="*/ 1407213 w 2617069"/>
              <a:gd name="connsiteY107" fmla="*/ 2556867 h 3074925"/>
              <a:gd name="connsiteX108" fmla="*/ 1524176 w 2617069"/>
              <a:gd name="connsiteY108" fmla="*/ 2607001 h 3074925"/>
              <a:gd name="connsiteX109" fmla="*/ 1591012 w 2617069"/>
              <a:gd name="connsiteY109" fmla="*/ 2640424 h 3074925"/>
              <a:gd name="connsiteX110" fmla="*/ 1641139 w 2617069"/>
              <a:gd name="connsiteY110" fmla="*/ 2690559 h 3074925"/>
              <a:gd name="connsiteX111" fmla="*/ 1691266 w 2617069"/>
              <a:gd name="connsiteY111" fmla="*/ 2723982 h 3074925"/>
              <a:gd name="connsiteX112" fmla="*/ 1624430 w 2617069"/>
              <a:gd name="connsiteY112" fmla="*/ 2740694 h 3074925"/>
              <a:gd name="connsiteX113" fmla="*/ 1089742 w 2617069"/>
              <a:gd name="connsiteY113" fmla="*/ 2757405 h 3074925"/>
              <a:gd name="connsiteX114" fmla="*/ 1173287 w 2617069"/>
              <a:gd name="connsiteY114" fmla="*/ 2790828 h 3074925"/>
              <a:gd name="connsiteX115" fmla="*/ 1273541 w 2617069"/>
              <a:gd name="connsiteY115" fmla="*/ 2840963 h 3074925"/>
              <a:gd name="connsiteX116" fmla="*/ 1340377 w 2617069"/>
              <a:gd name="connsiteY116" fmla="*/ 2891098 h 3074925"/>
              <a:gd name="connsiteX117" fmla="*/ 1390504 w 2617069"/>
              <a:gd name="connsiteY117" fmla="*/ 2924521 h 3074925"/>
              <a:gd name="connsiteX118" fmla="*/ 1373795 w 2617069"/>
              <a:gd name="connsiteY118" fmla="*/ 2974655 h 3074925"/>
              <a:gd name="connsiteX119" fmla="*/ 1256832 w 2617069"/>
              <a:gd name="connsiteY119" fmla="*/ 2874386 h 3074925"/>
              <a:gd name="connsiteX120" fmla="*/ 1106451 w 2617069"/>
              <a:gd name="connsiteY120" fmla="*/ 2857675 h 3074925"/>
              <a:gd name="connsiteX121" fmla="*/ 1056324 w 2617069"/>
              <a:gd name="connsiteY121" fmla="*/ 2840963 h 3074925"/>
              <a:gd name="connsiteX122" fmla="*/ 939361 w 2617069"/>
              <a:gd name="connsiteY122" fmla="*/ 2807540 h 3074925"/>
              <a:gd name="connsiteX123" fmla="*/ 805689 w 2617069"/>
              <a:gd name="connsiteY123" fmla="*/ 2757405 h 3074925"/>
              <a:gd name="connsiteX124" fmla="*/ 822398 w 2617069"/>
              <a:gd name="connsiteY124" fmla="*/ 2807540 h 3074925"/>
              <a:gd name="connsiteX125" fmla="*/ 905943 w 2617069"/>
              <a:gd name="connsiteY125" fmla="*/ 3008078 h 3074925"/>
              <a:gd name="connsiteX126" fmla="*/ 939361 w 2617069"/>
              <a:gd name="connsiteY126" fmla="*/ 3058213 h 3074925"/>
              <a:gd name="connsiteX127" fmla="*/ 989488 w 2617069"/>
              <a:gd name="connsiteY127" fmla="*/ 3074925 h 30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617069" h="3074925">
                <a:moveTo>
                  <a:pt x="1273541" y="0"/>
                </a:moveTo>
                <a:cubicBezTo>
                  <a:pt x="1245693" y="11141"/>
                  <a:pt x="1218080" y="22891"/>
                  <a:pt x="1189996" y="33424"/>
                </a:cubicBezTo>
                <a:cubicBezTo>
                  <a:pt x="1173505" y="39609"/>
                  <a:pt x="1156058" y="43196"/>
                  <a:pt x="1139869" y="50135"/>
                </a:cubicBezTo>
                <a:cubicBezTo>
                  <a:pt x="1116974" y="59948"/>
                  <a:pt x="1094659" y="71198"/>
                  <a:pt x="1073033" y="83558"/>
                </a:cubicBezTo>
                <a:cubicBezTo>
                  <a:pt x="1055597" y="93523"/>
                  <a:pt x="1041958" y="110629"/>
                  <a:pt x="1022906" y="116981"/>
                </a:cubicBezTo>
                <a:cubicBezTo>
                  <a:pt x="990766" y="127696"/>
                  <a:pt x="956070" y="128122"/>
                  <a:pt x="922652" y="133693"/>
                </a:cubicBezTo>
                <a:cubicBezTo>
                  <a:pt x="669272" y="302638"/>
                  <a:pt x="929323" y="119777"/>
                  <a:pt x="772271" y="250674"/>
                </a:cubicBezTo>
                <a:cubicBezTo>
                  <a:pt x="756844" y="263532"/>
                  <a:pt x="737571" y="271239"/>
                  <a:pt x="722144" y="284097"/>
                </a:cubicBezTo>
                <a:cubicBezTo>
                  <a:pt x="703991" y="299227"/>
                  <a:pt x="690170" y="319101"/>
                  <a:pt x="672017" y="334231"/>
                </a:cubicBezTo>
                <a:cubicBezTo>
                  <a:pt x="656590" y="347089"/>
                  <a:pt x="637317" y="354796"/>
                  <a:pt x="621890" y="367654"/>
                </a:cubicBezTo>
                <a:cubicBezTo>
                  <a:pt x="603737" y="382784"/>
                  <a:pt x="591425" y="404679"/>
                  <a:pt x="571763" y="417789"/>
                </a:cubicBezTo>
                <a:cubicBezTo>
                  <a:pt x="557109" y="427560"/>
                  <a:pt x="538345" y="428930"/>
                  <a:pt x="521636" y="434501"/>
                </a:cubicBezTo>
                <a:cubicBezTo>
                  <a:pt x="504927" y="451212"/>
                  <a:pt x="489662" y="469505"/>
                  <a:pt x="471509" y="484635"/>
                </a:cubicBezTo>
                <a:cubicBezTo>
                  <a:pt x="456082" y="497493"/>
                  <a:pt x="435581" y="503856"/>
                  <a:pt x="421382" y="518058"/>
                </a:cubicBezTo>
                <a:cubicBezTo>
                  <a:pt x="407182" y="532261"/>
                  <a:pt x="400820" y="552763"/>
                  <a:pt x="387964" y="568193"/>
                </a:cubicBezTo>
                <a:cubicBezTo>
                  <a:pt x="347760" y="616446"/>
                  <a:pt x="337000" y="618886"/>
                  <a:pt x="287710" y="651751"/>
                </a:cubicBezTo>
                <a:cubicBezTo>
                  <a:pt x="276571" y="668462"/>
                  <a:pt x="267634" y="686873"/>
                  <a:pt x="254292" y="701885"/>
                </a:cubicBezTo>
                <a:cubicBezTo>
                  <a:pt x="222894" y="737213"/>
                  <a:pt x="180253" y="762827"/>
                  <a:pt x="154038" y="802155"/>
                </a:cubicBezTo>
                <a:cubicBezTo>
                  <a:pt x="142899" y="818866"/>
                  <a:pt x="133476" y="836859"/>
                  <a:pt x="120620" y="852289"/>
                </a:cubicBezTo>
                <a:cubicBezTo>
                  <a:pt x="105493" y="870445"/>
                  <a:pt x="85620" y="884268"/>
                  <a:pt x="70493" y="902424"/>
                </a:cubicBezTo>
                <a:cubicBezTo>
                  <a:pt x="57637" y="917854"/>
                  <a:pt x="49620" y="936874"/>
                  <a:pt x="37075" y="952558"/>
                </a:cubicBezTo>
                <a:cubicBezTo>
                  <a:pt x="27234" y="964861"/>
                  <a:pt x="-12033" y="987409"/>
                  <a:pt x="3657" y="985982"/>
                </a:cubicBezTo>
                <a:cubicBezTo>
                  <a:pt x="77661" y="979254"/>
                  <a:pt x="148784" y="953872"/>
                  <a:pt x="220874" y="935847"/>
                </a:cubicBezTo>
                <a:cubicBezTo>
                  <a:pt x="237961" y="931575"/>
                  <a:pt x="255248" y="927013"/>
                  <a:pt x="271001" y="919135"/>
                </a:cubicBezTo>
                <a:cubicBezTo>
                  <a:pt x="288963" y="910153"/>
                  <a:pt x="301435" y="889651"/>
                  <a:pt x="321128" y="885712"/>
                </a:cubicBezTo>
                <a:cubicBezTo>
                  <a:pt x="386893" y="872557"/>
                  <a:pt x="454800" y="874571"/>
                  <a:pt x="521636" y="869001"/>
                </a:cubicBezTo>
                <a:cubicBezTo>
                  <a:pt x="636544" y="792384"/>
                  <a:pt x="583787" y="814858"/>
                  <a:pt x="672017" y="785443"/>
                </a:cubicBezTo>
                <a:cubicBezTo>
                  <a:pt x="694296" y="763161"/>
                  <a:pt x="715434" y="739677"/>
                  <a:pt x="738853" y="718597"/>
                </a:cubicBezTo>
                <a:cubicBezTo>
                  <a:pt x="830995" y="635656"/>
                  <a:pt x="956718" y="544407"/>
                  <a:pt x="1056324" y="484635"/>
                </a:cubicBezTo>
                <a:cubicBezTo>
                  <a:pt x="1084172" y="467924"/>
                  <a:pt x="1110821" y="449027"/>
                  <a:pt x="1139869" y="434501"/>
                </a:cubicBezTo>
                <a:cubicBezTo>
                  <a:pt x="1216691" y="396084"/>
                  <a:pt x="1215787" y="405644"/>
                  <a:pt x="1290250" y="384366"/>
                </a:cubicBezTo>
                <a:cubicBezTo>
                  <a:pt x="1331856" y="372477"/>
                  <a:pt x="1362804" y="356168"/>
                  <a:pt x="1407213" y="350943"/>
                </a:cubicBezTo>
                <a:cubicBezTo>
                  <a:pt x="1479335" y="342457"/>
                  <a:pt x="1552024" y="339802"/>
                  <a:pt x="1624430" y="334231"/>
                </a:cubicBezTo>
                <a:cubicBezTo>
                  <a:pt x="1923980" y="284299"/>
                  <a:pt x="1757284" y="297049"/>
                  <a:pt x="2125700" y="317520"/>
                </a:cubicBezTo>
                <a:cubicBezTo>
                  <a:pt x="2103421" y="334231"/>
                  <a:pt x="2083043" y="353835"/>
                  <a:pt x="2058864" y="367654"/>
                </a:cubicBezTo>
                <a:cubicBezTo>
                  <a:pt x="2043572" y="376394"/>
                  <a:pt x="2025228" y="378181"/>
                  <a:pt x="2008737" y="384366"/>
                </a:cubicBezTo>
                <a:cubicBezTo>
                  <a:pt x="1848900" y="444314"/>
                  <a:pt x="1988844" y="396568"/>
                  <a:pt x="1875065" y="434501"/>
                </a:cubicBezTo>
                <a:cubicBezTo>
                  <a:pt x="1816259" y="478612"/>
                  <a:pt x="1740992" y="525224"/>
                  <a:pt x="1691266" y="584904"/>
                </a:cubicBezTo>
                <a:cubicBezTo>
                  <a:pt x="1678410" y="600334"/>
                  <a:pt x="1666829" y="617075"/>
                  <a:pt x="1657848" y="635039"/>
                </a:cubicBezTo>
                <a:cubicBezTo>
                  <a:pt x="1649971" y="650795"/>
                  <a:pt x="1653594" y="672717"/>
                  <a:pt x="1641139" y="685174"/>
                </a:cubicBezTo>
                <a:cubicBezTo>
                  <a:pt x="1628686" y="697629"/>
                  <a:pt x="1607721" y="696315"/>
                  <a:pt x="1591012" y="701885"/>
                </a:cubicBezTo>
                <a:cubicBezTo>
                  <a:pt x="1574303" y="713026"/>
                  <a:pt x="1556312" y="722450"/>
                  <a:pt x="1540885" y="735308"/>
                </a:cubicBezTo>
                <a:cubicBezTo>
                  <a:pt x="1522732" y="750438"/>
                  <a:pt x="1511415" y="773965"/>
                  <a:pt x="1490758" y="785443"/>
                </a:cubicBezTo>
                <a:cubicBezTo>
                  <a:pt x="1459966" y="802552"/>
                  <a:pt x="1424678" y="810321"/>
                  <a:pt x="1390504" y="818866"/>
                </a:cubicBezTo>
                <a:cubicBezTo>
                  <a:pt x="1222665" y="860832"/>
                  <a:pt x="1300398" y="837764"/>
                  <a:pt x="1156578" y="885712"/>
                </a:cubicBezTo>
                <a:lnTo>
                  <a:pt x="1106451" y="902424"/>
                </a:lnTo>
                <a:cubicBezTo>
                  <a:pt x="1089742" y="907994"/>
                  <a:pt x="1072077" y="911257"/>
                  <a:pt x="1056324" y="919135"/>
                </a:cubicBezTo>
                <a:cubicBezTo>
                  <a:pt x="1034045" y="930276"/>
                  <a:pt x="1012615" y="943306"/>
                  <a:pt x="989488" y="952558"/>
                </a:cubicBezTo>
                <a:cubicBezTo>
                  <a:pt x="956782" y="965643"/>
                  <a:pt x="918543" y="966440"/>
                  <a:pt x="889234" y="985982"/>
                </a:cubicBezTo>
                <a:cubicBezTo>
                  <a:pt x="824453" y="1029176"/>
                  <a:pt x="858159" y="1013054"/>
                  <a:pt x="788980" y="1036116"/>
                </a:cubicBezTo>
                <a:cubicBezTo>
                  <a:pt x="811259" y="1047257"/>
                  <a:pt x="831059" y="1066788"/>
                  <a:pt x="855816" y="1069539"/>
                </a:cubicBezTo>
                <a:cubicBezTo>
                  <a:pt x="897210" y="1074139"/>
                  <a:pt x="1007546" y="1026807"/>
                  <a:pt x="1039615" y="1019405"/>
                </a:cubicBezTo>
                <a:cubicBezTo>
                  <a:pt x="1077990" y="1010548"/>
                  <a:pt x="1118039" y="1010808"/>
                  <a:pt x="1156578" y="1002693"/>
                </a:cubicBezTo>
                <a:cubicBezTo>
                  <a:pt x="1223993" y="988498"/>
                  <a:pt x="1289130" y="963885"/>
                  <a:pt x="1357086" y="952558"/>
                </a:cubicBezTo>
                <a:cubicBezTo>
                  <a:pt x="1485354" y="931178"/>
                  <a:pt x="1424119" y="942492"/>
                  <a:pt x="1540885" y="919135"/>
                </a:cubicBezTo>
                <a:lnTo>
                  <a:pt x="2342917" y="952558"/>
                </a:lnTo>
                <a:cubicBezTo>
                  <a:pt x="2405240" y="955897"/>
                  <a:pt x="2468831" y="961170"/>
                  <a:pt x="2526716" y="985982"/>
                </a:cubicBezTo>
                <a:cubicBezTo>
                  <a:pt x="2549610" y="995795"/>
                  <a:pt x="2571273" y="1008264"/>
                  <a:pt x="2593552" y="1019405"/>
                </a:cubicBezTo>
                <a:cubicBezTo>
                  <a:pt x="2655512" y="1205311"/>
                  <a:pt x="2618455" y="1040610"/>
                  <a:pt x="2192536" y="1086251"/>
                </a:cubicBezTo>
                <a:cubicBezTo>
                  <a:pt x="2172568" y="1088391"/>
                  <a:pt x="2160371" y="1110692"/>
                  <a:pt x="2142409" y="1119674"/>
                </a:cubicBezTo>
                <a:cubicBezTo>
                  <a:pt x="2078020" y="1151873"/>
                  <a:pt x="2058509" y="1142271"/>
                  <a:pt x="2008737" y="1186520"/>
                </a:cubicBezTo>
                <a:cubicBezTo>
                  <a:pt x="1973414" y="1217923"/>
                  <a:pt x="1947807" y="1260569"/>
                  <a:pt x="1908483" y="1286789"/>
                </a:cubicBezTo>
                <a:cubicBezTo>
                  <a:pt x="1891774" y="1297930"/>
                  <a:pt x="1877993" y="1316003"/>
                  <a:pt x="1858356" y="1320212"/>
                </a:cubicBezTo>
                <a:cubicBezTo>
                  <a:pt x="1798203" y="1333104"/>
                  <a:pt x="1735823" y="1331353"/>
                  <a:pt x="1674557" y="1336924"/>
                </a:cubicBezTo>
                <a:cubicBezTo>
                  <a:pt x="1641914" y="1345086"/>
                  <a:pt x="1553881" y="1368225"/>
                  <a:pt x="1524176" y="1370347"/>
                </a:cubicBezTo>
                <a:cubicBezTo>
                  <a:pt x="1396279" y="1379484"/>
                  <a:pt x="1267971" y="1381488"/>
                  <a:pt x="1139869" y="1387059"/>
                </a:cubicBezTo>
                <a:cubicBezTo>
                  <a:pt x="1123160" y="1398200"/>
                  <a:pt x="1102286" y="1404799"/>
                  <a:pt x="1089742" y="1420482"/>
                </a:cubicBezTo>
                <a:cubicBezTo>
                  <a:pt x="997506" y="1535793"/>
                  <a:pt x="1166556" y="1408258"/>
                  <a:pt x="1022906" y="1504039"/>
                </a:cubicBezTo>
                <a:cubicBezTo>
                  <a:pt x="1017336" y="1520751"/>
                  <a:pt x="989108" y="1549901"/>
                  <a:pt x="1006197" y="1554174"/>
                </a:cubicBezTo>
                <a:cubicBezTo>
                  <a:pt x="1035295" y="1561450"/>
                  <a:pt x="1060902" y="1528992"/>
                  <a:pt x="1089742" y="1520751"/>
                </a:cubicBezTo>
                <a:cubicBezTo>
                  <a:pt x="1207229" y="1487178"/>
                  <a:pt x="1256267" y="1485310"/>
                  <a:pt x="1373795" y="1470616"/>
                </a:cubicBezTo>
                <a:cubicBezTo>
                  <a:pt x="1496328" y="1476187"/>
                  <a:pt x="1619125" y="1477545"/>
                  <a:pt x="1741393" y="1487328"/>
                </a:cubicBezTo>
                <a:cubicBezTo>
                  <a:pt x="1758950" y="1488733"/>
                  <a:pt x="1774585" y="1499200"/>
                  <a:pt x="1791520" y="1504039"/>
                </a:cubicBezTo>
                <a:cubicBezTo>
                  <a:pt x="1813601" y="1510349"/>
                  <a:pt x="1836077" y="1515180"/>
                  <a:pt x="1858356" y="1520751"/>
                </a:cubicBezTo>
                <a:cubicBezTo>
                  <a:pt x="1875065" y="1531892"/>
                  <a:pt x="1890132" y="1546017"/>
                  <a:pt x="1908483" y="1554174"/>
                </a:cubicBezTo>
                <a:cubicBezTo>
                  <a:pt x="1940672" y="1568482"/>
                  <a:pt x="1976031" y="1574513"/>
                  <a:pt x="2008737" y="1587597"/>
                </a:cubicBezTo>
                <a:cubicBezTo>
                  <a:pt x="2031864" y="1596849"/>
                  <a:pt x="2053294" y="1609879"/>
                  <a:pt x="2075573" y="1621020"/>
                </a:cubicBezTo>
                <a:cubicBezTo>
                  <a:pt x="2092282" y="1637732"/>
                  <a:pt x="2106038" y="1658045"/>
                  <a:pt x="2125700" y="1671155"/>
                </a:cubicBezTo>
                <a:cubicBezTo>
                  <a:pt x="2140354" y="1680926"/>
                  <a:pt x="2158892" y="1683027"/>
                  <a:pt x="2175827" y="1687866"/>
                </a:cubicBezTo>
                <a:cubicBezTo>
                  <a:pt x="2294728" y="1721843"/>
                  <a:pt x="2300686" y="1708723"/>
                  <a:pt x="2476589" y="1721289"/>
                </a:cubicBezTo>
                <a:cubicBezTo>
                  <a:pt x="2493298" y="1726860"/>
                  <a:pt x="2530987" y="1720914"/>
                  <a:pt x="2526716" y="1738001"/>
                </a:cubicBezTo>
                <a:cubicBezTo>
                  <a:pt x="2519962" y="1765020"/>
                  <a:pt x="2484789" y="1775680"/>
                  <a:pt x="2459880" y="1788136"/>
                </a:cubicBezTo>
                <a:cubicBezTo>
                  <a:pt x="2439341" y="1798407"/>
                  <a:pt x="2415499" y="1800035"/>
                  <a:pt x="2393044" y="1804847"/>
                </a:cubicBezTo>
                <a:cubicBezTo>
                  <a:pt x="2337505" y="1816750"/>
                  <a:pt x="2282724" y="1836438"/>
                  <a:pt x="2225954" y="1838270"/>
                </a:cubicBezTo>
                <a:lnTo>
                  <a:pt x="1707975" y="1854982"/>
                </a:lnTo>
                <a:cubicBezTo>
                  <a:pt x="1685696" y="1860552"/>
                  <a:pt x="1663836" y="1868201"/>
                  <a:pt x="1641139" y="1871693"/>
                </a:cubicBezTo>
                <a:cubicBezTo>
                  <a:pt x="1598607" y="1878237"/>
                  <a:pt x="1359509" y="1901531"/>
                  <a:pt x="1323668" y="1905116"/>
                </a:cubicBezTo>
                <a:cubicBezTo>
                  <a:pt x="1306959" y="1910687"/>
                  <a:pt x="1287294" y="1910824"/>
                  <a:pt x="1273541" y="1921828"/>
                </a:cubicBezTo>
                <a:cubicBezTo>
                  <a:pt x="1257859" y="1934376"/>
                  <a:pt x="1257153" y="1961317"/>
                  <a:pt x="1240123" y="1971963"/>
                </a:cubicBezTo>
                <a:cubicBezTo>
                  <a:pt x="1210253" y="1990635"/>
                  <a:pt x="1110560" y="2024928"/>
                  <a:pt x="1139869" y="2005386"/>
                </a:cubicBezTo>
                <a:lnTo>
                  <a:pt x="1189996" y="1971963"/>
                </a:lnTo>
                <a:cubicBezTo>
                  <a:pt x="1362656" y="1977533"/>
                  <a:pt x="1535645" y="1976649"/>
                  <a:pt x="1707975" y="1988674"/>
                </a:cubicBezTo>
                <a:cubicBezTo>
                  <a:pt x="1775569" y="1993391"/>
                  <a:pt x="1841647" y="2010956"/>
                  <a:pt x="1908483" y="2022097"/>
                </a:cubicBezTo>
                <a:cubicBezTo>
                  <a:pt x="2031384" y="2042584"/>
                  <a:pt x="1975873" y="2030592"/>
                  <a:pt x="2075573" y="2055520"/>
                </a:cubicBezTo>
                <a:cubicBezTo>
                  <a:pt x="2180602" y="2125550"/>
                  <a:pt x="2065347" y="2051695"/>
                  <a:pt x="2192536" y="2122367"/>
                </a:cubicBezTo>
                <a:cubicBezTo>
                  <a:pt x="2263336" y="2161706"/>
                  <a:pt x="2307414" y="2193393"/>
                  <a:pt x="2376335" y="2239347"/>
                </a:cubicBezTo>
                <a:lnTo>
                  <a:pt x="2426462" y="2272770"/>
                </a:lnTo>
                <a:lnTo>
                  <a:pt x="2476589" y="2306194"/>
                </a:lnTo>
                <a:cubicBezTo>
                  <a:pt x="2459880" y="2311764"/>
                  <a:pt x="2442953" y="2316720"/>
                  <a:pt x="2426462" y="2322905"/>
                </a:cubicBezTo>
                <a:cubicBezTo>
                  <a:pt x="2398378" y="2333438"/>
                  <a:pt x="2372015" y="2349052"/>
                  <a:pt x="2342917" y="2356328"/>
                </a:cubicBezTo>
                <a:cubicBezTo>
                  <a:pt x="2304710" y="2365881"/>
                  <a:pt x="2264942" y="2367469"/>
                  <a:pt x="2225954" y="2373040"/>
                </a:cubicBezTo>
                <a:cubicBezTo>
                  <a:pt x="1986458" y="2367469"/>
                  <a:pt x="1746684" y="2369145"/>
                  <a:pt x="1507467" y="2356328"/>
                </a:cubicBezTo>
                <a:cubicBezTo>
                  <a:pt x="1056976" y="2332191"/>
                  <a:pt x="1499112" y="2302015"/>
                  <a:pt x="1123160" y="2339617"/>
                </a:cubicBezTo>
                <a:cubicBezTo>
                  <a:pt x="1128730" y="2361899"/>
                  <a:pt x="1125523" y="2388527"/>
                  <a:pt x="1139869" y="2406463"/>
                </a:cubicBezTo>
                <a:cubicBezTo>
                  <a:pt x="1150871" y="2420217"/>
                  <a:pt x="1173807" y="2416235"/>
                  <a:pt x="1189996" y="2423174"/>
                </a:cubicBezTo>
                <a:cubicBezTo>
                  <a:pt x="1212891" y="2432987"/>
                  <a:pt x="1234553" y="2445456"/>
                  <a:pt x="1256832" y="2456597"/>
                </a:cubicBezTo>
                <a:cubicBezTo>
                  <a:pt x="1293426" y="2493198"/>
                  <a:pt x="1291193" y="2495335"/>
                  <a:pt x="1340377" y="2523444"/>
                </a:cubicBezTo>
                <a:cubicBezTo>
                  <a:pt x="1362003" y="2535804"/>
                  <a:pt x="1385587" y="2544507"/>
                  <a:pt x="1407213" y="2556867"/>
                </a:cubicBezTo>
                <a:cubicBezTo>
                  <a:pt x="1496960" y="2608159"/>
                  <a:pt x="1414400" y="2579554"/>
                  <a:pt x="1524176" y="2607001"/>
                </a:cubicBezTo>
                <a:cubicBezTo>
                  <a:pt x="1546455" y="2618142"/>
                  <a:pt x="1570744" y="2625944"/>
                  <a:pt x="1591012" y="2640424"/>
                </a:cubicBezTo>
                <a:cubicBezTo>
                  <a:pt x="1610241" y="2654161"/>
                  <a:pt x="1622986" y="2675429"/>
                  <a:pt x="1641139" y="2690559"/>
                </a:cubicBezTo>
                <a:cubicBezTo>
                  <a:pt x="1656566" y="2703417"/>
                  <a:pt x="1674557" y="2712841"/>
                  <a:pt x="1691266" y="2723982"/>
                </a:cubicBezTo>
                <a:cubicBezTo>
                  <a:pt x="1668987" y="2729553"/>
                  <a:pt x="1647359" y="2739420"/>
                  <a:pt x="1624430" y="2740694"/>
                </a:cubicBezTo>
                <a:cubicBezTo>
                  <a:pt x="1446388" y="2750587"/>
                  <a:pt x="1266967" y="2737711"/>
                  <a:pt x="1089742" y="2757405"/>
                </a:cubicBezTo>
                <a:cubicBezTo>
                  <a:pt x="1059931" y="2760718"/>
                  <a:pt x="1146460" y="2777413"/>
                  <a:pt x="1173287" y="2790828"/>
                </a:cubicBezTo>
                <a:cubicBezTo>
                  <a:pt x="1302854" y="2855621"/>
                  <a:pt x="1147543" y="2798956"/>
                  <a:pt x="1273541" y="2840963"/>
                </a:cubicBezTo>
                <a:cubicBezTo>
                  <a:pt x="1295820" y="2857675"/>
                  <a:pt x="1317716" y="2874909"/>
                  <a:pt x="1340377" y="2891098"/>
                </a:cubicBezTo>
                <a:cubicBezTo>
                  <a:pt x="1356718" y="2902772"/>
                  <a:pt x="1383046" y="2905874"/>
                  <a:pt x="1390504" y="2924521"/>
                </a:cubicBezTo>
                <a:cubicBezTo>
                  <a:pt x="1397045" y="2940876"/>
                  <a:pt x="1379365" y="2957944"/>
                  <a:pt x="1373795" y="2974655"/>
                </a:cubicBezTo>
                <a:cubicBezTo>
                  <a:pt x="1359304" y="2960162"/>
                  <a:pt x="1290762" y="2882870"/>
                  <a:pt x="1256832" y="2874386"/>
                </a:cubicBezTo>
                <a:cubicBezTo>
                  <a:pt x="1207903" y="2862152"/>
                  <a:pt x="1156578" y="2863245"/>
                  <a:pt x="1106451" y="2857675"/>
                </a:cubicBezTo>
                <a:cubicBezTo>
                  <a:pt x="1089742" y="2852104"/>
                  <a:pt x="1073259" y="2845803"/>
                  <a:pt x="1056324" y="2840963"/>
                </a:cubicBezTo>
                <a:cubicBezTo>
                  <a:pt x="909432" y="2798986"/>
                  <a:pt x="1059569" y="2847614"/>
                  <a:pt x="939361" y="2807540"/>
                </a:cubicBezTo>
                <a:cubicBezTo>
                  <a:pt x="909407" y="2787568"/>
                  <a:pt x="846983" y="2736755"/>
                  <a:pt x="805689" y="2757405"/>
                </a:cubicBezTo>
                <a:cubicBezTo>
                  <a:pt x="789934" y="2765284"/>
                  <a:pt x="818577" y="2790344"/>
                  <a:pt x="822398" y="2807540"/>
                </a:cubicBezTo>
                <a:cubicBezTo>
                  <a:pt x="857365" y="2964917"/>
                  <a:pt x="806496" y="2858885"/>
                  <a:pt x="905943" y="3008078"/>
                </a:cubicBezTo>
                <a:cubicBezTo>
                  <a:pt x="917082" y="3024790"/>
                  <a:pt x="920308" y="3051861"/>
                  <a:pt x="939361" y="3058213"/>
                </a:cubicBezTo>
                <a:lnTo>
                  <a:pt x="989488" y="3074925"/>
                </a:ln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CA7C55-37F4-464A-B2C9-B633AA95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7313612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THE CELL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908096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625" y="1368426"/>
            <a:ext cx="8762637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u="sng" dirty="0">
                <a:latin typeface="+mj-lt"/>
              </a:rPr>
              <a:t>Cytosol</a:t>
            </a:r>
            <a:r>
              <a:rPr lang="en-US" dirty="0">
                <a:latin typeface="+mj-lt"/>
              </a:rPr>
              <a:t>: Jelly-like substance that fills the interior of a cell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AKA intracellular fluid</a:t>
            </a:r>
            <a:endParaRPr lang="en-US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Contains dissolved nutrients for the cell to use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 descr="A standard eukaryotic cell with three basic parts: the plasma membrane, the nucleus, and the cytoplasm.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2785982" y="3516423"/>
            <a:ext cx="3733800" cy="3341577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2785982" y="4953001"/>
            <a:ext cx="2161698" cy="1400936"/>
          </a:xfrm>
          <a:custGeom>
            <a:avLst/>
            <a:gdLst>
              <a:gd name="connsiteX0" fmla="*/ 0 w 3308721"/>
              <a:gd name="connsiteY0" fmla="*/ 1189768 h 2849483"/>
              <a:gd name="connsiteX1" fmla="*/ 83545 w 3308721"/>
              <a:gd name="connsiteY1" fmla="*/ 1106211 h 2849483"/>
              <a:gd name="connsiteX2" fmla="*/ 116963 w 3308721"/>
              <a:gd name="connsiteY2" fmla="*/ 1056076 h 2849483"/>
              <a:gd name="connsiteX3" fmla="*/ 334180 w 3308721"/>
              <a:gd name="connsiteY3" fmla="*/ 905672 h 2849483"/>
              <a:gd name="connsiteX4" fmla="*/ 434434 w 3308721"/>
              <a:gd name="connsiteY4" fmla="*/ 838826 h 2849483"/>
              <a:gd name="connsiteX5" fmla="*/ 517979 w 3308721"/>
              <a:gd name="connsiteY5" fmla="*/ 738557 h 2849483"/>
              <a:gd name="connsiteX6" fmla="*/ 551397 w 3308721"/>
              <a:gd name="connsiteY6" fmla="*/ 688422 h 2849483"/>
              <a:gd name="connsiteX7" fmla="*/ 751905 w 3308721"/>
              <a:gd name="connsiteY7" fmla="*/ 554730 h 2849483"/>
              <a:gd name="connsiteX8" fmla="*/ 802032 w 3308721"/>
              <a:gd name="connsiteY8" fmla="*/ 521307 h 2849483"/>
              <a:gd name="connsiteX9" fmla="*/ 852159 w 3308721"/>
              <a:gd name="connsiteY9" fmla="*/ 487884 h 2849483"/>
              <a:gd name="connsiteX10" fmla="*/ 985831 w 3308721"/>
              <a:gd name="connsiteY10" fmla="*/ 387614 h 2849483"/>
              <a:gd name="connsiteX11" fmla="*/ 1035958 w 3308721"/>
              <a:gd name="connsiteY11" fmla="*/ 370903 h 2849483"/>
              <a:gd name="connsiteX12" fmla="*/ 1203048 w 3308721"/>
              <a:gd name="connsiteY12" fmla="*/ 304057 h 2849483"/>
              <a:gd name="connsiteX13" fmla="*/ 1403556 w 3308721"/>
              <a:gd name="connsiteY13" fmla="*/ 270633 h 2849483"/>
              <a:gd name="connsiteX14" fmla="*/ 1503810 w 3308721"/>
              <a:gd name="connsiteY14" fmla="*/ 237210 h 2849483"/>
              <a:gd name="connsiteX15" fmla="*/ 1553937 w 3308721"/>
              <a:gd name="connsiteY15" fmla="*/ 203787 h 2849483"/>
              <a:gd name="connsiteX16" fmla="*/ 1654191 w 3308721"/>
              <a:gd name="connsiteY16" fmla="*/ 170364 h 2849483"/>
              <a:gd name="connsiteX17" fmla="*/ 1704318 w 3308721"/>
              <a:gd name="connsiteY17" fmla="*/ 153653 h 2849483"/>
              <a:gd name="connsiteX18" fmla="*/ 1754445 w 3308721"/>
              <a:gd name="connsiteY18" fmla="*/ 120230 h 2849483"/>
              <a:gd name="connsiteX19" fmla="*/ 1787863 w 3308721"/>
              <a:gd name="connsiteY19" fmla="*/ 86806 h 2849483"/>
              <a:gd name="connsiteX20" fmla="*/ 1854699 w 3308721"/>
              <a:gd name="connsiteY20" fmla="*/ 70095 h 2849483"/>
              <a:gd name="connsiteX21" fmla="*/ 1904826 w 3308721"/>
              <a:gd name="connsiteY21" fmla="*/ 53383 h 2849483"/>
              <a:gd name="connsiteX22" fmla="*/ 1971662 w 3308721"/>
              <a:gd name="connsiteY22" fmla="*/ 3249 h 2849483"/>
              <a:gd name="connsiteX23" fmla="*/ 2038498 w 3308721"/>
              <a:gd name="connsiteY23" fmla="*/ 19960 h 2849483"/>
              <a:gd name="connsiteX24" fmla="*/ 1971662 w 3308721"/>
              <a:gd name="connsiteY24" fmla="*/ 53383 h 2849483"/>
              <a:gd name="connsiteX25" fmla="*/ 1904826 w 3308721"/>
              <a:gd name="connsiteY25" fmla="*/ 103518 h 2849483"/>
              <a:gd name="connsiteX26" fmla="*/ 1771154 w 3308721"/>
              <a:gd name="connsiteY26" fmla="*/ 153653 h 2849483"/>
              <a:gd name="connsiteX27" fmla="*/ 1654191 w 3308721"/>
              <a:gd name="connsiteY27" fmla="*/ 220499 h 2849483"/>
              <a:gd name="connsiteX28" fmla="*/ 1587355 w 3308721"/>
              <a:gd name="connsiteY28" fmla="*/ 270633 h 2849483"/>
              <a:gd name="connsiteX29" fmla="*/ 1453683 w 3308721"/>
              <a:gd name="connsiteY29" fmla="*/ 354191 h 2849483"/>
              <a:gd name="connsiteX30" fmla="*/ 1353429 w 3308721"/>
              <a:gd name="connsiteY30" fmla="*/ 487884 h 2849483"/>
              <a:gd name="connsiteX31" fmla="*/ 1169630 w 3308721"/>
              <a:gd name="connsiteY31" fmla="*/ 671711 h 2849483"/>
              <a:gd name="connsiteX32" fmla="*/ 1102794 w 3308721"/>
              <a:gd name="connsiteY32" fmla="*/ 738557 h 2849483"/>
              <a:gd name="connsiteX33" fmla="*/ 1052667 w 3308721"/>
              <a:gd name="connsiteY33" fmla="*/ 788691 h 2849483"/>
              <a:gd name="connsiteX34" fmla="*/ 1002540 w 3308721"/>
              <a:gd name="connsiteY34" fmla="*/ 822114 h 2849483"/>
              <a:gd name="connsiteX35" fmla="*/ 969122 w 3308721"/>
              <a:gd name="connsiteY35" fmla="*/ 855538 h 2849483"/>
              <a:gd name="connsiteX36" fmla="*/ 902286 w 3308721"/>
              <a:gd name="connsiteY36" fmla="*/ 888961 h 2849483"/>
              <a:gd name="connsiteX37" fmla="*/ 852159 w 3308721"/>
              <a:gd name="connsiteY37" fmla="*/ 939095 h 2849483"/>
              <a:gd name="connsiteX38" fmla="*/ 751905 w 3308721"/>
              <a:gd name="connsiteY38" fmla="*/ 989230 h 2849483"/>
              <a:gd name="connsiteX39" fmla="*/ 651651 w 3308721"/>
              <a:gd name="connsiteY39" fmla="*/ 1089499 h 2849483"/>
              <a:gd name="connsiteX40" fmla="*/ 601524 w 3308721"/>
              <a:gd name="connsiteY40" fmla="*/ 1139634 h 2849483"/>
              <a:gd name="connsiteX41" fmla="*/ 534688 w 3308721"/>
              <a:gd name="connsiteY41" fmla="*/ 1189768 h 2849483"/>
              <a:gd name="connsiteX42" fmla="*/ 501270 w 3308721"/>
              <a:gd name="connsiteY42" fmla="*/ 1239903 h 2849483"/>
              <a:gd name="connsiteX43" fmla="*/ 384307 w 3308721"/>
              <a:gd name="connsiteY43" fmla="*/ 1323461 h 2849483"/>
              <a:gd name="connsiteX44" fmla="*/ 317471 w 3308721"/>
              <a:gd name="connsiteY44" fmla="*/ 1440442 h 2849483"/>
              <a:gd name="connsiteX45" fmla="*/ 267344 w 3308721"/>
              <a:gd name="connsiteY45" fmla="*/ 1490576 h 2849483"/>
              <a:gd name="connsiteX46" fmla="*/ 217217 w 3308721"/>
              <a:gd name="connsiteY46" fmla="*/ 1607557 h 2849483"/>
              <a:gd name="connsiteX47" fmla="*/ 183799 w 3308721"/>
              <a:gd name="connsiteY47" fmla="*/ 1707826 h 2849483"/>
              <a:gd name="connsiteX48" fmla="*/ 116963 w 3308721"/>
              <a:gd name="connsiteY48" fmla="*/ 1808096 h 2849483"/>
              <a:gd name="connsiteX49" fmla="*/ 83545 w 3308721"/>
              <a:gd name="connsiteY49" fmla="*/ 1858230 h 2849483"/>
              <a:gd name="connsiteX50" fmla="*/ 50127 w 3308721"/>
              <a:gd name="connsiteY50" fmla="*/ 1991923 h 2849483"/>
              <a:gd name="connsiteX51" fmla="*/ 100254 w 3308721"/>
              <a:gd name="connsiteY51" fmla="*/ 1925076 h 2849483"/>
              <a:gd name="connsiteX52" fmla="*/ 116963 w 3308721"/>
              <a:gd name="connsiteY52" fmla="*/ 1841519 h 2849483"/>
              <a:gd name="connsiteX53" fmla="*/ 284053 w 3308721"/>
              <a:gd name="connsiteY53" fmla="*/ 1657692 h 2849483"/>
              <a:gd name="connsiteX54" fmla="*/ 334180 w 3308721"/>
              <a:gd name="connsiteY54" fmla="*/ 1607557 h 2849483"/>
              <a:gd name="connsiteX55" fmla="*/ 467852 w 3308721"/>
              <a:gd name="connsiteY55" fmla="*/ 1540711 h 2849483"/>
              <a:gd name="connsiteX56" fmla="*/ 534688 w 3308721"/>
              <a:gd name="connsiteY56" fmla="*/ 1490576 h 2849483"/>
              <a:gd name="connsiteX57" fmla="*/ 584815 w 3308721"/>
              <a:gd name="connsiteY57" fmla="*/ 1473865 h 2849483"/>
              <a:gd name="connsiteX58" fmla="*/ 668360 w 3308721"/>
              <a:gd name="connsiteY58" fmla="*/ 1440442 h 2849483"/>
              <a:gd name="connsiteX59" fmla="*/ 852159 w 3308721"/>
              <a:gd name="connsiteY59" fmla="*/ 1356884 h 2849483"/>
              <a:gd name="connsiteX60" fmla="*/ 902286 w 3308721"/>
              <a:gd name="connsiteY60" fmla="*/ 1323461 h 2849483"/>
              <a:gd name="connsiteX61" fmla="*/ 1019249 w 3308721"/>
              <a:gd name="connsiteY61" fmla="*/ 1273326 h 2849483"/>
              <a:gd name="connsiteX62" fmla="*/ 1069376 w 3308721"/>
              <a:gd name="connsiteY62" fmla="*/ 1239903 h 2849483"/>
              <a:gd name="connsiteX63" fmla="*/ 1236466 w 3308721"/>
              <a:gd name="connsiteY63" fmla="*/ 1189768 h 2849483"/>
              <a:gd name="connsiteX64" fmla="*/ 1303302 w 3308721"/>
              <a:gd name="connsiteY64" fmla="*/ 1156345 h 2849483"/>
              <a:gd name="connsiteX65" fmla="*/ 1420265 w 3308721"/>
              <a:gd name="connsiteY65" fmla="*/ 1106211 h 2849483"/>
              <a:gd name="connsiteX66" fmla="*/ 1704318 w 3308721"/>
              <a:gd name="connsiteY66" fmla="*/ 922384 h 2849483"/>
              <a:gd name="connsiteX67" fmla="*/ 1837990 w 3308721"/>
              <a:gd name="connsiteY67" fmla="*/ 838826 h 2849483"/>
              <a:gd name="connsiteX68" fmla="*/ 1904826 w 3308721"/>
              <a:gd name="connsiteY68" fmla="*/ 788691 h 2849483"/>
              <a:gd name="connsiteX69" fmla="*/ 1954953 w 3308721"/>
              <a:gd name="connsiteY69" fmla="*/ 755268 h 2849483"/>
              <a:gd name="connsiteX70" fmla="*/ 2038498 w 3308721"/>
              <a:gd name="connsiteY70" fmla="*/ 771980 h 2849483"/>
              <a:gd name="connsiteX71" fmla="*/ 2005080 w 3308721"/>
              <a:gd name="connsiteY71" fmla="*/ 855538 h 2849483"/>
              <a:gd name="connsiteX72" fmla="*/ 1921535 w 3308721"/>
              <a:gd name="connsiteY72" fmla="*/ 922384 h 2849483"/>
              <a:gd name="connsiteX73" fmla="*/ 1854699 w 3308721"/>
              <a:gd name="connsiteY73" fmla="*/ 1005941 h 2849483"/>
              <a:gd name="connsiteX74" fmla="*/ 1804572 w 3308721"/>
              <a:gd name="connsiteY74" fmla="*/ 1056076 h 2849483"/>
              <a:gd name="connsiteX75" fmla="*/ 1754445 w 3308721"/>
              <a:gd name="connsiteY75" fmla="*/ 1122922 h 2849483"/>
              <a:gd name="connsiteX76" fmla="*/ 1704318 w 3308721"/>
              <a:gd name="connsiteY76" fmla="*/ 1173057 h 2849483"/>
              <a:gd name="connsiteX77" fmla="*/ 1654191 w 3308721"/>
              <a:gd name="connsiteY77" fmla="*/ 1256615 h 2849483"/>
              <a:gd name="connsiteX78" fmla="*/ 1604064 w 3308721"/>
              <a:gd name="connsiteY78" fmla="*/ 1290038 h 2849483"/>
              <a:gd name="connsiteX79" fmla="*/ 1520519 w 3308721"/>
              <a:gd name="connsiteY79" fmla="*/ 1373595 h 2849483"/>
              <a:gd name="connsiteX80" fmla="*/ 1386847 w 3308721"/>
              <a:gd name="connsiteY80" fmla="*/ 1473865 h 2849483"/>
              <a:gd name="connsiteX81" fmla="*/ 1320011 w 3308721"/>
              <a:gd name="connsiteY81" fmla="*/ 1540711 h 2849483"/>
              <a:gd name="connsiteX82" fmla="*/ 1186339 w 3308721"/>
              <a:gd name="connsiteY82" fmla="*/ 1640980 h 2849483"/>
              <a:gd name="connsiteX83" fmla="*/ 1069376 w 3308721"/>
              <a:gd name="connsiteY83" fmla="*/ 1757961 h 2849483"/>
              <a:gd name="connsiteX84" fmla="*/ 1035958 w 3308721"/>
              <a:gd name="connsiteY84" fmla="*/ 1824807 h 2849483"/>
              <a:gd name="connsiteX85" fmla="*/ 902286 w 3308721"/>
              <a:gd name="connsiteY85" fmla="*/ 1958499 h 2849483"/>
              <a:gd name="connsiteX86" fmla="*/ 852159 w 3308721"/>
              <a:gd name="connsiteY86" fmla="*/ 2008634 h 2849483"/>
              <a:gd name="connsiteX87" fmla="*/ 735196 w 3308721"/>
              <a:gd name="connsiteY87" fmla="*/ 2125615 h 2849483"/>
              <a:gd name="connsiteX88" fmla="*/ 685069 w 3308721"/>
              <a:gd name="connsiteY88" fmla="*/ 2175750 h 2849483"/>
              <a:gd name="connsiteX89" fmla="*/ 618233 w 3308721"/>
              <a:gd name="connsiteY89" fmla="*/ 2259307 h 2849483"/>
              <a:gd name="connsiteX90" fmla="*/ 584815 w 3308721"/>
              <a:gd name="connsiteY90" fmla="*/ 2326153 h 2849483"/>
              <a:gd name="connsiteX91" fmla="*/ 534688 w 3308721"/>
              <a:gd name="connsiteY91" fmla="*/ 2376288 h 2849483"/>
              <a:gd name="connsiteX92" fmla="*/ 501270 w 3308721"/>
              <a:gd name="connsiteY92" fmla="*/ 2426423 h 2849483"/>
              <a:gd name="connsiteX93" fmla="*/ 384307 w 3308721"/>
              <a:gd name="connsiteY93" fmla="*/ 2576827 h 2849483"/>
              <a:gd name="connsiteX94" fmla="*/ 350889 w 3308721"/>
              <a:gd name="connsiteY94" fmla="*/ 2643673 h 2849483"/>
              <a:gd name="connsiteX95" fmla="*/ 501270 w 3308721"/>
              <a:gd name="connsiteY95" fmla="*/ 2459846 h 2849483"/>
              <a:gd name="connsiteX96" fmla="*/ 701778 w 3308721"/>
              <a:gd name="connsiteY96" fmla="*/ 2292730 h 2849483"/>
              <a:gd name="connsiteX97" fmla="*/ 785323 w 3308721"/>
              <a:gd name="connsiteY97" fmla="*/ 2225884 h 2849483"/>
              <a:gd name="connsiteX98" fmla="*/ 852159 w 3308721"/>
              <a:gd name="connsiteY98" fmla="*/ 2175750 h 2849483"/>
              <a:gd name="connsiteX99" fmla="*/ 902286 w 3308721"/>
              <a:gd name="connsiteY99" fmla="*/ 2159038 h 2849483"/>
              <a:gd name="connsiteX100" fmla="*/ 969122 w 3308721"/>
              <a:gd name="connsiteY100" fmla="*/ 2108903 h 2849483"/>
              <a:gd name="connsiteX101" fmla="*/ 1152921 w 3308721"/>
              <a:gd name="connsiteY101" fmla="*/ 2058769 h 2849483"/>
              <a:gd name="connsiteX102" fmla="*/ 1236466 w 3308721"/>
              <a:gd name="connsiteY102" fmla="*/ 2125615 h 2849483"/>
              <a:gd name="connsiteX103" fmla="*/ 1320011 w 3308721"/>
              <a:gd name="connsiteY103" fmla="*/ 2025346 h 2849483"/>
              <a:gd name="connsiteX104" fmla="*/ 1420265 w 3308721"/>
              <a:gd name="connsiteY104" fmla="*/ 1941788 h 2849483"/>
              <a:gd name="connsiteX105" fmla="*/ 2038498 w 3308721"/>
              <a:gd name="connsiteY105" fmla="*/ 1523999 h 2849483"/>
              <a:gd name="connsiteX106" fmla="*/ 2138752 w 3308721"/>
              <a:gd name="connsiteY106" fmla="*/ 1457153 h 2849483"/>
              <a:gd name="connsiteX107" fmla="*/ 2322551 w 3308721"/>
              <a:gd name="connsiteY107" fmla="*/ 1356884 h 2849483"/>
              <a:gd name="connsiteX108" fmla="*/ 2439514 w 3308721"/>
              <a:gd name="connsiteY108" fmla="*/ 1306749 h 2849483"/>
              <a:gd name="connsiteX109" fmla="*/ 2372678 w 3308721"/>
              <a:gd name="connsiteY109" fmla="*/ 1407018 h 2849483"/>
              <a:gd name="connsiteX110" fmla="*/ 2305842 w 3308721"/>
              <a:gd name="connsiteY110" fmla="*/ 1507288 h 2849483"/>
              <a:gd name="connsiteX111" fmla="*/ 2239006 w 3308721"/>
              <a:gd name="connsiteY111" fmla="*/ 1574134 h 2849483"/>
              <a:gd name="connsiteX112" fmla="*/ 2188879 w 3308721"/>
              <a:gd name="connsiteY112" fmla="*/ 1657692 h 2849483"/>
              <a:gd name="connsiteX113" fmla="*/ 2155461 w 3308721"/>
              <a:gd name="connsiteY113" fmla="*/ 1707826 h 2849483"/>
              <a:gd name="connsiteX114" fmla="*/ 2105334 w 3308721"/>
              <a:gd name="connsiteY114" fmla="*/ 1774672 h 2849483"/>
              <a:gd name="connsiteX115" fmla="*/ 2071916 w 3308721"/>
              <a:gd name="connsiteY115" fmla="*/ 1824807 h 2849483"/>
              <a:gd name="connsiteX116" fmla="*/ 2021789 w 3308721"/>
              <a:gd name="connsiteY116" fmla="*/ 1874942 h 2849483"/>
              <a:gd name="connsiteX117" fmla="*/ 1971662 w 3308721"/>
              <a:gd name="connsiteY117" fmla="*/ 1941788 h 2849483"/>
              <a:gd name="connsiteX118" fmla="*/ 1837990 w 3308721"/>
              <a:gd name="connsiteY118" fmla="*/ 2075480 h 2849483"/>
              <a:gd name="connsiteX119" fmla="*/ 1804572 w 3308721"/>
              <a:gd name="connsiteY119" fmla="*/ 2142326 h 2849483"/>
              <a:gd name="connsiteX120" fmla="*/ 1771154 w 3308721"/>
              <a:gd name="connsiteY120" fmla="*/ 2175750 h 2849483"/>
              <a:gd name="connsiteX121" fmla="*/ 1670900 w 3308721"/>
              <a:gd name="connsiteY121" fmla="*/ 2309442 h 2849483"/>
              <a:gd name="connsiteX122" fmla="*/ 1637482 w 3308721"/>
              <a:gd name="connsiteY122" fmla="*/ 2359577 h 2849483"/>
              <a:gd name="connsiteX123" fmla="*/ 1604064 w 3308721"/>
              <a:gd name="connsiteY123" fmla="*/ 2459846 h 2849483"/>
              <a:gd name="connsiteX124" fmla="*/ 1587355 w 3308721"/>
              <a:gd name="connsiteY124" fmla="*/ 2509980 h 2849483"/>
              <a:gd name="connsiteX125" fmla="*/ 1503810 w 3308721"/>
              <a:gd name="connsiteY125" fmla="*/ 2727230 h 2849483"/>
              <a:gd name="connsiteX126" fmla="*/ 1487101 w 3308721"/>
              <a:gd name="connsiteY126" fmla="*/ 2844211 h 2849483"/>
              <a:gd name="connsiteX127" fmla="*/ 1537228 w 3308721"/>
              <a:gd name="connsiteY127" fmla="*/ 2827500 h 2849483"/>
              <a:gd name="connsiteX128" fmla="*/ 1604064 w 3308721"/>
              <a:gd name="connsiteY128" fmla="*/ 2710519 h 2849483"/>
              <a:gd name="connsiteX129" fmla="*/ 1620773 w 3308721"/>
              <a:gd name="connsiteY129" fmla="*/ 2660384 h 2849483"/>
              <a:gd name="connsiteX130" fmla="*/ 1670900 w 3308721"/>
              <a:gd name="connsiteY130" fmla="*/ 2610250 h 2849483"/>
              <a:gd name="connsiteX131" fmla="*/ 1704318 w 3308721"/>
              <a:gd name="connsiteY131" fmla="*/ 2560115 h 2849483"/>
              <a:gd name="connsiteX132" fmla="*/ 1804572 w 3308721"/>
              <a:gd name="connsiteY132" fmla="*/ 2443134 h 2849483"/>
              <a:gd name="connsiteX133" fmla="*/ 1871408 w 3308721"/>
              <a:gd name="connsiteY133" fmla="*/ 2393000 h 2849483"/>
              <a:gd name="connsiteX134" fmla="*/ 1971662 w 3308721"/>
              <a:gd name="connsiteY134" fmla="*/ 2292730 h 2849483"/>
              <a:gd name="connsiteX135" fmla="*/ 2055207 w 3308721"/>
              <a:gd name="connsiteY135" fmla="*/ 2276019 h 2849483"/>
              <a:gd name="connsiteX136" fmla="*/ 2105334 w 3308721"/>
              <a:gd name="connsiteY136" fmla="*/ 2259307 h 2849483"/>
              <a:gd name="connsiteX137" fmla="*/ 2138752 w 3308721"/>
              <a:gd name="connsiteY137" fmla="*/ 2209173 h 2849483"/>
              <a:gd name="connsiteX138" fmla="*/ 2188879 w 3308721"/>
              <a:gd name="connsiteY138" fmla="*/ 2192461 h 2849483"/>
              <a:gd name="connsiteX139" fmla="*/ 2255715 w 3308721"/>
              <a:gd name="connsiteY139" fmla="*/ 2092192 h 2849483"/>
              <a:gd name="connsiteX140" fmla="*/ 2305842 w 3308721"/>
              <a:gd name="connsiteY140" fmla="*/ 1975211 h 2849483"/>
              <a:gd name="connsiteX141" fmla="*/ 2339260 w 3308721"/>
              <a:gd name="connsiteY141" fmla="*/ 1908365 h 2849483"/>
              <a:gd name="connsiteX142" fmla="*/ 2355969 w 3308721"/>
              <a:gd name="connsiteY142" fmla="*/ 1841519 h 2849483"/>
              <a:gd name="connsiteX143" fmla="*/ 2372678 w 3308721"/>
              <a:gd name="connsiteY143" fmla="*/ 1791384 h 2849483"/>
              <a:gd name="connsiteX144" fmla="*/ 2389387 w 3308721"/>
              <a:gd name="connsiteY144" fmla="*/ 1707826 h 2849483"/>
              <a:gd name="connsiteX145" fmla="*/ 2439514 w 3308721"/>
              <a:gd name="connsiteY145" fmla="*/ 1523999 h 2849483"/>
              <a:gd name="connsiteX146" fmla="*/ 2472932 w 3308721"/>
              <a:gd name="connsiteY146" fmla="*/ 2526692 h 2849483"/>
              <a:gd name="connsiteX147" fmla="*/ 2506350 w 3308721"/>
              <a:gd name="connsiteY147" fmla="*/ 2476557 h 2849483"/>
              <a:gd name="connsiteX148" fmla="*/ 2573186 w 3308721"/>
              <a:gd name="connsiteY148" fmla="*/ 2426423 h 2849483"/>
              <a:gd name="connsiteX149" fmla="*/ 2606604 w 3308721"/>
              <a:gd name="connsiteY149" fmla="*/ 2359577 h 2849483"/>
              <a:gd name="connsiteX150" fmla="*/ 2640022 w 3308721"/>
              <a:gd name="connsiteY150" fmla="*/ 2326153 h 2849483"/>
              <a:gd name="connsiteX151" fmla="*/ 2673440 w 3308721"/>
              <a:gd name="connsiteY151" fmla="*/ 2209173 h 2849483"/>
              <a:gd name="connsiteX152" fmla="*/ 2690149 w 3308721"/>
              <a:gd name="connsiteY152" fmla="*/ 2159038 h 2849483"/>
              <a:gd name="connsiteX153" fmla="*/ 2756985 w 3308721"/>
              <a:gd name="connsiteY153" fmla="*/ 1874942 h 2849483"/>
              <a:gd name="connsiteX154" fmla="*/ 2773694 w 3308721"/>
              <a:gd name="connsiteY154" fmla="*/ 1791384 h 2849483"/>
              <a:gd name="connsiteX155" fmla="*/ 2840530 w 3308721"/>
              <a:gd name="connsiteY155" fmla="*/ 1674403 h 2849483"/>
              <a:gd name="connsiteX156" fmla="*/ 2857239 w 3308721"/>
              <a:gd name="connsiteY156" fmla="*/ 1624269 h 2849483"/>
              <a:gd name="connsiteX157" fmla="*/ 2924075 w 3308721"/>
              <a:gd name="connsiteY157" fmla="*/ 1707826 h 2849483"/>
              <a:gd name="connsiteX158" fmla="*/ 2957493 w 3308721"/>
              <a:gd name="connsiteY158" fmla="*/ 2326153 h 2849483"/>
              <a:gd name="connsiteX159" fmla="*/ 2990911 w 3308721"/>
              <a:gd name="connsiteY159" fmla="*/ 2142326 h 2849483"/>
              <a:gd name="connsiteX160" fmla="*/ 3057747 w 3308721"/>
              <a:gd name="connsiteY160" fmla="*/ 1958499 h 2849483"/>
              <a:gd name="connsiteX161" fmla="*/ 3091165 w 3308721"/>
              <a:gd name="connsiteY161" fmla="*/ 1841519 h 2849483"/>
              <a:gd name="connsiteX162" fmla="*/ 3141292 w 3308721"/>
              <a:gd name="connsiteY162" fmla="*/ 1674403 h 2849483"/>
              <a:gd name="connsiteX163" fmla="*/ 3158001 w 3308721"/>
              <a:gd name="connsiteY163" fmla="*/ 1874942 h 2849483"/>
              <a:gd name="connsiteX164" fmla="*/ 3208128 w 3308721"/>
              <a:gd name="connsiteY164" fmla="*/ 1925076 h 2849483"/>
              <a:gd name="connsiteX165" fmla="*/ 3241546 w 3308721"/>
              <a:gd name="connsiteY165" fmla="*/ 1975211 h 2849483"/>
              <a:gd name="connsiteX166" fmla="*/ 3291673 w 3308721"/>
              <a:gd name="connsiteY166" fmla="*/ 1925076 h 2849483"/>
              <a:gd name="connsiteX167" fmla="*/ 3308382 w 3308721"/>
              <a:gd name="connsiteY167" fmla="*/ 1457153 h 284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308721" h="2849483">
                <a:moveTo>
                  <a:pt x="0" y="1189768"/>
                </a:moveTo>
                <a:cubicBezTo>
                  <a:pt x="27848" y="1161916"/>
                  <a:pt x="57611" y="1135854"/>
                  <a:pt x="83545" y="1106211"/>
                </a:cubicBezTo>
                <a:cubicBezTo>
                  <a:pt x="96769" y="1091095"/>
                  <a:pt x="102763" y="1070279"/>
                  <a:pt x="116963" y="1056076"/>
                </a:cubicBezTo>
                <a:cubicBezTo>
                  <a:pt x="180698" y="992332"/>
                  <a:pt x="259902" y="955198"/>
                  <a:pt x="334180" y="905672"/>
                </a:cubicBezTo>
                <a:lnTo>
                  <a:pt x="434434" y="838826"/>
                </a:lnTo>
                <a:cubicBezTo>
                  <a:pt x="517406" y="714348"/>
                  <a:pt x="410767" y="867231"/>
                  <a:pt x="517979" y="738557"/>
                </a:cubicBezTo>
                <a:cubicBezTo>
                  <a:pt x="530835" y="723127"/>
                  <a:pt x="535854" y="701141"/>
                  <a:pt x="551397" y="688422"/>
                </a:cubicBezTo>
                <a:lnTo>
                  <a:pt x="751905" y="554730"/>
                </a:lnTo>
                <a:lnTo>
                  <a:pt x="802032" y="521307"/>
                </a:lnTo>
                <a:cubicBezTo>
                  <a:pt x="818741" y="510166"/>
                  <a:pt x="837960" y="502086"/>
                  <a:pt x="852159" y="487884"/>
                </a:cubicBezTo>
                <a:cubicBezTo>
                  <a:pt x="891743" y="448293"/>
                  <a:pt x="929148" y="406511"/>
                  <a:pt x="985831" y="387614"/>
                </a:cubicBezTo>
                <a:cubicBezTo>
                  <a:pt x="1002540" y="382044"/>
                  <a:pt x="1019769" y="377842"/>
                  <a:pt x="1035958" y="370903"/>
                </a:cubicBezTo>
                <a:cubicBezTo>
                  <a:pt x="1132763" y="329409"/>
                  <a:pt x="1081338" y="334490"/>
                  <a:pt x="1203048" y="304057"/>
                </a:cubicBezTo>
                <a:cubicBezTo>
                  <a:pt x="1313447" y="276452"/>
                  <a:pt x="1247097" y="290194"/>
                  <a:pt x="1403556" y="270633"/>
                </a:cubicBezTo>
                <a:cubicBezTo>
                  <a:pt x="1436974" y="259492"/>
                  <a:pt x="1474501" y="256752"/>
                  <a:pt x="1503810" y="237210"/>
                </a:cubicBezTo>
                <a:cubicBezTo>
                  <a:pt x="1520519" y="226069"/>
                  <a:pt x="1535586" y="211944"/>
                  <a:pt x="1553937" y="203787"/>
                </a:cubicBezTo>
                <a:cubicBezTo>
                  <a:pt x="1586126" y="189479"/>
                  <a:pt x="1620773" y="181505"/>
                  <a:pt x="1654191" y="170364"/>
                </a:cubicBezTo>
                <a:lnTo>
                  <a:pt x="1704318" y="153653"/>
                </a:lnTo>
                <a:cubicBezTo>
                  <a:pt x="1721027" y="142512"/>
                  <a:pt x="1738764" y="132777"/>
                  <a:pt x="1754445" y="120230"/>
                </a:cubicBezTo>
                <a:cubicBezTo>
                  <a:pt x="1766747" y="110387"/>
                  <a:pt x="1773772" y="93853"/>
                  <a:pt x="1787863" y="86806"/>
                </a:cubicBezTo>
                <a:cubicBezTo>
                  <a:pt x="1808402" y="76535"/>
                  <a:pt x="1832618" y="76405"/>
                  <a:pt x="1854699" y="70095"/>
                </a:cubicBezTo>
                <a:cubicBezTo>
                  <a:pt x="1871634" y="65256"/>
                  <a:pt x="1888117" y="58954"/>
                  <a:pt x="1904826" y="53383"/>
                </a:cubicBezTo>
                <a:cubicBezTo>
                  <a:pt x="1927105" y="36672"/>
                  <a:pt x="1944644" y="10005"/>
                  <a:pt x="1971662" y="3249"/>
                </a:cubicBezTo>
                <a:cubicBezTo>
                  <a:pt x="1993941" y="-2321"/>
                  <a:pt x="2038498" y="-3004"/>
                  <a:pt x="2038498" y="19960"/>
                </a:cubicBezTo>
                <a:cubicBezTo>
                  <a:pt x="2038498" y="44869"/>
                  <a:pt x="1992784" y="40180"/>
                  <a:pt x="1971662" y="53383"/>
                </a:cubicBezTo>
                <a:cubicBezTo>
                  <a:pt x="1948046" y="68145"/>
                  <a:pt x="1928442" y="88756"/>
                  <a:pt x="1904826" y="103518"/>
                </a:cubicBezTo>
                <a:cubicBezTo>
                  <a:pt x="1846577" y="139929"/>
                  <a:pt x="1835302" y="137613"/>
                  <a:pt x="1771154" y="153653"/>
                </a:cubicBezTo>
                <a:cubicBezTo>
                  <a:pt x="1658605" y="266217"/>
                  <a:pt x="1788833" y="153168"/>
                  <a:pt x="1654191" y="220499"/>
                </a:cubicBezTo>
                <a:cubicBezTo>
                  <a:pt x="1629282" y="232955"/>
                  <a:pt x="1610970" y="255871"/>
                  <a:pt x="1587355" y="270633"/>
                </a:cubicBezTo>
                <a:cubicBezTo>
                  <a:pt x="1528651" y="307329"/>
                  <a:pt x="1503504" y="299379"/>
                  <a:pt x="1453683" y="354191"/>
                </a:cubicBezTo>
                <a:cubicBezTo>
                  <a:pt x="1416217" y="395410"/>
                  <a:pt x="1392814" y="448494"/>
                  <a:pt x="1353429" y="487884"/>
                </a:cubicBezTo>
                <a:lnTo>
                  <a:pt x="1169630" y="671711"/>
                </a:lnTo>
                <a:lnTo>
                  <a:pt x="1102794" y="738557"/>
                </a:lnTo>
                <a:cubicBezTo>
                  <a:pt x="1086085" y="755268"/>
                  <a:pt x="1072329" y="775581"/>
                  <a:pt x="1052667" y="788691"/>
                </a:cubicBezTo>
                <a:cubicBezTo>
                  <a:pt x="1035958" y="799832"/>
                  <a:pt x="1018221" y="809567"/>
                  <a:pt x="1002540" y="822114"/>
                </a:cubicBezTo>
                <a:cubicBezTo>
                  <a:pt x="990238" y="831957"/>
                  <a:pt x="982230" y="846798"/>
                  <a:pt x="969122" y="855538"/>
                </a:cubicBezTo>
                <a:cubicBezTo>
                  <a:pt x="948397" y="869357"/>
                  <a:pt x="922554" y="874482"/>
                  <a:pt x="902286" y="888961"/>
                </a:cubicBezTo>
                <a:cubicBezTo>
                  <a:pt x="883057" y="902698"/>
                  <a:pt x="870312" y="923965"/>
                  <a:pt x="852159" y="939095"/>
                </a:cubicBezTo>
                <a:cubicBezTo>
                  <a:pt x="808971" y="975090"/>
                  <a:pt x="802145" y="972480"/>
                  <a:pt x="751905" y="989230"/>
                </a:cubicBezTo>
                <a:lnTo>
                  <a:pt x="651651" y="1089499"/>
                </a:lnTo>
                <a:cubicBezTo>
                  <a:pt x="634942" y="1106211"/>
                  <a:pt x="620429" y="1125454"/>
                  <a:pt x="601524" y="1139634"/>
                </a:cubicBezTo>
                <a:lnTo>
                  <a:pt x="534688" y="1189768"/>
                </a:lnTo>
                <a:cubicBezTo>
                  <a:pt x="523549" y="1206480"/>
                  <a:pt x="516698" y="1227044"/>
                  <a:pt x="501270" y="1239903"/>
                </a:cubicBezTo>
                <a:cubicBezTo>
                  <a:pt x="372264" y="1347425"/>
                  <a:pt x="490976" y="1195439"/>
                  <a:pt x="384307" y="1323461"/>
                </a:cubicBezTo>
                <a:cubicBezTo>
                  <a:pt x="305373" y="1418196"/>
                  <a:pt x="399188" y="1326020"/>
                  <a:pt x="317471" y="1440442"/>
                </a:cubicBezTo>
                <a:cubicBezTo>
                  <a:pt x="303737" y="1459673"/>
                  <a:pt x="284053" y="1473865"/>
                  <a:pt x="267344" y="1490576"/>
                </a:cubicBezTo>
                <a:cubicBezTo>
                  <a:pt x="223143" y="1667406"/>
                  <a:pt x="283155" y="1459174"/>
                  <a:pt x="217217" y="1607557"/>
                </a:cubicBezTo>
                <a:cubicBezTo>
                  <a:pt x="202910" y="1639752"/>
                  <a:pt x="203339" y="1678511"/>
                  <a:pt x="183799" y="1707826"/>
                </a:cubicBezTo>
                <a:lnTo>
                  <a:pt x="116963" y="1808096"/>
                </a:lnTo>
                <a:lnTo>
                  <a:pt x="83545" y="1858230"/>
                </a:lnTo>
                <a:cubicBezTo>
                  <a:pt x="77505" y="1876352"/>
                  <a:pt x="38605" y="1986161"/>
                  <a:pt x="50127" y="1991923"/>
                </a:cubicBezTo>
                <a:cubicBezTo>
                  <a:pt x="75037" y="2004380"/>
                  <a:pt x="83545" y="1947358"/>
                  <a:pt x="100254" y="1925076"/>
                </a:cubicBezTo>
                <a:cubicBezTo>
                  <a:pt x="105824" y="1897224"/>
                  <a:pt x="105429" y="1867475"/>
                  <a:pt x="116963" y="1841519"/>
                </a:cubicBezTo>
                <a:cubicBezTo>
                  <a:pt x="139153" y="1791583"/>
                  <a:pt x="268203" y="1673545"/>
                  <a:pt x="284053" y="1657692"/>
                </a:cubicBezTo>
                <a:cubicBezTo>
                  <a:pt x="300762" y="1640980"/>
                  <a:pt x="313044" y="1618127"/>
                  <a:pt x="334180" y="1607557"/>
                </a:cubicBezTo>
                <a:cubicBezTo>
                  <a:pt x="378737" y="1585275"/>
                  <a:pt x="428000" y="1570605"/>
                  <a:pt x="467852" y="1540711"/>
                </a:cubicBezTo>
                <a:cubicBezTo>
                  <a:pt x="490131" y="1523999"/>
                  <a:pt x="510508" y="1504395"/>
                  <a:pt x="534688" y="1490576"/>
                </a:cubicBezTo>
                <a:cubicBezTo>
                  <a:pt x="549980" y="1481836"/>
                  <a:pt x="568324" y="1480050"/>
                  <a:pt x="584815" y="1473865"/>
                </a:cubicBezTo>
                <a:cubicBezTo>
                  <a:pt x="612899" y="1463332"/>
                  <a:pt x="641127" y="1453013"/>
                  <a:pt x="668360" y="1440442"/>
                </a:cubicBezTo>
                <a:cubicBezTo>
                  <a:pt x="862611" y="1350773"/>
                  <a:pt x="738923" y="1394634"/>
                  <a:pt x="852159" y="1356884"/>
                </a:cubicBezTo>
                <a:cubicBezTo>
                  <a:pt x="868868" y="1345743"/>
                  <a:pt x="884324" y="1332443"/>
                  <a:pt x="902286" y="1323461"/>
                </a:cubicBezTo>
                <a:cubicBezTo>
                  <a:pt x="1089748" y="1229715"/>
                  <a:pt x="775855" y="1412429"/>
                  <a:pt x="1019249" y="1273326"/>
                </a:cubicBezTo>
                <a:cubicBezTo>
                  <a:pt x="1036685" y="1263361"/>
                  <a:pt x="1051025" y="1248060"/>
                  <a:pt x="1069376" y="1239903"/>
                </a:cubicBezTo>
                <a:cubicBezTo>
                  <a:pt x="1275046" y="1148481"/>
                  <a:pt x="1080936" y="1248101"/>
                  <a:pt x="1236466" y="1189768"/>
                </a:cubicBezTo>
                <a:cubicBezTo>
                  <a:pt x="1259789" y="1181021"/>
                  <a:pt x="1280407" y="1166158"/>
                  <a:pt x="1303302" y="1156345"/>
                </a:cubicBezTo>
                <a:cubicBezTo>
                  <a:pt x="1406828" y="1111970"/>
                  <a:pt x="1295576" y="1175494"/>
                  <a:pt x="1420265" y="1106211"/>
                </a:cubicBezTo>
                <a:cubicBezTo>
                  <a:pt x="1494797" y="1064798"/>
                  <a:pt x="1669449" y="950283"/>
                  <a:pt x="1704318" y="922384"/>
                </a:cubicBezTo>
                <a:cubicBezTo>
                  <a:pt x="1801616" y="844534"/>
                  <a:pt x="1754028" y="866818"/>
                  <a:pt x="1837990" y="838826"/>
                </a:cubicBezTo>
                <a:cubicBezTo>
                  <a:pt x="1860269" y="822114"/>
                  <a:pt x="1882165" y="804880"/>
                  <a:pt x="1904826" y="788691"/>
                </a:cubicBezTo>
                <a:cubicBezTo>
                  <a:pt x="1921167" y="777017"/>
                  <a:pt x="1935025" y="757759"/>
                  <a:pt x="1954953" y="755268"/>
                </a:cubicBezTo>
                <a:cubicBezTo>
                  <a:pt x="1983134" y="751745"/>
                  <a:pt x="2010650" y="766409"/>
                  <a:pt x="2038498" y="771980"/>
                </a:cubicBezTo>
                <a:cubicBezTo>
                  <a:pt x="2027359" y="799833"/>
                  <a:pt x="2023495" y="831858"/>
                  <a:pt x="2005080" y="855538"/>
                </a:cubicBezTo>
                <a:cubicBezTo>
                  <a:pt x="1983186" y="883692"/>
                  <a:pt x="1946752" y="897163"/>
                  <a:pt x="1921535" y="922384"/>
                </a:cubicBezTo>
                <a:cubicBezTo>
                  <a:pt x="1896317" y="947606"/>
                  <a:pt x="1878183" y="979098"/>
                  <a:pt x="1854699" y="1005941"/>
                </a:cubicBezTo>
                <a:cubicBezTo>
                  <a:pt x="1839139" y="1023727"/>
                  <a:pt x="1819950" y="1038132"/>
                  <a:pt x="1804572" y="1056076"/>
                </a:cubicBezTo>
                <a:cubicBezTo>
                  <a:pt x="1786448" y="1077223"/>
                  <a:pt x="1772569" y="1101775"/>
                  <a:pt x="1754445" y="1122922"/>
                </a:cubicBezTo>
                <a:cubicBezTo>
                  <a:pt x="1739067" y="1140866"/>
                  <a:pt x="1718496" y="1154150"/>
                  <a:pt x="1704318" y="1173057"/>
                </a:cubicBezTo>
                <a:cubicBezTo>
                  <a:pt x="1684832" y="1199043"/>
                  <a:pt x="1675327" y="1231953"/>
                  <a:pt x="1654191" y="1256615"/>
                </a:cubicBezTo>
                <a:cubicBezTo>
                  <a:pt x="1641123" y="1271864"/>
                  <a:pt x="1619177" y="1276812"/>
                  <a:pt x="1604064" y="1290038"/>
                </a:cubicBezTo>
                <a:cubicBezTo>
                  <a:pt x="1574425" y="1315976"/>
                  <a:pt x="1550584" y="1348151"/>
                  <a:pt x="1520519" y="1373595"/>
                </a:cubicBezTo>
                <a:cubicBezTo>
                  <a:pt x="1478001" y="1409577"/>
                  <a:pt x="1426230" y="1434476"/>
                  <a:pt x="1386847" y="1473865"/>
                </a:cubicBezTo>
                <a:cubicBezTo>
                  <a:pt x="1364568" y="1496147"/>
                  <a:pt x="1344216" y="1520538"/>
                  <a:pt x="1320011" y="1540711"/>
                </a:cubicBezTo>
                <a:cubicBezTo>
                  <a:pt x="1277224" y="1576372"/>
                  <a:pt x="1225722" y="1601591"/>
                  <a:pt x="1186339" y="1640980"/>
                </a:cubicBezTo>
                <a:cubicBezTo>
                  <a:pt x="1147351" y="1679974"/>
                  <a:pt x="1094033" y="1708640"/>
                  <a:pt x="1069376" y="1757961"/>
                </a:cubicBezTo>
                <a:cubicBezTo>
                  <a:pt x="1058237" y="1780243"/>
                  <a:pt x="1051904" y="1805668"/>
                  <a:pt x="1035958" y="1824807"/>
                </a:cubicBezTo>
                <a:cubicBezTo>
                  <a:pt x="995618" y="1873222"/>
                  <a:pt x="946843" y="1913935"/>
                  <a:pt x="902286" y="1958499"/>
                </a:cubicBezTo>
                <a:lnTo>
                  <a:pt x="852159" y="2008634"/>
                </a:lnTo>
                <a:lnTo>
                  <a:pt x="735196" y="2125615"/>
                </a:lnTo>
                <a:cubicBezTo>
                  <a:pt x="718487" y="2142327"/>
                  <a:pt x="699830" y="2157295"/>
                  <a:pt x="685069" y="2175750"/>
                </a:cubicBezTo>
                <a:cubicBezTo>
                  <a:pt x="662790" y="2203602"/>
                  <a:pt x="638015" y="2229629"/>
                  <a:pt x="618233" y="2259307"/>
                </a:cubicBezTo>
                <a:cubicBezTo>
                  <a:pt x="604416" y="2280035"/>
                  <a:pt x="599293" y="2305881"/>
                  <a:pt x="584815" y="2326153"/>
                </a:cubicBezTo>
                <a:cubicBezTo>
                  <a:pt x="571081" y="2345384"/>
                  <a:pt x="549815" y="2358132"/>
                  <a:pt x="534688" y="2376288"/>
                </a:cubicBezTo>
                <a:cubicBezTo>
                  <a:pt x="521832" y="2391718"/>
                  <a:pt x="514126" y="2410993"/>
                  <a:pt x="501270" y="2426423"/>
                </a:cubicBezTo>
                <a:cubicBezTo>
                  <a:pt x="432503" y="2508955"/>
                  <a:pt x="447658" y="2450106"/>
                  <a:pt x="384307" y="2576827"/>
                </a:cubicBezTo>
                <a:cubicBezTo>
                  <a:pt x="373168" y="2599109"/>
                  <a:pt x="333275" y="2661289"/>
                  <a:pt x="350889" y="2643673"/>
                </a:cubicBezTo>
                <a:cubicBezTo>
                  <a:pt x="406864" y="2587689"/>
                  <a:pt x="440456" y="2510532"/>
                  <a:pt x="501270" y="2459846"/>
                </a:cubicBezTo>
                <a:lnTo>
                  <a:pt x="701778" y="2292730"/>
                </a:lnTo>
                <a:cubicBezTo>
                  <a:pt x="729307" y="2270055"/>
                  <a:pt x="757172" y="2247782"/>
                  <a:pt x="785323" y="2225884"/>
                </a:cubicBezTo>
                <a:cubicBezTo>
                  <a:pt x="807305" y="2208784"/>
                  <a:pt x="825739" y="2184558"/>
                  <a:pt x="852159" y="2175750"/>
                </a:cubicBezTo>
                <a:lnTo>
                  <a:pt x="902286" y="2159038"/>
                </a:lnTo>
                <a:cubicBezTo>
                  <a:pt x="924565" y="2142326"/>
                  <a:pt x="944213" y="2121359"/>
                  <a:pt x="969122" y="2108903"/>
                </a:cubicBezTo>
                <a:cubicBezTo>
                  <a:pt x="1025654" y="2080632"/>
                  <a:pt x="1091804" y="2070994"/>
                  <a:pt x="1152921" y="2058769"/>
                </a:cubicBezTo>
                <a:cubicBezTo>
                  <a:pt x="1180769" y="2081051"/>
                  <a:pt x="1201493" y="2132611"/>
                  <a:pt x="1236466" y="2125615"/>
                </a:cubicBezTo>
                <a:cubicBezTo>
                  <a:pt x="1279125" y="2117082"/>
                  <a:pt x="1289251" y="2056111"/>
                  <a:pt x="1320011" y="2025346"/>
                </a:cubicBezTo>
                <a:cubicBezTo>
                  <a:pt x="1350770" y="1994582"/>
                  <a:pt x="1385330" y="1967712"/>
                  <a:pt x="1420265" y="1941788"/>
                </a:cubicBezTo>
                <a:cubicBezTo>
                  <a:pt x="1984394" y="1523177"/>
                  <a:pt x="1652077" y="1760181"/>
                  <a:pt x="2038498" y="1523999"/>
                </a:cubicBezTo>
                <a:cubicBezTo>
                  <a:pt x="2072769" y="1503052"/>
                  <a:pt x="2104546" y="1478206"/>
                  <a:pt x="2138752" y="1457153"/>
                </a:cubicBezTo>
                <a:cubicBezTo>
                  <a:pt x="2452211" y="1264226"/>
                  <a:pt x="2118552" y="1473472"/>
                  <a:pt x="2322551" y="1356884"/>
                </a:cubicBezTo>
                <a:cubicBezTo>
                  <a:pt x="2412299" y="1305592"/>
                  <a:pt x="2329737" y="1334198"/>
                  <a:pt x="2439514" y="1306749"/>
                </a:cubicBezTo>
                <a:cubicBezTo>
                  <a:pt x="2407558" y="1402633"/>
                  <a:pt x="2445691" y="1313130"/>
                  <a:pt x="2372678" y="1407018"/>
                </a:cubicBezTo>
                <a:cubicBezTo>
                  <a:pt x="2348020" y="1438726"/>
                  <a:pt x="2334243" y="1478883"/>
                  <a:pt x="2305842" y="1507288"/>
                </a:cubicBezTo>
                <a:cubicBezTo>
                  <a:pt x="2283563" y="1529570"/>
                  <a:pt x="2258349" y="1549261"/>
                  <a:pt x="2239006" y="1574134"/>
                </a:cubicBezTo>
                <a:cubicBezTo>
                  <a:pt x="2219067" y="1599774"/>
                  <a:pt x="2206092" y="1630148"/>
                  <a:pt x="2188879" y="1657692"/>
                </a:cubicBezTo>
                <a:cubicBezTo>
                  <a:pt x="2178236" y="1674724"/>
                  <a:pt x="2167133" y="1691482"/>
                  <a:pt x="2155461" y="1707826"/>
                </a:cubicBezTo>
                <a:cubicBezTo>
                  <a:pt x="2139274" y="1730490"/>
                  <a:pt x="2121520" y="1752008"/>
                  <a:pt x="2105334" y="1774672"/>
                </a:cubicBezTo>
                <a:cubicBezTo>
                  <a:pt x="2093662" y="1791016"/>
                  <a:pt x="2084772" y="1809377"/>
                  <a:pt x="2071916" y="1824807"/>
                </a:cubicBezTo>
                <a:cubicBezTo>
                  <a:pt x="2056789" y="1842963"/>
                  <a:pt x="2037167" y="1856998"/>
                  <a:pt x="2021789" y="1874942"/>
                </a:cubicBezTo>
                <a:cubicBezTo>
                  <a:pt x="2003665" y="1896089"/>
                  <a:pt x="1990480" y="1921256"/>
                  <a:pt x="1971662" y="1941788"/>
                </a:cubicBezTo>
                <a:cubicBezTo>
                  <a:pt x="1929082" y="1988245"/>
                  <a:pt x="1866169" y="2019113"/>
                  <a:pt x="1837990" y="2075480"/>
                </a:cubicBezTo>
                <a:cubicBezTo>
                  <a:pt x="1826851" y="2097762"/>
                  <a:pt x="1818389" y="2121598"/>
                  <a:pt x="1804572" y="2142326"/>
                </a:cubicBezTo>
                <a:cubicBezTo>
                  <a:pt x="1795834" y="2155435"/>
                  <a:pt x="1780995" y="2163447"/>
                  <a:pt x="1771154" y="2175750"/>
                </a:cubicBezTo>
                <a:cubicBezTo>
                  <a:pt x="1736361" y="2219249"/>
                  <a:pt x="1701794" y="2263093"/>
                  <a:pt x="1670900" y="2309442"/>
                </a:cubicBezTo>
                <a:cubicBezTo>
                  <a:pt x="1659761" y="2326154"/>
                  <a:pt x="1645638" y="2341224"/>
                  <a:pt x="1637482" y="2359577"/>
                </a:cubicBezTo>
                <a:cubicBezTo>
                  <a:pt x="1623175" y="2391772"/>
                  <a:pt x="1615203" y="2426423"/>
                  <a:pt x="1604064" y="2459846"/>
                </a:cubicBezTo>
                <a:cubicBezTo>
                  <a:pt x="1598494" y="2476557"/>
                  <a:pt x="1594508" y="2493883"/>
                  <a:pt x="1587355" y="2509980"/>
                </a:cubicBezTo>
                <a:cubicBezTo>
                  <a:pt x="1544281" y="2606912"/>
                  <a:pt x="1519971" y="2638332"/>
                  <a:pt x="1503810" y="2727230"/>
                </a:cubicBezTo>
                <a:cubicBezTo>
                  <a:pt x="1496765" y="2765984"/>
                  <a:pt x="1474647" y="2806842"/>
                  <a:pt x="1487101" y="2844211"/>
                </a:cubicBezTo>
                <a:cubicBezTo>
                  <a:pt x="1492670" y="2860920"/>
                  <a:pt x="1520519" y="2833070"/>
                  <a:pt x="1537228" y="2827500"/>
                </a:cubicBezTo>
                <a:cubicBezTo>
                  <a:pt x="1570789" y="2777150"/>
                  <a:pt x="1578625" y="2769885"/>
                  <a:pt x="1604064" y="2710519"/>
                </a:cubicBezTo>
                <a:cubicBezTo>
                  <a:pt x="1611002" y="2694328"/>
                  <a:pt x="1611003" y="2675042"/>
                  <a:pt x="1620773" y="2660384"/>
                </a:cubicBezTo>
                <a:cubicBezTo>
                  <a:pt x="1633880" y="2640720"/>
                  <a:pt x="1655773" y="2628406"/>
                  <a:pt x="1670900" y="2610250"/>
                </a:cubicBezTo>
                <a:cubicBezTo>
                  <a:pt x="1683756" y="2594820"/>
                  <a:pt x="1692646" y="2576459"/>
                  <a:pt x="1704318" y="2560115"/>
                </a:cubicBezTo>
                <a:cubicBezTo>
                  <a:pt x="1739070" y="2511454"/>
                  <a:pt x="1759829" y="2481491"/>
                  <a:pt x="1804572" y="2443134"/>
                </a:cubicBezTo>
                <a:cubicBezTo>
                  <a:pt x="1825716" y="2425008"/>
                  <a:pt x="1851717" y="2412694"/>
                  <a:pt x="1871408" y="2393000"/>
                </a:cubicBezTo>
                <a:cubicBezTo>
                  <a:pt x="1919306" y="2345095"/>
                  <a:pt x="1908657" y="2316360"/>
                  <a:pt x="1971662" y="2292730"/>
                </a:cubicBezTo>
                <a:cubicBezTo>
                  <a:pt x="1998253" y="2282757"/>
                  <a:pt x="2027655" y="2282908"/>
                  <a:pt x="2055207" y="2276019"/>
                </a:cubicBezTo>
                <a:cubicBezTo>
                  <a:pt x="2072294" y="2271747"/>
                  <a:pt x="2088625" y="2264878"/>
                  <a:pt x="2105334" y="2259307"/>
                </a:cubicBezTo>
                <a:cubicBezTo>
                  <a:pt x="2116473" y="2242596"/>
                  <a:pt x="2123070" y="2221720"/>
                  <a:pt x="2138752" y="2209173"/>
                </a:cubicBezTo>
                <a:cubicBezTo>
                  <a:pt x="2152505" y="2198169"/>
                  <a:pt x="2176426" y="2204916"/>
                  <a:pt x="2188879" y="2192461"/>
                </a:cubicBezTo>
                <a:cubicBezTo>
                  <a:pt x="2217280" y="2164056"/>
                  <a:pt x="2237754" y="2128120"/>
                  <a:pt x="2255715" y="2092192"/>
                </a:cubicBezTo>
                <a:cubicBezTo>
                  <a:pt x="2366547" y="1870496"/>
                  <a:pt x="2232085" y="2147336"/>
                  <a:pt x="2305842" y="1975211"/>
                </a:cubicBezTo>
                <a:cubicBezTo>
                  <a:pt x="2315654" y="1952313"/>
                  <a:pt x="2330514" y="1931691"/>
                  <a:pt x="2339260" y="1908365"/>
                </a:cubicBezTo>
                <a:cubicBezTo>
                  <a:pt x="2347323" y="1886859"/>
                  <a:pt x="2349660" y="1863603"/>
                  <a:pt x="2355969" y="1841519"/>
                </a:cubicBezTo>
                <a:cubicBezTo>
                  <a:pt x="2360808" y="1824581"/>
                  <a:pt x="2368406" y="1808474"/>
                  <a:pt x="2372678" y="1791384"/>
                </a:cubicBezTo>
                <a:cubicBezTo>
                  <a:pt x="2379566" y="1763828"/>
                  <a:pt x="2383001" y="1735503"/>
                  <a:pt x="2389387" y="1707826"/>
                </a:cubicBezTo>
                <a:cubicBezTo>
                  <a:pt x="2417654" y="1585318"/>
                  <a:pt x="2411895" y="1606870"/>
                  <a:pt x="2439514" y="1523999"/>
                </a:cubicBezTo>
                <a:cubicBezTo>
                  <a:pt x="2535418" y="1907672"/>
                  <a:pt x="2407796" y="1375786"/>
                  <a:pt x="2472932" y="2526692"/>
                </a:cubicBezTo>
                <a:cubicBezTo>
                  <a:pt x="2474067" y="2546744"/>
                  <a:pt x="2492150" y="2490760"/>
                  <a:pt x="2506350" y="2476557"/>
                </a:cubicBezTo>
                <a:cubicBezTo>
                  <a:pt x="2526041" y="2456863"/>
                  <a:pt x="2550907" y="2443134"/>
                  <a:pt x="2573186" y="2426423"/>
                </a:cubicBezTo>
                <a:cubicBezTo>
                  <a:pt x="2584325" y="2404141"/>
                  <a:pt x="2592787" y="2380305"/>
                  <a:pt x="2606604" y="2359577"/>
                </a:cubicBezTo>
                <a:cubicBezTo>
                  <a:pt x="2615342" y="2346468"/>
                  <a:pt x="2631917" y="2339663"/>
                  <a:pt x="2640022" y="2326153"/>
                </a:cubicBezTo>
                <a:cubicBezTo>
                  <a:pt x="2650948" y="2307939"/>
                  <a:pt x="2669468" y="2223078"/>
                  <a:pt x="2673440" y="2209173"/>
                </a:cubicBezTo>
                <a:cubicBezTo>
                  <a:pt x="2678279" y="2192235"/>
                  <a:pt x="2685515" y="2176033"/>
                  <a:pt x="2690149" y="2159038"/>
                </a:cubicBezTo>
                <a:cubicBezTo>
                  <a:pt x="2714264" y="2070603"/>
                  <a:pt x="2737929" y="1963883"/>
                  <a:pt x="2756985" y="1874942"/>
                </a:cubicBezTo>
                <a:cubicBezTo>
                  <a:pt x="2762936" y="1847168"/>
                  <a:pt x="2764713" y="1818331"/>
                  <a:pt x="2773694" y="1791384"/>
                </a:cubicBezTo>
                <a:cubicBezTo>
                  <a:pt x="2802987" y="1703492"/>
                  <a:pt x="2803861" y="1747751"/>
                  <a:pt x="2840530" y="1674403"/>
                </a:cubicBezTo>
                <a:cubicBezTo>
                  <a:pt x="2848407" y="1658647"/>
                  <a:pt x="2851669" y="1640980"/>
                  <a:pt x="2857239" y="1624269"/>
                </a:cubicBezTo>
                <a:cubicBezTo>
                  <a:pt x="2899272" y="1652295"/>
                  <a:pt x="2920971" y="1651945"/>
                  <a:pt x="2924075" y="1707826"/>
                </a:cubicBezTo>
                <a:cubicBezTo>
                  <a:pt x="2960127" y="2356866"/>
                  <a:pt x="2893856" y="2071569"/>
                  <a:pt x="2957493" y="2326153"/>
                </a:cubicBezTo>
                <a:cubicBezTo>
                  <a:pt x="2969261" y="2243767"/>
                  <a:pt x="2969425" y="2213956"/>
                  <a:pt x="2990911" y="2142326"/>
                </a:cubicBezTo>
                <a:cubicBezTo>
                  <a:pt x="3026013" y="2025301"/>
                  <a:pt x="3017889" y="2064804"/>
                  <a:pt x="3057747" y="1958499"/>
                </a:cubicBezTo>
                <a:cubicBezTo>
                  <a:pt x="3085824" y="1883615"/>
                  <a:pt x="3064830" y="1929314"/>
                  <a:pt x="3091165" y="1841519"/>
                </a:cubicBezTo>
                <a:cubicBezTo>
                  <a:pt x="3152185" y="1638088"/>
                  <a:pt x="3102779" y="1828476"/>
                  <a:pt x="3141292" y="1674403"/>
                </a:cubicBezTo>
                <a:cubicBezTo>
                  <a:pt x="3146862" y="1741249"/>
                  <a:pt x="3140720" y="1810128"/>
                  <a:pt x="3158001" y="1874942"/>
                </a:cubicBezTo>
                <a:cubicBezTo>
                  <a:pt x="3164089" y="1897776"/>
                  <a:pt x="3193001" y="1906920"/>
                  <a:pt x="3208128" y="1925076"/>
                </a:cubicBezTo>
                <a:cubicBezTo>
                  <a:pt x="3220984" y="1940506"/>
                  <a:pt x="3230407" y="1958499"/>
                  <a:pt x="3241546" y="1975211"/>
                </a:cubicBezTo>
                <a:cubicBezTo>
                  <a:pt x="3258255" y="1958499"/>
                  <a:pt x="3286805" y="1948201"/>
                  <a:pt x="3291673" y="1925076"/>
                </a:cubicBezTo>
                <a:cubicBezTo>
                  <a:pt x="3312551" y="1825890"/>
                  <a:pt x="3308382" y="1571150"/>
                  <a:pt x="3308382" y="1457153"/>
                </a:cubicBez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843382" y="3810001"/>
            <a:ext cx="1709818" cy="1511774"/>
          </a:xfrm>
          <a:custGeom>
            <a:avLst/>
            <a:gdLst>
              <a:gd name="connsiteX0" fmla="*/ 1273541 w 2617069"/>
              <a:gd name="connsiteY0" fmla="*/ 0 h 3074925"/>
              <a:gd name="connsiteX1" fmla="*/ 1189996 w 2617069"/>
              <a:gd name="connsiteY1" fmla="*/ 33424 h 3074925"/>
              <a:gd name="connsiteX2" fmla="*/ 1139869 w 2617069"/>
              <a:gd name="connsiteY2" fmla="*/ 50135 h 3074925"/>
              <a:gd name="connsiteX3" fmla="*/ 1073033 w 2617069"/>
              <a:gd name="connsiteY3" fmla="*/ 83558 h 3074925"/>
              <a:gd name="connsiteX4" fmla="*/ 1022906 w 2617069"/>
              <a:gd name="connsiteY4" fmla="*/ 116981 h 3074925"/>
              <a:gd name="connsiteX5" fmla="*/ 922652 w 2617069"/>
              <a:gd name="connsiteY5" fmla="*/ 133693 h 3074925"/>
              <a:gd name="connsiteX6" fmla="*/ 772271 w 2617069"/>
              <a:gd name="connsiteY6" fmla="*/ 250674 h 3074925"/>
              <a:gd name="connsiteX7" fmla="*/ 722144 w 2617069"/>
              <a:gd name="connsiteY7" fmla="*/ 284097 h 3074925"/>
              <a:gd name="connsiteX8" fmla="*/ 672017 w 2617069"/>
              <a:gd name="connsiteY8" fmla="*/ 334231 h 3074925"/>
              <a:gd name="connsiteX9" fmla="*/ 621890 w 2617069"/>
              <a:gd name="connsiteY9" fmla="*/ 367654 h 3074925"/>
              <a:gd name="connsiteX10" fmla="*/ 571763 w 2617069"/>
              <a:gd name="connsiteY10" fmla="*/ 417789 h 3074925"/>
              <a:gd name="connsiteX11" fmla="*/ 521636 w 2617069"/>
              <a:gd name="connsiteY11" fmla="*/ 434501 h 3074925"/>
              <a:gd name="connsiteX12" fmla="*/ 471509 w 2617069"/>
              <a:gd name="connsiteY12" fmla="*/ 484635 h 3074925"/>
              <a:gd name="connsiteX13" fmla="*/ 421382 w 2617069"/>
              <a:gd name="connsiteY13" fmla="*/ 518058 h 3074925"/>
              <a:gd name="connsiteX14" fmla="*/ 387964 w 2617069"/>
              <a:gd name="connsiteY14" fmla="*/ 568193 h 3074925"/>
              <a:gd name="connsiteX15" fmla="*/ 287710 w 2617069"/>
              <a:gd name="connsiteY15" fmla="*/ 651751 h 3074925"/>
              <a:gd name="connsiteX16" fmla="*/ 254292 w 2617069"/>
              <a:gd name="connsiteY16" fmla="*/ 701885 h 3074925"/>
              <a:gd name="connsiteX17" fmla="*/ 154038 w 2617069"/>
              <a:gd name="connsiteY17" fmla="*/ 802155 h 3074925"/>
              <a:gd name="connsiteX18" fmla="*/ 120620 w 2617069"/>
              <a:gd name="connsiteY18" fmla="*/ 852289 h 3074925"/>
              <a:gd name="connsiteX19" fmla="*/ 70493 w 2617069"/>
              <a:gd name="connsiteY19" fmla="*/ 902424 h 3074925"/>
              <a:gd name="connsiteX20" fmla="*/ 37075 w 2617069"/>
              <a:gd name="connsiteY20" fmla="*/ 952558 h 3074925"/>
              <a:gd name="connsiteX21" fmla="*/ 3657 w 2617069"/>
              <a:gd name="connsiteY21" fmla="*/ 985982 h 3074925"/>
              <a:gd name="connsiteX22" fmla="*/ 220874 w 2617069"/>
              <a:gd name="connsiteY22" fmla="*/ 935847 h 3074925"/>
              <a:gd name="connsiteX23" fmla="*/ 271001 w 2617069"/>
              <a:gd name="connsiteY23" fmla="*/ 919135 h 3074925"/>
              <a:gd name="connsiteX24" fmla="*/ 321128 w 2617069"/>
              <a:gd name="connsiteY24" fmla="*/ 885712 h 3074925"/>
              <a:gd name="connsiteX25" fmla="*/ 521636 w 2617069"/>
              <a:gd name="connsiteY25" fmla="*/ 869001 h 3074925"/>
              <a:gd name="connsiteX26" fmla="*/ 672017 w 2617069"/>
              <a:gd name="connsiteY26" fmla="*/ 785443 h 3074925"/>
              <a:gd name="connsiteX27" fmla="*/ 738853 w 2617069"/>
              <a:gd name="connsiteY27" fmla="*/ 718597 h 3074925"/>
              <a:gd name="connsiteX28" fmla="*/ 1056324 w 2617069"/>
              <a:gd name="connsiteY28" fmla="*/ 484635 h 3074925"/>
              <a:gd name="connsiteX29" fmla="*/ 1139869 w 2617069"/>
              <a:gd name="connsiteY29" fmla="*/ 434501 h 3074925"/>
              <a:gd name="connsiteX30" fmla="*/ 1290250 w 2617069"/>
              <a:gd name="connsiteY30" fmla="*/ 384366 h 3074925"/>
              <a:gd name="connsiteX31" fmla="*/ 1407213 w 2617069"/>
              <a:gd name="connsiteY31" fmla="*/ 350943 h 3074925"/>
              <a:gd name="connsiteX32" fmla="*/ 1624430 w 2617069"/>
              <a:gd name="connsiteY32" fmla="*/ 334231 h 3074925"/>
              <a:gd name="connsiteX33" fmla="*/ 2125700 w 2617069"/>
              <a:gd name="connsiteY33" fmla="*/ 317520 h 3074925"/>
              <a:gd name="connsiteX34" fmla="*/ 2058864 w 2617069"/>
              <a:gd name="connsiteY34" fmla="*/ 367654 h 3074925"/>
              <a:gd name="connsiteX35" fmla="*/ 2008737 w 2617069"/>
              <a:gd name="connsiteY35" fmla="*/ 384366 h 3074925"/>
              <a:gd name="connsiteX36" fmla="*/ 1875065 w 2617069"/>
              <a:gd name="connsiteY36" fmla="*/ 434501 h 3074925"/>
              <a:gd name="connsiteX37" fmla="*/ 1691266 w 2617069"/>
              <a:gd name="connsiteY37" fmla="*/ 584904 h 3074925"/>
              <a:gd name="connsiteX38" fmla="*/ 1657848 w 2617069"/>
              <a:gd name="connsiteY38" fmla="*/ 635039 h 3074925"/>
              <a:gd name="connsiteX39" fmla="*/ 1641139 w 2617069"/>
              <a:gd name="connsiteY39" fmla="*/ 685174 h 3074925"/>
              <a:gd name="connsiteX40" fmla="*/ 1591012 w 2617069"/>
              <a:gd name="connsiteY40" fmla="*/ 701885 h 3074925"/>
              <a:gd name="connsiteX41" fmla="*/ 1540885 w 2617069"/>
              <a:gd name="connsiteY41" fmla="*/ 735308 h 3074925"/>
              <a:gd name="connsiteX42" fmla="*/ 1490758 w 2617069"/>
              <a:gd name="connsiteY42" fmla="*/ 785443 h 3074925"/>
              <a:gd name="connsiteX43" fmla="*/ 1390504 w 2617069"/>
              <a:gd name="connsiteY43" fmla="*/ 818866 h 3074925"/>
              <a:gd name="connsiteX44" fmla="*/ 1156578 w 2617069"/>
              <a:gd name="connsiteY44" fmla="*/ 885712 h 3074925"/>
              <a:gd name="connsiteX45" fmla="*/ 1106451 w 2617069"/>
              <a:gd name="connsiteY45" fmla="*/ 902424 h 3074925"/>
              <a:gd name="connsiteX46" fmla="*/ 1056324 w 2617069"/>
              <a:gd name="connsiteY46" fmla="*/ 919135 h 3074925"/>
              <a:gd name="connsiteX47" fmla="*/ 989488 w 2617069"/>
              <a:gd name="connsiteY47" fmla="*/ 952558 h 3074925"/>
              <a:gd name="connsiteX48" fmla="*/ 889234 w 2617069"/>
              <a:gd name="connsiteY48" fmla="*/ 985982 h 3074925"/>
              <a:gd name="connsiteX49" fmla="*/ 788980 w 2617069"/>
              <a:gd name="connsiteY49" fmla="*/ 1036116 h 3074925"/>
              <a:gd name="connsiteX50" fmla="*/ 855816 w 2617069"/>
              <a:gd name="connsiteY50" fmla="*/ 1069539 h 3074925"/>
              <a:gd name="connsiteX51" fmla="*/ 1039615 w 2617069"/>
              <a:gd name="connsiteY51" fmla="*/ 1019405 h 3074925"/>
              <a:gd name="connsiteX52" fmla="*/ 1156578 w 2617069"/>
              <a:gd name="connsiteY52" fmla="*/ 1002693 h 3074925"/>
              <a:gd name="connsiteX53" fmla="*/ 1357086 w 2617069"/>
              <a:gd name="connsiteY53" fmla="*/ 952558 h 3074925"/>
              <a:gd name="connsiteX54" fmla="*/ 1540885 w 2617069"/>
              <a:gd name="connsiteY54" fmla="*/ 919135 h 3074925"/>
              <a:gd name="connsiteX55" fmla="*/ 2342917 w 2617069"/>
              <a:gd name="connsiteY55" fmla="*/ 952558 h 3074925"/>
              <a:gd name="connsiteX56" fmla="*/ 2526716 w 2617069"/>
              <a:gd name="connsiteY56" fmla="*/ 985982 h 3074925"/>
              <a:gd name="connsiteX57" fmla="*/ 2593552 w 2617069"/>
              <a:gd name="connsiteY57" fmla="*/ 1019405 h 3074925"/>
              <a:gd name="connsiteX58" fmla="*/ 2192536 w 2617069"/>
              <a:gd name="connsiteY58" fmla="*/ 1086251 h 3074925"/>
              <a:gd name="connsiteX59" fmla="*/ 2142409 w 2617069"/>
              <a:gd name="connsiteY59" fmla="*/ 1119674 h 3074925"/>
              <a:gd name="connsiteX60" fmla="*/ 2008737 w 2617069"/>
              <a:gd name="connsiteY60" fmla="*/ 1186520 h 3074925"/>
              <a:gd name="connsiteX61" fmla="*/ 1908483 w 2617069"/>
              <a:gd name="connsiteY61" fmla="*/ 1286789 h 3074925"/>
              <a:gd name="connsiteX62" fmla="*/ 1858356 w 2617069"/>
              <a:gd name="connsiteY62" fmla="*/ 1320212 h 3074925"/>
              <a:gd name="connsiteX63" fmla="*/ 1674557 w 2617069"/>
              <a:gd name="connsiteY63" fmla="*/ 1336924 h 3074925"/>
              <a:gd name="connsiteX64" fmla="*/ 1524176 w 2617069"/>
              <a:gd name="connsiteY64" fmla="*/ 1370347 h 3074925"/>
              <a:gd name="connsiteX65" fmla="*/ 1139869 w 2617069"/>
              <a:gd name="connsiteY65" fmla="*/ 1387059 h 3074925"/>
              <a:gd name="connsiteX66" fmla="*/ 1089742 w 2617069"/>
              <a:gd name="connsiteY66" fmla="*/ 1420482 h 3074925"/>
              <a:gd name="connsiteX67" fmla="*/ 1022906 w 2617069"/>
              <a:gd name="connsiteY67" fmla="*/ 1504039 h 3074925"/>
              <a:gd name="connsiteX68" fmla="*/ 1006197 w 2617069"/>
              <a:gd name="connsiteY68" fmla="*/ 1554174 h 3074925"/>
              <a:gd name="connsiteX69" fmla="*/ 1089742 w 2617069"/>
              <a:gd name="connsiteY69" fmla="*/ 1520751 h 3074925"/>
              <a:gd name="connsiteX70" fmla="*/ 1373795 w 2617069"/>
              <a:gd name="connsiteY70" fmla="*/ 1470616 h 3074925"/>
              <a:gd name="connsiteX71" fmla="*/ 1741393 w 2617069"/>
              <a:gd name="connsiteY71" fmla="*/ 1487328 h 3074925"/>
              <a:gd name="connsiteX72" fmla="*/ 1791520 w 2617069"/>
              <a:gd name="connsiteY72" fmla="*/ 1504039 h 3074925"/>
              <a:gd name="connsiteX73" fmla="*/ 1858356 w 2617069"/>
              <a:gd name="connsiteY73" fmla="*/ 1520751 h 3074925"/>
              <a:gd name="connsiteX74" fmla="*/ 1908483 w 2617069"/>
              <a:gd name="connsiteY74" fmla="*/ 1554174 h 3074925"/>
              <a:gd name="connsiteX75" fmla="*/ 2008737 w 2617069"/>
              <a:gd name="connsiteY75" fmla="*/ 1587597 h 3074925"/>
              <a:gd name="connsiteX76" fmla="*/ 2075573 w 2617069"/>
              <a:gd name="connsiteY76" fmla="*/ 1621020 h 3074925"/>
              <a:gd name="connsiteX77" fmla="*/ 2125700 w 2617069"/>
              <a:gd name="connsiteY77" fmla="*/ 1671155 h 3074925"/>
              <a:gd name="connsiteX78" fmla="*/ 2175827 w 2617069"/>
              <a:gd name="connsiteY78" fmla="*/ 1687866 h 3074925"/>
              <a:gd name="connsiteX79" fmla="*/ 2476589 w 2617069"/>
              <a:gd name="connsiteY79" fmla="*/ 1721289 h 3074925"/>
              <a:gd name="connsiteX80" fmla="*/ 2526716 w 2617069"/>
              <a:gd name="connsiteY80" fmla="*/ 1738001 h 3074925"/>
              <a:gd name="connsiteX81" fmla="*/ 2459880 w 2617069"/>
              <a:gd name="connsiteY81" fmla="*/ 1788136 h 3074925"/>
              <a:gd name="connsiteX82" fmla="*/ 2393044 w 2617069"/>
              <a:gd name="connsiteY82" fmla="*/ 1804847 h 3074925"/>
              <a:gd name="connsiteX83" fmla="*/ 2225954 w 2617069"/>
              <a:gd name="connsiteY83" fmla="*/ 1838270 h 3074925"/>
              <a:gd name="connsiteX84" fmla="*/ 1707975 w 2617069"/>
              <a:gd name="connsiteY84" fmla="*/ 1854982 h 3074925"/>
              <a:gd name="connsiteX85" fmla="*/ 1641139 w 2617069"/>
              <a:gd name="connsiteY85" fmla="*/ 1871693 h 3074925"/>
              <a:gd name="connsiteX86" fmla="*/ 1323668 w 2617069"/>
              <a:gd name="connsiteY86" fmla="*/ 1905116 h 3074925"/>
              <a:gd name="connsiteX87" fmla="*/ 1273541 w 2617069"/>
              <a:gd name="connsiteY87" fmla="*/ 1921828 h 3074925"/>
              <a:gd name="connsiteX88" fmla="*/ 1240123 w 2617069"/>
              <a:gd name="connsiteY88" fmla="*/ 1971963 h 3074925"/>
              <a:gd name="connsiteX89" fmla="*/ 1139869 w 2617069"/>
              <a:gd name="connsiteY89" fmla="*/ 2005386 h 3074925"/>
              <a:gd name="connsiteX90" fmla="*/ 1189996 w 2617069"/>
              <a:gd name="connsiteY90" fmla="*/ 1971963 h 3074925"/>
              <a:gd name="connsiteX91" fmla="*/ 1707975 w 2617069"/>
              <a:gd name="connsiteY91" fmla="*/ 1988674 h 3074925"/>
              <a:gd name="connsiteX92" fmla="*/ 1908483 w 2617069"/>
              <a:gd name="connsiteY92" fmla="*/ 2022097 h 3074925"/>
              <a:gd name="connsiteX93" fmla="*/ 2075573 w 2617069"/>
              <a:gd name="connsiteY93" fmla="*/ 2055520 h 3074925"/>
              <a:gd name="connsiteX94" fmla="*/ 2192536 w 2617069"/>
              <a:gd name="connsiteY94" fmla="*/ 2122367 h 3074925"/>
              <a:gd name="connsiteX95" fmla="*/ 2376335 w 2617069"/>
              <a:gd name="connsiteY95" fmla="*/ 2239347 h 3074925"/>
              <a:gd name="connsiteX96" fmla="*/ 2426462 w 2617069"/>
              <a:gd name="connsiteY96" fmla="*/ 2272770 h 3074925"/>
              <a:gd name="connsiteX97" fmla="*/ 2476589 w 2617069"/>
              <a:gd name="connsiteY97" fmla="*/ 2306194 h 3074925"/>
              <a:gd name="connsiteX98" fmla="*/ 2426462 w 2617069"/>
              <a:gd name="connsiteY98" fmla="*/ 2322905 h 3074925"/>
              <a:gd name="connsiteX99" fmla="*/ 2342917 w 2617069"/>
              <a:gd name="connsiteY99" fmla="*/ 2356328 h 3074925"/>
              <a:gd name="connsiteX100" fmla="*/ 2225954 w 2617069"/>
              <a:gd name="connsiteY100" fmla="*/ 2373040 h 3074925"/>
              <a:gd name="connsiteX101" fmla="*/ 1507467 w 2617069"/>
              <a:gd name="connsiteY101" fmla="*/ 2356328 h 3074925"/>
              <a:gd name="connsiteX102" fmla="*/ 1123160 w 2617069"/>
              <a:gd name="connsiteY102" fmla="*/ 2339617 h 3074925"/>
              <a:gd name="connsiteX103" fmla="*/ 1139869 w 2617069"/>
              <a:gd name="connsiteY103" fmla="*/ 2406463 h 3074925"/>
              <a:gd name="connsiteX104" fmla="*/ 1189996 w 2617069"/>
              <a:gd name="connsiteY104" fmla="*/ 2423174 h 3074925"/>
              <a:gd name="connsiteX105" fmla="*/ 1256832 w 2617069"/>
              <a:gd name="connsiteY105" fmla="*/ 2456597 h 3074925"/>
              <a:gd name="connsiteX106" fmla="*/ 1340377 w 2617069"/>
              <a:gd name="connsiteY106" fmla="*/ 2523444 h 3074925"/>
              <a:gd name="connsiteX107" fmla="*/ 1407213 w 2617069"/>
              <a:gd name="connsiteY107" fmla="*/ 2556867 h 3074925"/>
              <a:gd name="connsiteX108" fmla="*/ 1524176 w 2617069"/>
              <a:gd name="connsiteY108" fmla="*/ 2607001 h 3074925"/>
              <a:gd name="connsiteX109" fmla="*/ 1591012 w 2617069"/>
              <a:gd name="connsiteY109" fmla="*/ 2640424 h 3074925"/>
              <a:gd name="connsiteX110" fmla="*/ 1641139 w 2617069"/>
              <a:gd name="connsiteY110" fmla="*/ 2690559 h 3074925"/>
              <a:gd name="connsiteX111" fmla="*/ 1691266 w 2617069"/>
              <a:gd name="connsiteY111" fmla="*/ 2723982 h 3074925"/>
              <a:gd name="connsiteX112" fmla="*/ 1624430 w 2617069"/>
              <a:gd name="connsiteY112" fmla="*/ 2740694 h 3074925"/>
              <a:gd name="connsiteX113" fmla="*/ 1089742 w 2617069"/>
              <a:gd name="connsiteY113" fmla="*/ 2757405 h 3074925"/>
              <a:gd name="connsiteX114" fmla="*/ 1173287 w 2617069"/>
              <a:gd name="connsiteY114" fmla="*/ 2790828 h 3074925"/>
              <a:gd name="connsiteX115" fmla="*/ 1273541 w 2617069"/>
              <a:gd name="connsiteY115" fmla="*/ 2840963 h 3074925"/>
              <a:gd name="connsiteX116" fmla="*/ 1340377 w 2617069"/>
              <a:gd name="connsiteY116" fmla="*/ 2891098 h 3074925"/>
              <a:gd name="connsiteX117" fmla="*/ 1390504 w 2617069"/>
              <a:gd name="connsiteY117" fmla="*/ 2924521 h 3074925"/>
              <a:gd name="connsiteX118" fmla="*/ 1373795 w 2617069"/>
              <a:gd name="connsiteY118" fmla="*/ 2974655 h 3074925"/>
              <a:gd name="connsiteX119" fmla="*/ 1256832 w 2617069"/>
              <a:gd name="connsiteY119" fmla="*/ 2874386 h 3074925"/>
              <a:gd name="connsiteX120" fmla="*/ 1106451 w 2617069"/>
              <a:gd name="connsiteY120" fmla="*/ 2857675 h 3074925"/>
              <a:gd name="connsiteX121" fmla="*/ 1056324 w 2617069"/>
              <a:gd name="connsiteY121" fmla="*/ 2840963 h 3074925"/>
              <a:gd name="connsiteX122" fmla="*/ 939361 w 2617069"/>
              <a:gd name="connsiteY122" fmla="*/ 2807540 h 3074925"/>
              <a:gd name="connsiteX123" fmla="*/ 805689 w 2617069"/>
              <a:gd name="connsiteY123" fmla="*/ 2757405 h 3074925"/>
              <a:gd name="connsiteX124" fmla="*/ 822398 w 2617069"/>
              <a:gd name="connsiteY124" fmla="*/ 2807540 h 3074925"/>
              <a:gd name="connsiteX125" fmla="*/ 905943 w 2617069"/>
              <a:gd name="connsiteY125" fmla="*/ 3008078 h 3074925"/>
              <a:gd name="connsiteX126" fmla="*/ 939361 w 2617069"/>
              <a:gd name="connsiteY126" fmla="*/ 3058213 h 3074925"/>
              <a:gd name="connsiteX127" fmla="*/ 989488 w 2617069"/>
              <a:gd name="connsiteY127" fmla="*/ 3074925 h 30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617069" h="3074925">
                <a:moveTo>
                  <a:pt x="1273541" y="0"/>
                </a:moveTo>
                <a:cubicBezTo>
                  <a:pt x="1245693" y="11141"/>
                  <a:pt x="1218080" y="22891"/>
                  <a:pt x="1189996" y="33424"/>
                </a:cubicBezTo>
                <a:cubicBezTo>
                  <a:pt x="1173505" y="39609"/>
                  <a:pt x="1156058" y="43196"/>
                  <a:pt x="1139869" y="50135"/>
                </a:cubicBezTo>
                <a:cubicBezTo>
                  <a:pt x="1116974" y="59948"/>
                  <a:pt x="1094659" y="71198"/>
                  <a:pt x="1073033" y="83558"/>
                </a:cubicBezTo>
                <a:cubicBezTo>
                  <a:pt x="1055597" y="93523"/>
                  <a:pt x="1041958" y="110629"/>
                  <a:pt x="1022906" y="116981"/>
                </a:cubicBezTo>
                <a:cubicBezTo>
                  <a:pt x="990766" y="127696"/>
                  <a:pt x="956070" y="128122"/>
                  <a:pt x="922652" y="133693"/>
                </a:cubicBezTo>
                <a:cubicBezTo>
                  <a:pt x="669272" y="302638"/>
                  <a:pt x="929323" y="119777"/>
                  <a:pt x="772271" y="250674"/>
                </a:cubicBezTo>
                <a:cubicBezTo>
                  <a:pt x="756844" y="263532"/>
                  <a:pt x="737571" y="271239"/>
                  <a:pt x="722144" y="284097"/>
                </a:cubicBezTo>
                <a:cubicBezTo>
                  <a:pt x="703991" y="299227"/>
                  <a:pt x="690170" y="319101"/>
                  <a:pt x="672017" y="334231"/>
                </a:cubicBezTo>
                <a:cubicBezTo>
                  <a:pt x="656590" y="347089"/>
                  <a:pt x="637317" y="354796"/>
                  <a:pt x="621890" y="367654"/>
                </a:cubicBezTo>
                <a:cubicBezTo>
                  <a:pt x="603737" y="382784"/>
                  <a:pt x="591425" y="404679"/>
                  <a:pt x="571763" y="417789"/>
                </a:cubicBezTo>
                <a:cubicBezTo>
                  <a:pt x="557109" y="427560"/>
                  <a:pt x="538345" y="428930"/>
                  <a:pt x="521636" y="434501"/>
                </a:cubicBezTo>
                <a:cubicBezTo>
                  <a:pt x="504927" y="451212"/>
                  <a:pt x="489662" y="469505"/>
                  <a:pt x="471509" y="484635"/>
                </a:cubicBezTo>
                <a:cubicBezTo>
                  <a:pt x="456082" y="497493"/>
                  <a:pt x="435581" y="503856"/>
                  <a:pt x="421382" y="518058"/>
                </a:cubicBezTo>
                <a:cubicBezTo>
                  <a:pt x="407182" y="532261"/>
                  <a:pt x="400820" y="552763"/>
                  <a:pt x="387964" y="568193"/>
                </a:cubicBezTo>
                <a:cubicBezTo>
                  <a:pt x="347760" y="616446"/>
                  <a:pt x="337000" y="618886"/>
                  <a:pt x="287710" y="651751"/>
                </a:cubicBezTo>
                <a:cubicBezTo>
                  <a:pt x="276571" y="668462"/>
                  <a:pt x="267634" y="686873"/>
                  <a:pt x="254292" y="701885"/>
                </a:cubicBezTo>
                <a:cubicBezTo>
                  <a:pt x="222894" y="737213"/>
                  <a:pt x="180253" y="762827"/>
                  <a:pt x="154038" y="802155"/>
                </a:cubicBezTo>
                <a:cubicBezTo>
                  <a:pt x="142899" y="818866"/>
                  <a:pt x="133476" y="836859"/>
                  <a:pt x="120620" y="852289"/>
                </a:cubicBezTo>
                <a:cubicBezTo>
                  <a:pt x="105493" y="870445"/>
                  <a:pt x="85620" y="884268"/>
                  <a:pt x="70493" y="902424"/>
                </a:cubicBezTo>
                <a:cubicBezTo>
                  <a:pt x="57637" y="917854"/>
                  <a:pt x="49620" y="936874"/>
                  <a:pt x="37075" y="952558"/>
                </a:cubicBezTo>
                <a:cubicBezTo>
                  <a:pt x="27234" y="964861"/>
                  <a:pt x="-12033" y="987409"/>
                  <a:pt x="3657" y="985982"/>
                </a:cubicBezTo>
                <a:cubicBezTo>
                  <a:pt x="77661" y="979254"/>
                  <a:pt x="148784" y="953872"/>
                  <a:pt x="220874" y="935847"/>
                </a:cubicBezTo>
                <a:cubicBezTo>
                  <a:pt x="237961" y="931575"/>
                  <a:pt x="255248" y="927013"/>
                  <a:pt x="271001" y="919135"/>
                </a:cubicBezTo>
                <a:cubicBezTo>
                  <a:pt x="288963" y="910153"/>
                  <a:pt x="301435" y="889651"/>
                  <a:pt x="321128" y="885712"/>
                </a:cubicBezTo>
                <a:cubicBezTo>
                  <a:pt x="386893" y="872557"/>
                  <a:pt x="454800" y="874571"/>
                  <a:pt x="521636" y="869001"/>
                </a:cubicBezTo>
                <a:cubicBezTo>
                  <a:pt x="636544" y="792384"/>
                  <a:pt x="583787" y="814858"/>
                  <a:pt x="672017" y="785443"/>
                </a:cubicBezTo>
                <a:cubicBezTo>
                  <a:pt x="694296" y="763161"/>
                  <a:pt x="715434" y="739677"/>
                  <a:pt x="738853" y="718597"/>
                </a:cubicBezTo>
                <a:cubicBezTo>
                  <a:pt x="830995" y="635656"/>
                  <a:pt x="956718" y="544407"/>
                  <a:pt x="1056324" y="484635"/>
                </a:cubicBezTo>
                <a:cubicBezTo>
                  <a:pt x="1084172" y="467924"/>
                  <a:pt x="1110821" y="449027"/>
                  <a:pt x="1139869" y="434501"/>
                </a:cubicBezTo>
                <a:cubicBezTo>
                  <a:pt x="1216691" y="396084"/>
                  <a:pt x="1215787" y="405644"/>
                  <a:pt x="1290250" y="384366"/>
                </a:cubicBezTo>
                <a:cubicBezTo>
                  <a:pt x="1331856" y="372477"/>
                  <a:pt x="1362804" y="356168"/>
                  <a:pt x="1407213" y="350943"/>
                </a:cubicBezTo>
                <a:cubicBezTo>
                  <a:pt x="1479335" y="342457"/>
                  <a:pt x="1552024" y="339802"/>
                  <a:pt x="1624430" y="334231"/>
                </a:cubicBezTo>
                <a:cubicBezTo>
                  <a:pt x="1923980" y="284299"/>
                  <a:pt x="1757284" y="297049"/>
                  <a:pt x="2125700" y="317520"/>
                </a:cubicBezTo>
                <a:cubicBezTo>
                  <a:pt x="2103421" y="334231"/>
                  <a:pt x="2083043" y="353835"/>
                  <a:pt x="2058864" y="367654"/>
                </a:cubicBezTo>
                <a:cubicBezTo>
                  <a:pt x="2043572" y="376394"/>
                  <a:pt x="2025228" y="378181"/>
                  <a:pt x="2008737" y="384366"/>
                </a:cubicBezTo>
                <a:cubicBezTo>
                  <a:pt x="1848900" y="444314"/>
                  <a:pt x="1988844" y="396568"/>
                  <a:pt x="1875065" y="434501"/>
                </a:cubicBezTo>
                <a:cubicBezTo>
                  <a:pt x="1816259" y="478612"/>
                  <a:pt x="1740992" y="525224"/>
                  <a:pt x="1691266" y="584904"/>
                </a:cubicBezTo>
                <a:cubicBezTo>
                  <a:pt x="1678410" y="600334"/>
                  <a:pt x="1666829" y="617075"/>
                  <a:pt x="1657848" y="635039"/>
                </a:cubicBezTo>
                <a:cubicBezTo>
                  <a:pt x="1649971" y="650795"/>
                  <a:pt x="1653594" y="672717"/>
                  <a:pt x="1641139" y="685174"/>
                </a:cubicBezTo>
                <a:cubicBezTo>
                  <a:pt x="1628686" y="697629"/>
                  <a:pt x="1607721" y="696315"/>
                  <a:pt x="1591012" y="701885"/>
                </a:cubicBezTo>
                <a:cubicBezTo>
                  <a:pt x="1574303" y="713026"/>
                  <a:pt x="1556312" y="722450"/>
                  <a:pt x="1540885" y="735308"/>
                </a:cubicBezTo>
                <a:cubicBezTo>
                  <a:pt x="1522732" y="750438"/>
                  <a:pt x="1511415" y="773965"/>
                  <a:pt x="1490758" y="785443"/>
                </a:cubicBezTo>
                <a:cubicBezTo>
                  <a:pt x="1459966" y="802552"/>
                  <a:pt x="1424678" y="810321"/>
                  <a:pt x="1390504" y="818866"/>
                </a:cubicBezTo>
                <a:cubicBezTo>
                  <a:pt x="1222665" y="860832"/>
                  <a:pt x="1300398" y="837764"/>
                  <a:pt x="1156578" y="885712"/>
                </a:cubicBezTo>
                <a:lnTo>
                  <a:pt x="1106451" y="902424"/>
                </a:lnTo>
                <a:cubicBezTo>
                  <a:pt x="1089742" y="907994"/>
                  <a:pt x="1072077" y="911257"/>
                  <a:pt x="1056324" y="919135"/>
                </a:cubicBezTo>
                <a:cubicBezTo>
                  <a:pt x="1034045" y="930276"/>
                  <a:pt x="1012615" y="943306"/>
                  <a:pt x="989488" y="952558"/>
                </a:cubicBezTo>
                <a:cubicBezTo>
                  <a:pt x="956782" y="965643"/>
                  <a:pt x="918543" y="966440"/>
                  <a:pt x="889234" y="985982"/>
                </a:cubicBezTo>
                <a:cubicBezTo>
                  <a:pt x="824453" y="1029176"/>
                  <a:pt x="858159" y="1013054"/>
                  <a:pt x="788980" y="1036116"/>
                </a:cubicBezTo>
                <a:cubicBezTo>
                  <a:pt x="811259" y="1047257"/>
                  <a:pt x="831059" y="1066788"/>
                  <a:pt x="855816" y="1069539"/>
                </a:cubicBezTo>
                <a:cubicBezTo>
                  <a:pt x="897210" y="1074139"/>
                  <a:pt x="1007546" y="1026807"/>
                  <a:pt x="1039615" y="1019405"/>
                </a:cubicBezTo>
                <a:cubicBezTo>
                  <a:pt x="1077990" y="1010548"/>
                  <a:pt x="1118039" y="1010808"/>
                  <a:pt x="1156578" y="1002693"/>
                </a:cubicBezTo>
                <a:cubicBezTo>
                  <a:pt x="1223993" y="988498"/>
                  <a:pt x="1289130" y="963885"/>
                  <a:pt x="1357086" y="952558"/>
                </a:cubicBezTo>
                <a:cubicBezTo>
                  <a:pt x="1485354" y="931178"/>
                  <a:pt x="1424119" y="942492"/>
                  <a:pt x="1540885" y="919135"/>
                </a:cubicBezTo>
                <a:lnTo>
                  <a:pt x="2342917" y="952558"/>
                </a:lnTo>
                <a:cubicBezTo>
                  <a:pt x="2405240" y="955897"/>
                  <a:pt x="2468831" y="961170"/>
                  <a:pt x="2526716" y="985982"/>
                </a:cubicBezTo>
                <a:cubicBezTo>
                  <a:pt x="2549610" y="995795"/>
                  <a:pt x="2571273" y="1008264"/>
                  <a:pt x="2593552" y="1019405"/>
                </a:cubicBezTo>
                <a:cubicBezTo>
                  <a:pt x="2655512" y="1205311"/>
                  <a:pt x="2618455" y="1040610"/>
                  <a:pt x="2192536" y="1086251"/>
                </a:cubicBezTo>
                <a:cubicBezTo>
                  <a:pt x="2172568" y="1088391"/>
                  <a:pt x="2160371" y="1110692"/>
                  <a:pt x="2142409" y="1119674"/>
                </a:cubicBezTo>
                <a:cubicBezTo>
                  <a:pt x="2078020" y="1151873"/>
                  <a:pt x="2058509" y="1142271"/>
                  <a:pt x="2008737" y="1186520"/>
                </a:cubicBezTo>
                <a:cubicBezTo>
                  <a:pt x="1973414" y="1217923"/>
                  <a:pt x="1947807" y="1260569"/>
                  <a:pt x="1908483" y="1286789"/>
                </a:cubicBezTo>
                <a:cubicBezTo>
                  <a:pt x="1891774" y="1297930"/>
                  <a:pt x="1877993" y="1316003"/>
                  <a:pt x="1858356" y="1320212"/>
                </a:cubicBezTo>
                <a:cubicBezTo>
                  <a:pt x="1798203" y="1333104"/>
                  <a:pt x="1735823" y="1331353"/>
                  <a:pt x="1674557" y="1336924"/>
                </a:cubicBezTo>
                <a:cubicBezTo>
                  <a:pt x="1641914" y="1345086"/>
                  <a:pt x="1553881" y="1368225"/>
                  <a:pt x="1524176" y="1370347"/>
                </a:cubicBezTo>
                <a:cubicBezTo>
                  <a:pt x="1396279" y="1379484"/>
                  <a:pt x="1267971" y="1381488"/>
                  <a:pt x="1139869" y="1387059"/>
                </a:cubicBezTo>
                <a:cubicBezTo>
                  <a:pt x="1123160" y="1398200"/>
                  <a:pt x="1102286" y="1404799"/>
                  <a:pt x="1089742" y="1420482"/>
                </a:cubicBezTo>
                <a:cubicBezTo>
                  <a:pt x="997506" y="1535793"/>
                  <a:pt x="1166556" y="1408258"/>
                  <a:pt x="1022906" y="1504039"/>
                </a:cubicBezTo>
                <a:cubicBezTo>
                  <a:pt x="1017336" y="1520751"/>
                  <a:pt x="989108" y="1549901"/>
                  <a:pt x="1006197" y="1554174"/>
                </a:cubicBezTo>
                <a:cubicBezTo>
                  <a:pt x="1035295" y="1561450"/>
                  <a:pt x="1060902" y="1528992"/>
                  <a:pt x="1089742" y="1520751"/>
                </a:cubicBezTo>
                <a:cubicBezTo>
                  <a:pt x="1207229" y="1487178"/>
                  <a:pt x="1256267" y="1485310"/>
                  <a:pt x="1373795" y="1470616"/>
                </a:cubicBezTo>
                <a:cubicBezTo>
                  <a:pt x="1496328" y="1476187"/>
                  <a:pt x="1619125" y="1477545"/>
                  <a:pt x="1741393" y="1487328"/>
                </a:cubicBezTo>
                <a:cubicBezTo>
                  <a:pt x="1758950" y="1488733"/>
                  <a:pt x="1774585" y="1499200"/>
                  <a:pt x="1791520" y="1504039"/>
                </a:cubicBezTo>
                <a:cubicBezTo>
                  <a:pt x="1813601" y="1510349"/>
                  <a:pt x="1836077" y="1515180"/>
                  <a:pt x="1858356" y="1520751"/>
                </a:cubicBezTo>
                <a:cubicBezTo>
                  <a:pt x="1875065" y="1531892"/>
                  <a:pt x="1890132" y="1546017"/>
                  <a:pt x="1908483" y="1554174"/>
                </a:cubicBezTo>
                <a:cubicBezTo>
                  <a:pt x="1940672" y="1568482"/>
                  <a:pt x="1976031" y="1574513"/>
                  <a:pt x="2008737" y="1587597"/>
                </a:cubicBezTo>
                <a:cubicBezTo>
                  <a:pt x="2031864" y="1596849"/>
                  <a:pt x="2053294" y="1609879"/>
                  <a:pt x="2075573" y="1621020"/>
                </a:cubicBezTo>
                <a:cubicBezTo>
                  <a:pt x="2092282" y="1637732"/>
                  <a:pt x="2106038" y="1658045"/>
                  <a:pt x="2125700" y="1671155"/>
                </a:cubicBezTo>
                <a:cubicBezTo>
                  <a:pt x="2140354" y="1680926"/>
                  <a:pt x="2158892" y="1683027"/>
                  <a:pt x="2175827" y="1687866"/>
                </a:cubicBezTo>
                <a:cubicBezTo>
                  <a:pt x="2294728" y="1721843"/>
                  <a:pt x="2300686" y="1708723"/>
                  <a:pt x="2476589" y="1721289"/>
                </a:cubicBezTo>
                <a:cubicBezTo>
                  <a:pt x="2493298" y="1726860"/>
                  <a:pt x="2530987" y="1720914"/>
                  <a:pt x="2526716" y="1738001"/>
                </a:cubicBezTo>
                <a:cubicBezTo>
                  <a:pt x="2519962" y="1765020"/>
                  <a:pt x="2484789" y="1775680"/>
                  <a:pt x="2459880" y="1788136"/>
                </a:cubicBezTo>
                <a:cubicBezTo>
                  <a:pt x="2439341" y="1798407"/>
                  <a:pt x="2415499" y="1800035"/>
                  <a:pt x="2393044" y="1804847"/>
                </a:cubicBezTo>
                <a:cubicBezTo>
                  <a:pt x="2337505" y="1816750"/>
                  <a:pt x="2282724" y="1836438"/>
                  <a:pt x="2225954" y="1838270"/>
                </a:cubicBezTo>
                <a:lnTo>
                  <a:pt x="1707975" y="1854982"/>
                </a:lnTo>
                <a:cubicBezTo>
                  <a:pt x="1685696" y="1860552"/>
                  <a:pt x="1663836" y="1868201"/>
                  <a:pt x="1641139" y="1871693"/>
                </a:cubicBezTo>
                <a:cubicBezTo>
                  <a:pt x="1598607" y="1878237"/>
                  <a:pt x="1359509" y="1901531"/>
                  <a:pt x="1323668" y="1905116"/>
                </a:cubicBezTo>
                <a:cubicBezTo>
                  <a:pt x="1306959" y="1910687"/>
                  <a:pt x="1287294" y="1910824"/>
                  <a:pt x="1273541" y="1921828"/>
                </a:cubicBezTo>
                <a:cubicBezTo>
                  <a:pt x="1257859" y="1934376"/>
                  <a:pt x="1257153" y="1961317"/>
                  <a:pt x="1240123" y="1971963"/>
                </a:cubicBezTo>
                <a:cubicBezTo>
                  <a:pt x="1210253" y="1990635"/>
                  <a:pt x="1110560" y="2024928"/>
                  <a:pt x="1139869" y="2005386"/>
                </a:cubicBezTo>
                <a:lnTo>
                  <a:pt x="1189996" y="1971963"/>
                </a:lnTo>
                <a:cubicBezTo>
                  <a:pt x="1362656" y="1977533"/>
                  <a:pt x="1535645" y="1976649"/>
                  <a:pt x="1707975" y="1988674"/>
                </a:cubicBezTo>
                <a:cubicBezTo>
                  <a:pt x="1775569" y="1993391"/>
                  <a:pt x="1841647" y="2010956"/>
                  <a:pt x="1908483" y="2022097"/>
                </a:cubicBezTo>
                <a:cubicBezTo>
                  <a:pt x="2031384" y="2042584"/>
                  <a:pt x="1975873" y="2030592"/>
                  <a:pt x="2075573" y="2055520"/>
                </a:cubicBezTo>
                <a:cubicBezTo>
                  <a:pt x="2180602" y="2125550"/>
                  <a:pt x="2065347" y="2051695"/>
                  <a:pt x="2192536" y="2122367"/>
                </a:cubicBezTo>
                <a:cubicBezTo>
                  <a:pt x="2263336" y="2161706"/>
                  <a:pt x="2307414" y="2193393"/>
                  <a:pt x="2376335" y="2239347"/>
                </a:cubicBezTo>
                <a:lnTo>
                  <a:pt x="2426462" y="2272770"/>
                </a:lnTo>
                <a:lnTo>
                  <a:pt x="2476589" y="2306194"/>
                </a:lnTo>
                <a:cubicBezTo>
                  <a:pt x="2459880" y="2311764"/>
                  <a:pt x="2442953" y="2316720"/>
                  <a:pt x="2426462" y="2322905"/>
                </a:cubicBezTo>
                <a:cubicBezTo>
                  <a:pt x="2398378" y="2333438"/>
                  <a:pt x="2372015" y="2349052"/>
                  <a:pt x="2342917" y="2356328"/>
                </a:cubicBezTo>
                <a:cubicBezTo>
                  <a:pt x="2304710" y="2365881"/>
                  <a:pt x="2264942" y="2367469"/>
                  <a:pt x="2225954" y="2373040"/>
                </a:cubicBezTo>
                <a:cubicBezTo>
                  <a:pt x="1986458" y="2367469"/>
                  <a:pt x="1746684" y="2369145"/>
                  <a:pt x="1507467" y="2356328"/>
                </a:cubicBezTo>
                <a:cubicBezTo>
                  <a:pt x="1056976" y="2332191"/>
                  <a:pt x="1499112" y="2302015"/>
                  <a:pt x="1123160" y="2339617"/>
                </a:cubicBezTo>
                <a:cubicBezTo>
                  <a:pt x="1128730" y="2361899"/>
                  <a:pt x="1125523" y="2388527"/>
                  <a:pt x="1139869" y="2406463"/>
                </a:cubicBezTo>
                <a:cubicBezTo>
                  <a:pt x="1150871" y="2420217"/>
                  <a:pt x="1173807" y="2416235"/>
                  <a:pt x="1189996" y="2423174"/>
                </a:cubicBezTo>
                <a:cubicBezTo>
                  <a:pt x="1212891" y="2432987"/>
                  <a:pt x="1234553" y="2445456"/>
                  <a:pt x="1256832" y="2456597"/>
                </a:cubicBezTo>
                <a:cubicBezTo>
                  <a:pt x="1293426" y="2493198"/>
                  <a:pt x="1291193" y="2495335"/>
                  <a:pt x="1340377" y="2523444"/>
                </a:cubicBezTo>
                <a:cubicBezTo>
                  <a:pt x="1362003" y="2535804"/>
                  <a:pt x="1385587" y="2544507"/>
                  <a:pt x="1407213" y="2556867"/>
                </a:cubicBezTo>
                <a:cubicBezTo>
                  <a:pt x="1496960" y="2608159"/>
                  <a:pt x="1414400" y="2579554"/>
                  <a:pt x="1524176" y="2607001"/>
                </a:cubicBezTo>
                <a:cubicBezTo>
                  <a:pt x="1546455" y="2618142"/>
                  <a:pt x="1570744" y="2625944"/>
                  <a:pt x="1591012" y="2640424"/>
                </a:cubicBezTo>
                <a:cubicBezTo>
                  <a:pt x="1610241" y="2654161"/>
                  <a:pt x="1622986" y="2675429"/>
                  <a:pt x="1641139" y="2690559"/>
                </a:cubicBezTo>
                <a:cubicBezTo>
                  <a:pt x="1656566" y="2703417"/>
                  <a:pt x="1674557" y="2712841"/>
                  <a:pt x="1691266" y="2723982"/>
                </a:cubicBezTo>
                <a:cubicBezTo>
                  <a:pt x="1668987" y="2729553"/>
                  <a:pt x="1647359" y="2739420"/>
                  <a:pt x="1624430" y="2740694"/>
                </a:cubicBezTo>
                <a:cubicBezTo>
                  <a:pt x="1446388" y="2750587"/>
                  <a:pt x="1266967" y="2737711"/>
                  <a:pt x="1089742" y="2757405"/>
                </a:cubicBezTo>
                <a:cubicBezTo>
                  <a:pt x="1059931" y="2760718"/>
                  <a:pt x="1146460" y="2777413"/>
                  <a:pt x="1173287" y="2790828"/>
                </a:cubicBezTo>
                <a:cubicBezTo>
                  <a:pt x="1302854" y="2855621"/>
                  <a:pt x="1147543" y="2798956"/>
                  <a:pt x="1273541" y="2840963"/>
                </a:cubicBezTo>
                <a:cubicBezTo>
                  <a:pt x="1295820" y="2857675"/>
                  <a:pt x="1317716" y="2874909"/>
                  <a:pt x="1340377" y="2891098"/>
                </a:cubicBezTo>
                <a:cubicBezTo>
                  <a:pt x="1356718" y="2902772"/>
                  <a:pt x="1383046" y="2905874"/>
                  <a:pt x="1390504" y="2924521"/>
                </a:cubicBezTo>
                <a:cubicBezTo>
                  <a:pt x="1397045" y="2940876"/>
                  <a:pt x="1379365" y="2957944"/>
                  <a:pt x="1373795" y="2974655"/>
                </a:cubicBezTo>
                <a:cubicBezTo>
                  <a:pt x="1359304" y="2960162"/>
                  <a:pt x="1290762" y="2882870"/>
                  <a:pt x="1256832" y="2874386"/>
                </a:cubicBezTo>
                <a:cubicBezTo>
                  <a:pt x="1207903" y="2862152"/>
                  <a:pt x="1156578" y="2863245"/>
                  <a:pt x="1106451" y="2857675"/>
                </a:cubicBezTo>
                <a:cubicBezTo>
                  <a:pt x="1089742" y="2852104"/>
                  <a:pt x="1073259" y="2845803"/>
                  <a:pt x="1056324" y="2840963"/>
                </a:cubicBezTo>
                <a:cubicBezTo>
                  <a:pt x="909432" y="2798986"/>
                  <a:pt x="1059569" y="2847614"/>
                  <a:pt x="939361" y="2807540"/>
                </a:cubicBezTo>
                <a:cubicBezTo>
                  <a:pt x="909407" y="2787568"/>
                  <a:pt x="846983" y="2736755"/>
                  <a:pt x="805689" y="2757405"/>
                </a:cubicBezTo>
                <a:cubicBezTo>
                  <a:pt x="789934" y="2765284"/>
                  <a:pt x="818577" y="2790344"/>
                  <a:pt x="822398" y="2807540"/>
                </a:cubicBezTo>
                <a:cubicBezTo>
                  <a:pt x="857365" y="2964917"/>
                  <a:pt x="806496" y="2858885"/>
                  <a:pt x="905943" y="3008078"/>
                </a:cubicBezTo>
                <a:cubicBezTo>
                  <a:pt x="917082" y="3024790"/>
                  <a:pt x="920308" y="3051861"/>
                  <a:pt x="939361" y="3058213"/>
                </a:cubicBezTo>
                <a:lnTo>
                  <a:pt x="989488" y="3074925"/>
                </a:ln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1F45A4-4936-2948-9D12-C1AE0BAF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45128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CYTOPLASM: CYTOSOL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65376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5625" y="1368426"/>
            <a:ext cx="8762637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b="1" u="sng" dirty="0">
                <a:latin typeface="+mj-lt"/>
              </a:rPr>
              <a:t>Organelle</a:t>
            </a:r>
            <a:r>
              <a:rPr lang="en-US" dirty="0">
                <a:latin typeface="+mj-lt"/>
              </a:rPr>
              <a:t>: “Little organ”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/>
                <a:cs typeface="Arial"/>
              </a:rPr>
              <a:t>Each organelle has a specific function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/>
                <a:cs typeface="Arial"/>
              </a:rPr>
              <a:t>Allows the cell to be very efficient</a:t>
            </a:r>
          </a:p>
          <a:p>
            <a:pPr marL="0" indent="0">
              <a:buFont typeface="Wingdings" pitchFamily="2" charset="2"/>
              <a:buNone/>
            </a:pPr>
            <a:endParaRPr lang="en-US" dirty="0">
              <a:latin typeface="+mj-lt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standard eukaryotic cell with three basic parts: the plasma membrane, the nucleus, and the cytoplasm.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2785982" y="3516423"/>
            <a:ext cx="3733800" cy="3341577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2785982" y="4953001"/>
            <a:ext cx="2161698" cy="1400936"/>
          </a:xfrm>
          <a:custGeom>
            <a:avLst/>
            <a:gdLst>
              <a:gd name="connsiteX0" fmla="*/ 0 w 3308721"/>
              <a:gd name="connsiteY0" fmla="*/ 1189768 h 2849483"/>
              <a:gd name="connsiteX1" fmla="*/ 83545 w 3308721"/>
              <a:gd name="connsiteY1" fmla="*/ 1106211 h 2849483"/>
              <a:gd name="connsiteX2" fmla="*/ 116963 w 3308721"/>
              <a:gd name="connsiteY2" fmla="*/ 1056076 h 2849483"/>
              <a:gd name="connsiteX3" fmla="*/ 334180 w 3308721"/>
              <a:gd name="connsiteY3" fmla="*/ 905672 h 2849483"/>
              <a:gd name="connsiteX4" fmla="*/ 434434 w 3308721"/>
              <a:gd name="connsiteY4" fmla="*/ 838826 h 2849483"/>
              <a:gd name="connsiteX5" fmla="*/ 517979 w 3308721"/>
              <a:gd name="connsiteY5" fmla="*/ 738557 h 2849483"/>
              <a:gd name="connsiteX6" fmla="*/ 551397 w 3308721"/>
              <a:gd name="connsiteY6" fmla="*/ 688422 h 2849483"/>
              <a:gd name="connsiteX7" fmla="*/ 751905 w 3308721"/>
              <a:gd name="connsiteY7" fmla="*/ 554730 h 2849483"/>
              <a:gd name="connsiteX8" fmla="*/ 802032 w 3308721"/>
              <a:gd name="connsiteY8" fmla="*/ 521307 h 2849483"/>
              <a:gd name="connsiteX9" fmla="*/ 852159 w 3308721"/>
              <a:gd name="connsiteY9" fmla="*/ 487884 h 2849483"/>
              <a:gd name="connsiteX10" fmla="*/ 985831 w 3308721"/>
              <a:gd name="connsiteY10" fmla="*/ 387614 h 2849483"/>
              <a:gd name="connsiteX11" fmla="*/ 1035958 w 3308721"/>
              <a:gd name="connsiteY11" fmla="*/ 370903 h 2849483"/>
              <a:gd name="connsiteX12" fmla="*/ 1203048 w 3308721"/>
              <a:gd name="connsiteY12" fmla="*/ 304057 h 2849483"/>
              <a:gd name="connsiteX13" fmla="*/ 1403556 w 3308721"/>
              <a:gd name="connsiteY13" fmla="*/ 270633 h 2849483"/>
              <a:gd name="connsiteX14" fmla="*/ 1503810 w 3308721"/>
              <a:gd name="connsiteY14" fmla="*/ 237210 h 2849483"/>
              <a:gd name="connsiteX15" fmla="*/ 1553937 w 3308721"/>
              <a:gd name="connsiteY15" fmla="*/ 203787 h 2849483"/>
              <a:gd name="connsiteX16" fmla="*/ 1654191 w 3308721"/>
              <a:gd name="connsiteY16" fmla="*/ 170364 h 2849483"/>
              <a:gd name="connsiteX17" fmla="*/ 1704318 w 3308721"/>
              <a:gd name="connsiteY17" fmla="*/ 153653 h 2849483"/>
              <a:gd name="connsiteX18" fmla="*/ 1754445 w 3308721"/>
              <a:gd name="connsiteY18" fmla="*/ 120230 h 2849483"/>
              <a:gd name="connsiteX19" fmla="*/ 1787863 w 3308721"/>
              <a:gd name="connsiteY19" fmla="*/ 86806 h 2849483"/>
              <a:gd name="connsiteX20" fmla="*/ 1854699 w 3308721"/>
              <a:gd name="connsiteY20" fmla="*/ 70095 h 2849483"/>
              <a:gd name="connsiteX21" fmla="*/ 1904826 w 3308721"/>
              <a:gd name="connsiteY21" fmla="*/ 53383 h 2849483"/>
              <a:gd name="connsiteX22" fmla="*/ 1971662 w 3308721"/>
              <a:gd name="connsiteY22" fmla="*/ 3249 h 2849483"/>
              <a:gd name="connsiteX23" fmla="*/ 2038498 w 3308721"/>
              <a:gd name="connsiteY23" fmla="*/ 19960 h 2849483"/>
              <a:gd name="connsiteX24" fmla="*/ 1971662 w 3308721"/>
              <a:gd name="connsiteY24" fmla="*/ 53383 h 2849483"/>
              <a:gd name="connsiteX25" fmla="*/ 1904826 w 3308721"/>
              <a:gd name="connsiteY25" fmla="*/ 103518 h 2849483"/>
              <a:gd name="connsiteX26" fmla="*/ 1771154 w 3308721"/>
              <a:gd name="connsiteY26" fmla="*/ 153653 h 2849483"/>
              <a:gd name="connsiteX27" fmla="*/ 1654191 w 3308721"/>
              <a:gd name="connsiteY27" fmla="*/ 220499 h 2849483"/>
              <a:gd name="connsiteX28" fmla="*/ 1587355 w 3308721"/>
              <a:gd name="connsiteY28" fmla="*/ 270633 h 2849483"/>
              <a:gd name="connsiteX29" fmla="*/ 1453683 w 3308721"/>
              <a:gd name="connsiteY29" fmla="*/ 354191 h 2849483"/>
              <a:gd name="connsiteX30" fmla="*/ 1353429 w 3308721"/>
              <a:gd name="connsiteY30" fmla="*/ 487884 h 2849483"/>
              <a:gd name="connsiteX31" fmla="*/ 1169630 w 3308721"/>
              <a:gd name="connsiteY31" fmla="*/ 671711 h 2849483"/>
              <a:gd name="connsiteX32" fmla="*/ 1102794 w 3308721"/>
              <a:gd name="connsiteY32" fmla="*/ 738557 h 2849483"/>
              <a:gd name="connsiteX33" fmla="*/ 1052667 w 3308721"/>
              <a:gd name="connsiteY33" fmla="*/ 788691 h 2849483"/>
              <a:gd name="connsiteX34" fmla="*/ 1002540 w 3308721"/>
              <a:gd name="connsiteY34" fmla="*/ 822114 h 2849483"/>
              <a:gd name="connsiteX35" fmla="*/ 969122 w 3308721"/>
              <a:gd name="connsiteY35" fmla="*/ 855538 h 2849483"/>
              <a:gd name="connsiteX36" fmla="*/ 902286 w 3308721"/>
              <a:gd name="connsiteY36" fmla="*/ 888961 h 2849483"/>
              <a:gd name="connsiteX37" fmla="*/ 852159 w 3308721"/>
              <a:gd name="connsiteY37" fmla="*/ 939095 h 2849483"/>
              <a:gd name="connsiteX38" fmla="*/ 751905 w 3308721"/>
              <a:gd name="connsiteY38" fmla="*/ 989230 h 2849483"/>
              <a:gd name="connsiteX39" fmla="*/ 651651 w 3308721"/>
              <a:gd name="connsiteY39" fmla="*/ 1089499 h 2849483"/>
              <a:gd name="connsiteX40" fmla="*/ 601524 w 3308721"/>
              <a:gd name="connsiteY40" fmla="*/ 1139634 h 2849483"/>
              <a:gd name="connsiteX41" fmla="*/ 534688 w 3308721"/>
              <a:gd name="connsiteY41" fmla="*/ 1189768 h 2849483"/>
              <a:gd name="connsiteX42" fmla="*/ 501270 w 3308721"/>
              <a:gd name="connsiteY42" fmla="*/ 1239903 h 2849483"/>
              <a:gd name="connsiteX43" fmla="*/ 384307 w 3308721"/>
              <a:gd name="connsiteY43" fmla="*/ 1323461 h 2849483"/>
              <a:gd name="connsiteX44" fmla="*/ 317471 w 3308721"/>
              <a:gd name="connsiteY44" fmla="*/ 1440442 h 2849483"/>
              <a:gd name="connsiteX45" fmla="*/ 267344 w 3308721"/>
              <a:gd name="connsiteY45" fmla="*/ 1490576 h 2849483"/>
              <a:gd name="connsiteX46" fmla="*/ 217217 w 3308721"/>
              <a:gd name="connsiteY46" fmla="*/ 1607557 h 2849483"/>
              <a:gd name="connsiteX47" fmla="*/ 183799 w 3308721"/>
              <a:gd name="connsiteY47" fmla="*/ 1707826 h 2849483"/>
              <a:gd name="connsiteX48" fmla="*/ 116963 w 3308721"/>
              <a:gd name="connsiteY48" fmla="*/ 1808096 h 2849483"/>
              <a:gd name="connsiteX49" fmla="*/ 83545 w 3308721"/>
              <a:gd name="connsiteY49" fmla="*/ 1858230 h 2849483"/>
              <a:gd name="connsiteX50" fmla="*/ 50127 w 3308721"/>
              <a:gd name="connsiteY50" fmla="*/ 1991923 h 2849483"/>
              <a:gd name="connsiteX51" fmla="*/ 100254 w 3308721"/>
              <a:gd name="connsiteY51" fmla="*/ 1925076 h 2849483"/>
              <a:gd name="connsiteX52" fmla="*/ 116963 w 3308721"/>
              <a:gd name="connsiteY52" fmla="*/ 1841519 h 2849483"/>
              <a:gd name="connsiteX53" fmla="*/ 284053 w 3308721"/>
              <a:gd name="connsiteY53" fmla="*/ 1657692 h 2849483"/>
              <a:gd name="connsiteX54" fmla="*/ 334180 w 3308721"/>
              <a:gd name="connsiteY54" fmla="*/ 1607557 h 2849483"/>
              <a:gd name="connsiteX55" fmla="*/ 467852 w 3308721"/>
              <a:gd name="connsiteY55" fmla="*/ 1540711 h 2849483"/>
              <a:gd name="connsiteX56" fmla="*/ 534688 w 3308721"/>
              <a:gd name="connsiteY56" fmla="*/ 1490576 h 2849483"/>
              <a:gd name="connsiteX57" fmla="*/ 584815 w 3308721"/>
              <a:gd name="connsiteY57" fmla="*/ 1473865 h 2849483"/>
              <a:gd name="connsiteX58" fmla="*/ 668360 w 3308721"/>
              <a:gd name="connsiteY58" fmla="*/ 1440442 h 2849483"/>
              <a:gd name="connsiteX59" fmla="*/ 852159 w 3308721"/>
              <a:gd name="connsiteY59" fmla="*/ 1356884 h 2849483"/>
              <a:gd name="connsiteX60" fmla="*/ 902286 w 3308721"/>
              <a:gd name="connsiteY60" fmla="*/ 1323461 h 2849483"/>
              <a:gd name="connsiteX61" fmla="*/ 1019249 w 3308721"/>
              <a:gd name="connsiteY61" fmla="*/ 1273326 h 2849483"/>
              <a:gd name="connsiteX62" fmla="*/ 1069376 w 3308721"/>
              <a:gd name="connsiteY62" fmla="*/ 1239903 h 2849483"/>
              <a:gd name="connsiteX63" fmla="*/ 1236466 w 3308721"/>
              <a:gd name="connsiteY63" fmla="*/ 1189768 h 2849483"/>
              <a:gd name="connsiteX64" fmla="*/ 1303302 w 3308721"/>
              <a:gd name="connsiteY64" fmla="*/ 1156345 h 2849483"/>
              <a:gd name="connsiteX65" fmla="*/ 1420265 w 3308721"/>
              <a:gd name="connsiteY65" fmla="*/ 1106211 h 2849483"/>
              <a:gd name="connsiteX66" fmla="*/ 1704318 w 3308721"/>
              <a:gd name="connsiteY66" fmla="*/ 922384 h 2849483"/>
              <a:gd name="connsiteX67" fmla="*/ 1837990 w 3308721"/>
              <a:gd name="connsiteY67" fmla="*/ 838826 h 2849483"/>
              <a:gd name="connsiteX68" fmla="*/ 1904826 w 3308721"/>
              <a:gd name="connsiteY68" fmla="*/ 788691 h 2849483"/>
              <a:gd name="connsiteX69" fmla="*/ 1954953 w 3308721"/>
              <a:gd name="connsiteY69" fmla="*/ 755268 h 2849483"/>
              <a:gd name="connsiteX70" fmla="*/ 2038498 w 3308721"/>
              <a:gd name="connsiteY70" fmla="*/ 771980 h 2849483"/>
              <a:gd name="connsiteX71" fmla="*/ 2005080 w 3308721"/>
              <a:gd name="connsiteY71" fmla="*/ 855538 h 2849483"/>
              <a:gd name="connsiteX72" fmla="*/ 1921535 w 3308721"/>
              <a:gd name="connsiteY72" fmla="*/ 922384 h 2849483"/>
              <a:gd name="connsiteX73" fmla="*/ 1854699 w 3308721"/>
              <a:gd name="connsiteY73" fmla="*/ 1005941 h 2849483"/>
              <a:gd name="connsiteX74" fmla="*/ 1804572 w 3308721"/>
              <a:gd name="connsiteY74" fmla="*/ 1056076 h 2849483"/>
              <a:gd name="connsiteX75" fmla="*/ 1754445 w 3308721"/>
              <a:gd name="connsiteY75" fmla="*/ 1122922 h 2849483"/>
              <a:gd name="connsiteX76" fmla="*/ 1704318 w 3308721"/>
              <a:gd name="connsiteY76" fmla="*/ 1173057 h 2849483"/>
              <a:gd name="connsiteX77" fmla="*/ 1654191 w 3308721"/>
              <a:gd name="connsiteY77" fmla="*/ 1256615 h 2849483"/>
              <a:gd name="connsiteX78" fmla="*/ 1604064 w 3308721"/>
              <a:gd name="connsiteY78" fmla="*/ 1290038 h 2849483"/>
              <a:gd name="connsiteX79" fmla="*/ 1520519 w 3308721"/>
              <a:gd name="connsiteY79" fmla="*/ 1373595 h 2849483"/>
              <a:gd name="connsiteX80" fmla="*/ 1386847 w 3308721"/>
              <a:gd name="connsiteY80" fmla="*/ 1473865 h 2849483"/>
              <a:gd name="connsiteX81" fmla="*/ 1320011 w 3308721"/>
              <a:gd name="connsiteY81" fmla="*/ 1540711 h 2849483"/>
              <a:gd name="connsiteX82" fmla="*/ 1186339 w 3308721"/>
              <a:gd name="connsiteY82" fmla="*/ 1640980 h 2849483"/>
              <a:gd name="connsiteX83" fmla="*/ 1069376 w 3308721"/>
              <a:gd name="connsiteY83" fmla="*/ 1757961 h 2849483"/>
              <a:gd name="connsiteX84" fmla="*/ 1035958 w 3308721"/>
              <a:gd name="connsiteY84" fmla="*/ 1824807 h 2849483"/>
              <a:gd name="connsiteX85" fmla="*/ 902286 w 3308721"/>
              <a:gd name="connsiteY85" fmla="*/ 1958499 h 2849483"/>
              <a:gd name="connsiteX86" fmla="*/ 852159 w 3308721"/>
              <a:gd name="connsiteY86" fmla="*/ 2008634 h 2849483"/>
              <a:gd name="connsiteX87" fmla="*/ 735196 w 3308721"/>
              <a:gd name="connsiteY87" fmla="*/ 2125615 h 2849483"/>
              <a:gd name="connsiteX88" fmla="*/ 685069 w 3308721"/>
              <a:gd name="connsiteY88" fmla="*/ 2175750 h 2849483"/>
              <a:gd name="connsiteX89" fmla="*/ 618233 w 3308721"/>
              <a:gd name="connsiteY89" fmla="*/ 2259307 h 2849483"/>
              <a:gd name="connsiteX90" fmla="*/ 584815 w 3308721"/>
              <a:gd name="connsiteY90" fmla="*/ 2326153 h 2849483"/>
              <a:gd name="connsiteX91" fmla="*/ 534688 w 3308721"/>
              <a:gd name="connsiteY91" fmla="*/ 2376288 h 2849483"/>
              <a:gd name="connsiteX92" fmla="*/ 501270 w 3308721"/>
              <a:gd name="connsiteY92" fmla="*/ 2426423 h 2849483"/>
              <a:gd name="connsiteX93" fmla="*/ 384307 w 3308721"/>
              <a:gd name="connsiteY93" fmla="*/ 2576827 h 2849483"/>
              <a:gd name="connsiteX94" fmla="*/ 350889 w 3308721"/>
              <a:gd name="connsiteY94" fmla="*/ 2643673 h 2849483"/>
              <a:gd name="connsiteX95" fmla="*/ 501270 w 3308721"/>
              <a:gd name="connsiteY95" fmla="*/ 2459846 h 2849483"/>
              <a:gd name="connsiteX96" fmla="*/ 701778 w 3308721"/>
              <a:gd name="connsiteY96" fmla="*/ 2292730 h 2849483"/>
              <a:gd name="connsiteX97" fmla="*/ 785323 w 3308721"/>
              <a:gd name="connsiteY97" fmla="*/ 2225884 h 2849483"/>
              <a:gd name="connsiteX98" fmla="*/ 852159 w 3308721"/>
              <a:gd name="connsiteY98" fmla="*/ 2175750 h 2849483"/>
              <a:gd name="connsiteX99" fmla="*/ 902286 w 3308721"/>
              <a:gd name="connsiteY99" fmla="*/ 2159038 h 2849483"/>
              <a:gd name="connsiteX100" fmla="*/ 969122 w 3308721"/>
              <a:gd name="connsiteY100" fmla="*/ 2108903 h 2849483"/>
              <a:gd name="connsiteX101" fmla="*/ 1152921 w 3308721"/>
              <a:gd name="connsiteY101" fmla="*/ 2058769 h 2849483"/>
              <a:gd name="connsiteX102" fmla="*/ 1236466 w 3308721"/>
              <a:gd name="connsiteY102" fmla="*/ 2125615 h 2849483"/>
              <a:gd name="connsiteX103" fmla="*/ 1320011 w 3308721"/>
              <a:gd name="connsiteY103" fmla="*/ 2025346 h 2849483"/>
              <a:gd name="connsiteX104" fmla="*/ 1420265 w 3308721"/>
              <a:gd name="connsiteY104" fmla="*/ 1941788 h 2849483"/>
              <a:gd name="connsiteX105" fmla="*/ 2038498 w 3308721"/>
              <a:gd name="connsiteY105" fmla="*/ 1523999 h 2849483"/>
              <a:gd name="connsiteX106" fmla="*/ 2138752 w 3308721"/>
              <a:gd name="connsiteY106" fmla="*/ 1457153 h 2849483"/>
              <a:gd name="connsiteX107" fmla="*/ 2322551 w 3308721"/>
              <a:gd name="connsiteY107" fmla="*/ 1356884 h 2849483"/>
              <a:gd name="connsiteX108" fmla="*/ 2439514 w 3308721"/>
              <a:gd name="connsiteY108" fmla="*/ 1306749 h 2849483"/>
              <a:gd name="connsiteX109" fmla="*/ 2372678 w 3308721"/>
              <a:gd name="connsiteY109" fmla="*/ 1407018 h 2849483"/>
              <a:gd name="connsiteX110" fmla="*/ 2305842 w 3308721"/>
              <a:gd name="connsiteY110" fmla="*/ 1507288 h 2849483"/>
              <a:gd name="connsiteX111" fmla="*/ 2239006 w 3308721"/>
              <a:gd name="connsiteY111" fmla="*/ 1574134 h 2849483"/>
              <a:gd name="connsiteX112" fmla="*/ 2188879 w 3308721"/>
              <a:gd name="connsiteY112" fmla="*/ 1657692 h 2849483"/>
              <a:gd name="connsiteX113" fmla="*/ 2155461 w 3308721"/>
              <a:gd name="connsiteY113" fmla="*/ 1707826 h 2849483"/>
              <a:gd name="connsiteX114" fmla="*/ 2105334 w 3308721"/>
              <a:gd name="connsiteY114" fmla="*/ 1774672 h 2849483"/>
              <a:gd name="connsiteX115" fmla="*/ 2071916 w 3308721"/>
              <a:gd name="connsiteY115" fmla="*/ 1824807 h 2849483"/>
              <a:gd name="connsiteX116" fmla="*/ 2021789 w 3308721"/>
              <a:gd name="connsiteY116" fmla="*/ 1874942 h 2849483"/>
              <a:gd name="connsiteX117" fmla="*/ 1971662 w 3308721"/>
              <a:gd name="connsiteY117" fmla="*/ 1941788 h 2849483"/>
              <a:gd name="connsiteX118" fmla="*/ 1837990 w 3308721"/>
              <a:gd name="connsiteY118" fmla="*/ 2075480 h 2849483"/>
              <a:gd name="connsiteX119" fmla="*/ 1804572 w 3308721"/>
              <a:gd name="connsiteY119" fmla="*/ 2142326 h 2849483"/>
              <a:gd name="connsiteX120" fmla="*/ 1771154 w 3308721"/>
              <a:gd name="connsiteY120" fmla="*/ 2175750 h 2849483"/>
              <a:gd name="connsiteX121" fmla="*/ 1670900 w 3308721"/>
              <a:gd name="connsiteY121" fmla="*/ 2309442 h 2849483"/>
              <a:gd name="connsiteX122" fmla="*/ 1637482 w 3308721"/>
              <a:gd name="connsiteY122" fmla="*/ 2359577 h 2849483"/>
              <a:gd name="connsiteX123" fmla="*/ 1604064 w 3308721"/>
              <a:gd name="connsiteY123" fmla="*/ 2459846 h 2849483"/>
              <a:gd name="connsiteX124" fmla="*/ 1587355 w 3308721"/>
              <a:gd name="connsiteY124" fmla="*/ 2509980 h 2849483"/>
              <a:gd name="connsiteX125" fmla="*/ 1503810 w 3308721"/>
              <a:gd name="connsiteY125" fmla="*/ 2727230 h 2849483"/>
              <a:gd name="connsiteX126" fmla="*/ 1487101 w 3308721"/>
              <a:gd name="connsiteY126" fmla="*/ 2844211 h 2849483"/>
              <a:gd name="connsiteX127" fmla="*/ 1537228 w 3308721"/>
              <a:gd name="connsiteY127" fmla="*/ 2827500 h 2849483"/>
              <a:gd name="connsiteX128" fmla="*/ 1604064 w 3308721"/>
              <a:gd name="connsiteY128" fmla="*/ 2710519 h 2849483"/>
              <a:gd name="connsiteX129" fmla="*/ 1620773 w 3308721"/>
              <a:gd name="connsiteY129" fmla="*/ 2660384 h 2849483"/>
              <a:gd name="connsiteX130" fmla="*/ 1670900 w 3308721"/>
              <a:gd name="connsiteY130" fmla="*/ 2610250 h 2849483"/>
              <a:gd name="connsiteX131" fmla="*/ 1704318 w 3308721"/>
              <a:gd name="connsiteY131" fmla="*/ 2560115 h 2849483"/>
              <a:gd name="connsiteX132" fmla="*/ 1804572 w 3308721"/>
              <a:gd name="connsiteY132" fmla="*/ 2443134 h 2849483"/>
              <a:gd name="connsiteX133" fmla="*/ 1871408 w 3308721"/>
              <a:gd name="connsiteY133" fmla="*/ 2393000 h 2849483"/>
              <a:gd name="connsiteX134" fmla="*/ 1971662 w 3308721"/>
              <a:gd name="connsiteY134" fmla="*/ 2292730 h 2849483"/>
              <a:gd name="connsiteX135" fmla="*/ 2055207 w 3308721"/>
              <a:gd name="connsiteY135" fmla="*/ 2276019 h 2849483"/>
              <a:gd name="connsiteX136" fmla="*/ 2105334 w 3308721"/>
              <a:gd name="connsiteY136" fmla="*/ 2259307 h 2849483"/>
              <a:gd name="connsiteX137" fmla="*/ 2138752 w 3308721"/>
              <a:gd name="connsiteY137" fmla="*/ 2209173 h 2849483"/>
              <a:gd name="connsiteX138" fmla="*/ 2188879 w 3308721"/>
              <a:gd name="connsiteY138" fmla="*/ 2192461 h 2849483"/>
              <a:gd name="connsiteX139" fmla="*/ 2255715 w 3308721"/>
              <a:gd name="connsiteY139" fmla="*/ 2092192 h 2849483"/>
              <a:gd name="connsiteX140" fmla="*/ 2305842 w 3308721"/>
              <a:gd name="connsiteY140" fmla="*/ 1975211 h 2849483"/>
              <a:gd name="connsiteX141" fmla="*/ 2339260 w 3308721"/>
              <a:gd name="connsiteY141" fmla="*/ 1908365 h 2849483"/>
              <a:gd name="connsiteX142" fmla="*/ 2355969 w 3308721"/>
              <a:gd name="connsiteY142" fmla="*/ 1841519 h 2849483"/>
              <a:gd name="connsiteX143" fmla="*/ 2372678 w 3308721"/>
              <a:gd name="connsiteY143" fmla="*/ 1791384 h 2849483"/>
              <a:gd name="connsiteX144" fmla="*/ 2389387 w 3308721"/>
              <a:gd name="connsiteY144" fmla="*/ 1707826 h 2849483"/>
              <a:gd name="connsiteX145" fmla="*/ 2439514 w 3308721"/>
              <a:gd name="connsiteY145" fmla="*/ 1523999 h 2849483"/>
              <a:gd name="connsiteX146" fmla="*/ 2472932 w 3308721"/>
              <a:gd name="connsiteY146" fmla="*/ 2526692 h 2849483"/>
              <a:gd name="connsiteX147" fmla="*/ 2506350 w 3308721"/>
              <a:gd name="connsiteY147" fmla="*/ 2476557 h 2849483"/>
              <a:gd name="connsiteX148" fmla="*/ 2573186 w 3308721"/>
              <a:gd name="connsiteY148" fmla="*/ 2426423 h 2849483"/>
              <a:gd name="connsiteX149" fmla="*/ 2606604 w 3308721"/>
              <a:gd name="connsiteY149" fmla="*/ 2359577 h 2849483"/>
              <a:gd name="connsiteX150" fmla="*/ 2640022 w 3308721"/>
              <a:gd name="connsiteY150" fmla="*/ 2326153 h 2849483"/>
              <a:gd name="connsiteX151" fmla="*/ 2673440 w 3308721"/>
              <a:gd name="connsiteY151" fmla="*/ 2209173 h 2849483"/>
              <a:gd name="connsiteX152" fmla="*/ 2690149 w 3308721"/>
              <a:gd name="connsiteY152" fmla="*/ 2159038 h 2849483"/>
              <a:gd name="connsiteX153" fmla="*/ 2756985 w 3308721"/>
              <a:gd name="connsiteY153" fmla="*/ 1874942 h 2849483"/>
              <a:gd name="connsiteX154" fmla="*/ 2773694 w 3308721"/>
              <a:gd name="connsiteY154" fmla="*/ 1791384 h 2849483"/>
              <a:gd name="connsiteX155" fmla="*/ 2840530 w 3308721"/>
              <a:gd name="connsiteY155" fmla="*/ 1674403 h 2849483"/>
              <a:gd name="connsiteX156" fmla="*/ 2857239 w 3308721"/>
              <a:gd name="connsiteY156" fmla="*/ 1624269 h 2849483"/>
              <a:gd name="connsiteX157" fmla="*/ 2924075 w 3308721"/>
              <a:gd name="connsiteY157" fmla="*/ 1707826 h 2849483"/>
              <a:gd name="connsiteX158" fmla="*/ 2957493 w 3308721"/>
              <a:gd name="connsiteY158" fmla="*/ 2326153 h 2849483"/>
              <a:gd name="connsiteX159" fmla="*/ 2990911 w 3308721"/>
              <a:gd name="connsiteY159" fmla="*/ 2142326 h 2849483"/>
              <a:gd name="connsiteX160" fmla="*/ 3057747 w 3308721"/>
              <a:gd name="connsiteY160" fmla="*/ 1958499 h 2849483"/>
              <a:gd name="connsiteX161" fmla="*/ 3091165 w 3308721"/>
              <a:gd name="connsiteY161" fmla="*/ 1841519 h 2849483"/>
              <a:gd name="connsiteX162" fmla="*/ 3141292 w 3308721"/>
              <a:gd name="connsiteY162" fmla="*/ 1674403 h 2849483"/>
              <a:gd name="connsiteX163" fmla="*/ 3158001 w 3308721"/>
              <a:gd name="connsiteY163" fmla="*/ 1874942 h 2849483"/>
              <a:gd name="connsiteX164" fmla="*/ 3208128 w 3308721"/>
              <a:gd name="connsiteY164" fmla="*/ 1925076 h 2849483"/>
              <a:gd name="connsiteX165" fmla="*/ 3241546 w 3308721"/>
              <a:gd name="connsiteY165" fmla="*/ 1975211 h 2849483"/>
              <a:gd name="connsiteX166" fmla="*/ 3291673 w 3308721"/>
              <a:gd name="connsiteY166" fmla="*/ 1925076 h 2849483"/>
              <a:gd name="connsiteX167" fmla="*/ 3308382 w 3308721"/>
              <a:gd name="connsiteY167" fmla="*/ 1457153 h 284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308721" h="2849483">
                <a:moveTo>
                  <a:pt x="0" y="1189768"/>
                </a:moveTo>
                <a:cubicBezTo>
                  <a:pt x="27848" y="1161916"/>
                  <a:pt x="57611" y="1135854"/>
                  <a:pt x="83545" y="1106211"/>
                </a:cubicBezTo>
                <a:cubicBezTo>
                  <a:pt x="96769" y="1091095"/>
                  <a:pt x="102763" y="1070279"/>
                  <a:pt x="116963" y="1056076"/>
                </a:cubicBezTo>
                <a:cubicBezTo>
                  <a:pt x="180698" y="992332"/>
                  <a:pt x="259902" y="955198"/>
                  <a:pt x="334180" y="905672"/>
                </a:cubicBezTo>
                <a:lnTo>
                  <a:pt x="434434" y="838826"/>
                </a:lnTo>
                <a:cubicBezTo>
                  <a:pt x="517406" y="714348"/>
                  <a:pt x="410767" y="867231"/>
                  <a:pt x="517979" y="738557"/>
                </a:cubicBezTo>
                <a:cubicBezTo>
                  <a:pt x="530835" y="723127"/>
                  <a:pt x="535854" y="701141"/>
                  <a:pt x="551397" y="688422"/>
                </a:cubicBezTo>
                <a:lnTo>
                  <a:pt x="751905" y="554730"/>
                </a:lnTo>
                <a:lnTo>
                  <a:pt x="802032" y="521307"/>
                </a:lnTo>
                <a:cubicBezTo>
                  <a:pt x="818741" y="510166"/>
                  <a:pt x="837960" y="502086"/>
                  <a:pt x="852159" y="487884"/>
                </a:cubicBezTo>
                <a:cubicBezTo>
                  <a:pt x="891743" y="448293"/>
                  <a:pt x="929148" y="406511"/>
                  <a:pt x="985831" y="387614"/>
                </a:cubicBezTo>
                <a:cubicBezTo>
                  <a:pt x="1002540" y="382044"/>
                  <a:pt x="1019769" y="377842"/>
                  <a:pt x="1035958" y="370903"/>
                </a:cubicBezTo>
                <a:cubicBezTo>
                  <a:pt x="1132763" y="329409"/>
                  <a:pt x="1081338" y="334490"/>
                  <a:pt x="1203048" y="304057"/>
                </a:cubicBezTo>
                <a:cubicBezTo>
                  <a:pt x="1313447" y="276452"/>
                  <a:pt x="1247097" y="290194"/>
                  <a:pt x="1403556" y="270633"/>
                </a:cubicBezTo>
                <a:cubicBezTo>
                  <a:pt x="1436974" y="259492"/>
                  <a:pt x="1474501" y="256752"/>
                  <a:pt x="1503810" y="237210"/>
                </a:cubicBezTo>
                <a:cubicBezTo>
                  <a:pt x="1520519" y="226069"/>
                  <a:pt x="1535586" y="211944"/>
                  <a:pt x="1553937" y="203787"/>
                </a:cubicBezTo>
                <a:cubicBezTo>
                  <a:pt x="1586126" y="189479"/>
                  <a:pt x="1620773" y="181505"/>
                  <a:pt x="1654191" y="170364"/>
                </a:cubicBezTo>
                <a:lnTo>
                  <a:pt x="1704318" y="153653"/>
                </a:lnTo>
                <a:cubicBezTo>
                  <a:pt x="1721027" y="142512"/>
                  <a:pt x="1738764" y="132777"/>
                  <a:pt x="1754445" y="120230"/>
                </a:cubicBezTo>
                <a:cubicBezTo>
                  <a:pt x="1766747" y="110387"/>
                  <a:pt x="1773772" y="93853"/>
                  <a:pt x="1787863" y="86806"/>
                </a:cubicBezTo>
                <a:cubicBezTo>
                  <a:pt x="1808402" y="76535"/>
                  <a:pt x="1832618" y="76405"/>
                  <a:pt x="1854699" y="70095"/>
                </a:cubicBezTo>
                <a:cubicBezTo>
                  <a:pt x="1871634" y="65256"/>
                  <a:pt x="1888117" y="58954"/>
                  <a:pt x="1904826" y="53383"/>
                </a:cubicBezTo>
                <a:cubicBezTo>
                  <a:pt x="1927105" y="36672"/>
                  <a:pt x="1944644" y="10005"/>
                  <a:pt x="1971662" y="3249"/>
                </a:cubicBezTo>
                <a:cubicBezTo>
                  <a:pt x="1993941" y="-2321"/>
                  <a:pt x="2038498" y="-3004"/>
                  <a:pt x="2038498" y="19960"/>
                </a:cubicBezTo>
                <a:cubicBezTo>
                  <a:pt x="2038498" y="44869"/>
                  <a:pt x="1992784" y="40180"/>
                  <a:pt x="1971662" y="53383"/>
                </a:cubicBezTo>
                <a:cubicBezTo>
                  <a:pt x="1948046" y="68145"/>
                  <a:pt x="1928442" y="88756"/>
                  <a:pt x="1904826" y="103518"/>
                </a:cubicBezTo>
                <a:cubicBezTo>
                  <a:pt x="1846577" y="139929"/>
                  <a:pt x="1835302" y="137613"/>
                  <a:pt x="1771154" y="153653"/>
                </a:cubicBezTo>
                <a:cubicBezTo>
                  <a:pt x="1658605" y="266217"/>
                  <a:pt x="1788833" y="153168"/>
                  <a:pt x="1654191" y="220499"/>
                </a:cubicBezTo>
                <a:cubicBezTo>
                  <a:pt x="1629282" y="232955"/>
                  <a:pt x="1610970" y="255871"/>
                  <a:pt x="1587355" y="270633"/>
                </a:cubicBezTo>
                <a:cubicBezTo>
                  <a:pt x="1528651" y="307329"/>
                  <a:pt x="1503504" y="299379"/>
                  <a:pt x="1453683" y="354191"/>
                </a:cubicBezTo>
                <a:cubicBezTo>
                  <a:pt x="1416217" y="395410"/>
                  <a:pt x="1392814" y="448494"/>
                  <a:pt x="1353429" y="487884"/>
                </a:cubicBezTo>
                <a:lnTo>
                  <a:pt x="1169630" y="671711"/>
                </a:lnTo>
                <a:lnTo>
                  <a:pt x="1102794" y="738557"/>
                </a:lnTo>
                <a:cubicBezTo>
                  <a:pt x="1086085" y="755268"/>
                  <a:pt x="1072329" y="775581"/>
                  <a:pt x="1052667" y="788691"/>
                </a:cubicBezTo>
                <a:cubicBezTo>
                  <a:pt x="1035958" y="799832"/>
                  <a:pt x="1018221" y="809567"/>
                  <a:pt x="1002540" y="822114"/>
                </a:cubicBezTo>
                <a:cubicBezTo>
                  <a:pt x="990238" y="831957"/>
                  <a:pt x="982230" y="846798"/>
                  <a:pt x="969122" y="855538"/>
                </a:cubicBezTo>
                <a:cubicBezTo>
                  <a:pt x="948397" y="869357"/>
                  <a:pt x="922554" y="874482"/>
                  <a:pt x="902286" y="888961"/>
                </a:cubicBezTo>
                <a:cubicBezTo>
                  <a:pt x="883057" y="902698"/>
                  <a:pt x="870312" y="923965"/>
                  <a:pt x="852159" y="939095"/>
                </a:cubicBezTo>
                <a:cubicBezTo>
                  <a:pt x="808971" y="975090"/>
                  <a:pt x="802145" y="972480"/>
                  <a:pt x="751905" y="989230"/>
                </a:cubicBezTo>
                <a:lnTo>
                  <a:pt x="651651" y="1089499"/>
                </a:lnTo>
                <a:cubicBezTo>
                  <a:pt x="634942" y="1106211"/>
                  <a:pt x="620429" y="1125454"/>
                  <a:pt x="601524" y="1139634"/>
                </a:cubicBezTo>
                <a:lnTo>
                  <a:pt x="534688" y="1189768"/>
                </a:lnTo>
                <a:cubicBezTo>
                  <a:pt x="523549" y="1206480"/>
                  <a:pt x="516698" y="1227044"/>
                  <a:pt x="501270" y="1239903"/>
                </a:cubicBezTo>
                <a:cubicBezTo>
                  <a:pt x="372264" y="1347425"/>
                  <a:pt x="490976" y="1195439"/>
                  <a:pt x="384307" y="1323461"/>
                </a:cubicBezTo>
                <a:cubicBezTo>
                  <a:pt x="305373" y="1418196"/>
                  <a:pt x="399188" y="1326020"/>
                  <a:pt x="317471" y="1440442"/>
                </a:cubicBezTo>
                <a:cubicBezTo>
                  <a:pt x="303737" y="1459673"/>
                  <a:pt x="284053" y="1473865"/>
                  <a:pt x="267344" y="1490576"/>
                </a:cubicBezTo>
                <a:cubicBezTo>
                  <a:pt x="223143" y="1667406"/>
                  <a:pt x="283155" y="1459174"/>
                  <a:pt x="217217" y="1607557"/>
                </a:cubicBezTo>
                <a:cubicBezTo>
                  <a:pt x="202910" y="1639752"/>
                  <a:pt x="203339" y="1678511"/>
                  <a:pt x="183799" y="1707826"/>
                </a:cubicBezTo>
                <a:lnTo>
                  <a:pt x="116963" y="1808096"/>
                </a:lnTo>
                <a:lnTo>
                  <a:pt x="83545" y="1858230"/>
                </a:lnTo>
                <a:cubicBezTo>
                  <a:pt x="77505" y="1876352"/>
                  <a:pt x="38605" y="1986161"/>
                  <a:pt x="50127" y="1991923"/>
                </a:cubicBezTo>
                <a:cubicBezTo>
                  <a:pt x="75037" y="2004380"/>
                  <a:pt x="83545" y="1947358"/>
                  <a:pt x="100254" y="1925076"/>
                </a:cubicBezTo>
                <a:cubicBezTo>
                  <a:pt x="105824" y="1897224"/>
                  <a:pt x="105429" y="1867475"/>
                  <a:pt x="116963" y="1841519"/>
                </a:cubicBezTo>
                <a:cubicBezTo>
                  <a:pt x="139153" y="1791583"/>
                  <a:pt x="268203" y="1673545"/>
                  <a:pt x="284053" y="1657692"/>
                </a:cubicBezTo>
                <a:cubicBezTo>
                  <a:pt x="300762" y="1640980"/>
                  <a:pt x="313044" y="1618127"/>
                  <a:pt x="334180" y="1607557"/>
                </a:cubicBezTo>
                <a:cubicBezTo>
                  <a:pt x="378737" y="1585275"/>
                  <a:pt x="428000" y="1570605"/>
                  <a:pt x="467852" y="1540711"/>
                </a:cubicBezTo>
                <a:cubicBezTo>
                  <a:pt x="490131" y="1523999"/>
                  <a:pt x="510508" y="1504395"/>
                  <a:pt x="534688" y="1490576"/>
                </a:cubicBezTo>
                <a:cubicBezTo>
                  <a:pt x="549980" y="1481836"/>
                  <a:pt x="568324" y="1480050"/>
                  <a:pt x="584815" y="1473865"/>
                </a:cubicBezTo>
                <a:cubicBezTo>
                  <a:pt x="612899" y="1463332"/>
                  <a:pt x="641127" y="1453013"/>
                  <a:pt x="668360" y="1440442"/>
                </a:cubicBezTo>
                <a:cubicBezTo>
                  <a:pt x="862611" y="1350773"/>
                  <a:pt x="738923" y="1394634"/>
                  <a:pt x="852159" y="1356884"/>
                </a:cubicBezTo>
                <a:cubicBezTo>
                  <a:pt x="868868" y="1345743"/>
                  <a:pt x="884324" y="1332443"/>
                  <a:pt x="902286" y="1323461"/>
                </a:cubicBezTo>
                <a:cubicBezTo>
                  <a:pt x="1089748" y="1229715"/>
                  <a:pt x="775855" y="1412429"/>
                  <a:pt x="1019249" y="1273326"/>
                </a:cubicBezTo>
                <a:cubicBezTo>
                  <a:pt x="1036685" y="1263361"/>
                  <a:pt x="1051025" y="1248060"/>
                  <a:pt x="1069376" y="1239903"/>
                </a:cubicBezTo>
                <a:cubicBezTo>
                  <a:pt x="1275046" y="1148481"/>
                  <a:pt x="1080936" y="1248101"/>
                  <a:pt x="1236466" y="1189768"/>
                </a:cubicBezTo>
                <a:cubicBezTo>
                  <a:pt x="1259789" y="1181021"/>
                  <a:pt x="1280407" y="1166158"/>
                  <a:pt x="1303302" y="1156345"/>
                </a:cubicBezTo>
                <a:cubicBezTo>
                  <a:pt x="1406828" y="1111970"/>
                  <a:pt x="1295576" y="1175494"/>
                  <a:pt x="1420265" y="1106211"/>
                </a:cubicBezTo>
                <a:cubicBezTo>
                  <a:pt x="1494797" y="1064798"/>
                  <a:pt x="1669449" y="950283"/>
                  <a:pt x="1704318" y="922384"/>
                </a:cubicBezTo>
                <a:cubicBezTo>
                  <a:pt x="1801616" y="844534"/>
                  <a:pt x="1754028" y="866818"/>
                  <a:pt x="1837990" y="838826"/>
                </a:cubicBezTo>
                <a:cubicBezTo>
                  <a:pt x="1860269" y="822114"/>
                  <a:pt x="1882165" y="804880"/>
                  <a:pt x="1904826" y="788691"/>
                </a:cubicBezTo>
                <a:cubicBezTo>
                  <a:pt x="1921167" y="777017"/>
                  <a:pt x="1935025" y="757759"/>
                  <a:pt x="1954953" y="755268"/>
                </a:cubicBezTo>
                <a:cubicBezTo>
                  <a:pt x="1983134" y="751745"/>
                  <a:pt x="2010650" y="766409"/>
                  <a:pt x="2038498" y="771980"/>
                </a:cubicBezTo>
                <a:cubicBezTo>
                  <a:pt x="2027359" y="799833"/>
                  <a:pt x="2023495" y="831858"/>
                  <a:pt x="2005080" y="855538"/>
                </a:cubicBezTo>
                <a:cubicBezTo>
                  <a:pt x="1983186" y="883692"/>
                  <a:pt x="1946752" y="897163"/>
                  <a:pt x="1921535" y="922384"/>
                </a:cubicBezTo>
                <a:cubicBezTo>
                  <a:pt x="1896317" y="947606"/>
                  <a:pt x="1878183" y="979098"/>
                  <a:pt x="1854699" y="1005941"/>
                </a:cubicBezTo>
                <a:cubicBezTo>
                  <a:pt x="1839139" y="1023727"/>
                  <a:pt x="1819950" y="1038132"/>
                  <a:pt x="1804572" y="1056076"/>
                </a:cubicBezTo>
                <a:cubicBezTo>
                  <a:pt x="1786448" y="1077223"/>
                  <a:pt x="1772569" y="1101775"/>
                  <a:pt x="1754445" y="1122922"/>
                </a:cubicBezTo>
                <a:cubicBezTo>
                  <a:pt x="1739067" y="1140866"/>
                  <a:pt x="1718496" y="1154150"/>
                  <a:pt x="1704318" y="1173057"/>
                </a:cubicBezTo>
                <a:cubicBezTo>
                  <a:pt x="1684832" y="1199043"/>
                  <a:pt x="1675327" y="1231953"/>
                  <a:pt x="1654191" y="1256615"/>
                </a:cubicBezTo>
                <a:cubicBezTo>
                  <a:pt x="1641123" y="1271864"/>
                  <a:pt x="1619177" y="1276812"/>
                  <a:pt x="1604064" y="1290038"/>
                </a:cubicBezTo>
                <a:cubicBezTo>
                  <a:pt x="1574425" y="1315976"/>
                  <a:pt x="1550584" y="1348151"/>
                  <a:pt x="1520519" y="1373595"/>
                </a:cubicBezTo>
                <a:cubicBezTo>
                  <a:pt x="1478001" y="1409577"/>
                  <a:pt x="1426230" y="1434476"/>
                  <a:pt x="1386847" y="1473865"/>
                </a:cubicBezTo>
                <a:cubicBezTo>
                  <a:pt x="1364568" y="1496147"/>
                  <a:pt x="1344216" y="1520538"/>
                  <a:pt x="1320011" y="1540711"/>
                </a:cubicBezTo>
                <a:cubicBezTo>
                  <a:pt x="1277224" y="1576372"/>
                  <a:pt x="1225722" y="1601591"/>
                  <a:pt x="1186339" y="1640980"/>
                </a:cubicBezTo>
                <a:cubicBezTo>
                  <a:pt x="1147351" y="1679974"/>
                  <a:pt x="1094033" y="1708640"/>
                  <a:pt x="1069376" y="1757961"/>
                </a:cubicBezTo>
                <a:cubicBezTo>
                  <a:pt x="1058237" y="1780243"/>
                  <a:pt x="1051904" y="1805668"/>
                  <a:pt x="1035958" y="1824807"/>
                </a:cubicBezTo>
                <a:cubicBezTo>
                  <a:pt x="995618" y="1873222"/>
                  <a:pt x="946843" y="1913935"/>
                  <a:pt x="902286" y="1958499"/>
                </a:cubicBezTo>
                <a:lnTo>
                  <a:pt x="852159" y="2008634"/>
                </a:lnTo>
                <a:lnTo>
                  <a:pt x="735196" y="2125615"/>
                </a:lnTo>
                <a:cubicBezTo>
                  <a:pt x="718487" y="2142327"/>
                  <a:pt x="699830" y="2157295"/>
                  <a:pt x="685069" y="2175750"/>
                </a:cubicBezTo>
                <a:cubicBezTo>
                  <a:pt x="662790" y="2203602"/>
                  <a:pt x="638015" y="2229629"/>
                  <a:pt x="618233" y="2259307"/>
                </a:cubicBezTo>
                <a:cubicBezTo>
                  <a:pt x="604416" y="2280035"/>
                  <a:pt x="599293" y="2305881"/>
                  <a:pt x="584815" y="2326153"/>
                </a:cubicBezTo>
                <a:cubicBezTo>
                  <a:pt x="571081" y="2345384"/>
                  <a:pt x="549815" y="2358132"/>
                  <a:pt x="534688" y="2376288"/>
                </a:cubicBezTo>
                <a:cubicBezTo>
                  <a:pt x="521832" y="2391718"/>
                  <a:pt x="514126" y="2410993"/>
                  <a:pt x="501270" y="2426423"/>
                </a:cubicBezTo>
                <a:cubicBezTo>
                  <a:pt x="432503" y="2508955"/>
                  <a:pt x="447658" y="2450106"/>
                  <a:pt x="384307" y="2576827"/>
                </a:cubicBezTo>
                <a:cubicBezTo>
                  <a:pt x="373168" y="2599109"/>
                  <a:pt x="333275" y="2661289"/>
                  <a:pt x="350889" y="2643673"/>
                </a:cubicBezTo>
                <a:cubicBezTo>
                  <a:pt x="406864" y="2587689"/>
                  <a:pt x="440456" y="2510532"/>
                  <a:pt x="501270" y="2459846"/>
                </a:cubicBezTo>
                <a:lnTo>
                  <a:pt x="701778" y="2292730"/>
                </a:lnTo>
                <a:cubicBezTo>
                  <a:pt x="729307" y="2270055"/>
                  <a:pt x="757172" y="2247782"/>
                  <a:pt x="785323" y="2225884"/>
                </a:cubicBezTo>
                <a:cubicBezTo>
                  <a:pt x="807305" y="2208784"/>
                  <a:pt x="825739" y="2184558"/>
                  <a:pt x="852159" y="2175750"/>
                </a:cubicBezTo>
                <a:lnTo>
                  <a:pt x="902286" y="2159038"/>
                </a:lnTo>
                <a:cubicBezTo>
                  <a:pt x="924565" y="2142326"/>
                  <a:pt x="944213" y="2121359"/>
                  <a:pt x="969122" y="2108903"/>
                </a:cubicBezTo>
                <a:cubicBezTo>
                  <a:pt x="1025654" y="2080632"/>
                  <a:pt x="1091804" y="2070994"/>
                  <a:pt x="1152921" y="2058769"/>
                </a:cubicBezTo>
                <a:cubicBezTo>
                  <a:pt x="1180769" y="2081051"/>
                  <a:pt x="1201493" y="2132611"/>
                  <a:pt x="1236466" y="2125615"/>
                </a:cubicBezTo>
                <a:cubicBezTo>
                  <a:pt x="1279125" y="2117082"/>
                  <a:pt x="1289251" y="2056111"/>
                  <a:pt x="1320011" y="2025346"/>
                </a:cubicBezTo>
                <a:cubicBezTo>
                  <a:pt x="1350770" y="1994582"/>
                  <a:pt x="1385330" y="1967712"/>
                  <a:pt x="1420265" y="1941788"/>
                </a:cubicBezTo>
                <a:cubicBezTo>
                  <a:pt x="1984394" y="1523177"/>
                  <a:pt x="1652077" y="1760181"/>
                  <a:pt x="2038498" y="1523999"/>
                </a:cubicBezTo>
                <a:cubicBezTo>
                  <a:pt x="2072769" y="1503052"/>
                  <a:pt x="2104546" y="1478206"/>
                  <a:pt x="2138752" y="1457153"/>
                </a:cubicBezTo>
                <a:cubicBezTo>
                  <a:pt x="2452211" y="1264226"/>
                  <a:pt x="2118552" y="1473472"/>
                  <a:pt x="2322551" y="1356884"/>
                </a:cubicBezTo>
                <a:cubicBezTo>
                  <a:pt x="2412299" y="1305592"/>
                  <a:pt x="2329737" y="1334198"/>
                  <a:pt x="2439514" y="1306749"/>
                </a:cubicBezTo>
                <a:cubicBezTo>
                  <a:pt x="2407558" y="1402633"/>
                  <a:pt x="2445691" y="1313130"/>
                  <a:pt x="2372678" y="1407018"/>
                </a:cubicBezTo>
                <a:cubicBezTo>
                  <a:pt x="2348020" y="1438726"/>
                  <a:pt x="2334243" y="1478883"/>
                  <a:pt x="2305842" y="1507288"/>
                </a:cubicBezTo>
                <a:cubicBezTo>
                  <a:pt x="2283563" y="1529570"/>
                  <a:pt x="2258349" y="1549261"/>
                  <a:pt x="2239006" y="1574134"/>
                </a:cubicBezTo>
                <a:cubicBezTo>
                  <a:pt x="2219067" y="1599774"/>
                  <a:pt x="2206092" y="1630148"/>
                  <a:pt x="2188879" y="1657692"/>
                </a:cubicBezTo>
                <a:cubicBezTo>
                  <a:pt x="2178236" y="1674724"/>
                  <a:pt x="2167133" y="1691482"/>
                  <a:pt x="2155461" y="1707826"/>
                </a:cubicBezTo>
                <a:cubicBezTo>
                  <a:pt x="2139274" y="1730490"/>
                  <a:pt x="2121520" y="1752008"/>
                  <a:pt x="2105334" y="1774672"/>
                </a:cubicBezTo>
                <a:cubicBezTo>
                  <a:pt x="2093662" y="1791016"/>
                  <a:pt x="2084772" y="1809377"/>
                  <a:pt x="2071916" y="1824807"/>
                </a:cubicBezTo>
                <a:cubicBezTo>
                  <a:pt x="2056789" y="1842963"/>
                  <a:pt x="2037167" y="1856998"/>
                  <a:pt x="2021789" y="1874942"/>
                </a:cubicBezTo>
                <a:cubicBezTo>
                  <a:pt x="2003665" y="1896089"/>
                  <a:pt x="1990480" y="1921256"/>
                  <a:pt x="1971662" y="1941788"/>
                </a:cubicBezTo>
                <a:cubicBezTo>
                  <a:pt x="1929082" y="1988245"/>
                  <a:pt x="1866169" y="2019113"/>
                  <a:pt x="1837990" y="2075480"/>
                </a:cubicBezTo>
                <a:cubicBezTo>
                  <a:pt x="1826851" y="2097762"/>
                  <a:pt x="1818389" y="2121598"/>
                  <a:pt x="1804572" y="2142326"/>
                </a:cubicBezTo>
                <a:cubicBezTo>
                  <a:pt x="1795834" y="2155435"/>
                  <a:pt x="1780995" y="2163447"/>
                  <a:pt x="1771154" y="2175750"/>
                </a:cubicBezTo>
                <a:cubicBezTo>
                  <a:pt x="1736361" y="2219249"/>
                  <a:pt x="1701794" y="2263093"/>
                  <a:pt x="1670900" y="2309442"/>
                </a:cubicBezTo>
                <a:cubicBezTo>
                  <a:pt x="1659761" y="2326154"/>
                  <a:pt x="1645638" y="2341224"/>
                  <a:pt x="1637482" y="2359577"/>
                </a:cubicBezTo>
                <a:cubicBezTo>
                  <a:pt x="1623175" y="2391772"/>
                  <a:pt x="1615203" y="2426423"/>
                  <a:pt x="1604064" y="2459846"/>
                </a:cubicBezTo>
                <a:cubicBezTo>
                  <a:pt x="1598494" y="2476557"/>
                  <a:pt x="1594508" y="2493883"/>
                  <a:pt x="1587355" y="2509980"/>
                </a:cubicBezTo>
                <a:cubicBezTo>
                  <a:pt x="1544281" y="2606912"/>
                  <a:pt x="1519971" y="2638332"/>
                  <a:pt x="1503810" y="2727230"/>
                </a:cubicBezTo>
                <a:cubicBezTo>
                  <a:pt x="1496765" y="2765984"/>
                  <a:pt x="1474647" y="2806842"/>
                  <a:pt x="1487101" y="2844211"/>
                </a:cubicBezTo>
                <a:cubicBezTo>
                  <a:pt x="1492670" y="2860920"/>
                  <a:pt x="1520519" y="2833070"/>
                  <a:pt x="1537228" y="2827500"/>
                </a:cubicBezTo>
                <a:cubicBezTo>
                  <a:pt x="1570789" y="2777150"/>
                  <a:pt x="1578625" y="2769885"/>
                  <a:pt x="1604064" y="2710519"/>
                </a:cubicBezTo>
                <a:cubicBezTo>
                  <a:pt x="1611002" y="2694328"/>
                  <a:pt x="1611003" y="2675042"/>
                  <a:pt x="1620773" y="2660384"/>
                </a:cubicBezTo>
                <a:cubicBezTo>
                  <a:pt x="1633880" y="2640720"/>
                  <a:pt x="1655773" y="2628406"/>
                  <a:pt x="1670900" y="2610250"/>
                </a:cubicBezTo>
                <a:cubicBezTo>
                  <a:pt x="1683756" y="2594820"/>
                  <a:pt x="1692646" y="2576459"/>
                  <a:pt x="1704318" y="2560115"/>
                </a:cubicBezTo>
                <a:cubicBezTo>
                  <a:pt x="1739070" y="2511454"/>
                  <a:pt x="1759829" y="2481491"/>
                  <a:pt x="1804572" y="2443134"/>
                </a:cubicBezTo>
                <a:cubicBezTo>
                  <a:pt x="1825716" y="2425008"/>
                  <a:pt x="1851717" y="2412694"/>
                  <a:pt x="1871408" y="2393000"/>
                </a:cubicBezTo>
                <a:cubicBezTo>
                  <a:pt x="1919306" y="2345095"/>
                  <a:pt x="1908657" y="2316360"/>
                  <a:pt x="1971662" y="2292730"/>
                </a:cubicBezTo>
                <a:cubicBezTo>
                  <a:pt x="1998253" y="2282757"/>
                  <a:pt x="2027655" y="2282908"/>
                  <a:pt x="2055207" y="2276019"/>
                </a:cubicBezTo>
                <a:cubicBezTo>
                  <a:pt x="2072294" y="2271747"/>
                  <a:pt x="2088625" y="2264878"/>
                  <a:pt x="2105334" y="2259307"/>
                </a:cubicBezTo>
                <a:cubicBezTo>
                  <a:pt x="2116473" y="2242596"/>
                  <a:pt x="2123070" y="2221720"/>
                  <a:pt x="2138752" y="2209173"/>
                </a:cubicBezTo>
                <a:cubicBezTo>
                  <a:pt x="2152505" y="2198169"/>
                  <a:pt x="2176426" y="2204916"/>
                  <a:pt x="2188879" y="2192461"/>
                </a:cubicBezTo>
                <a:cubicBezTo>
                  <a:pt x="2217280" y="2164056"/>
                  <a:pt x="2237754" y="2128120"/>
                  <a:pt x="2255715" y="2092192"/>
                </a:cubicBezTo>
                <a:cubicBezTo>
                  <a:pt x="2366547" y="1870496"/>
                  <a:pt x="2232085" y="2147336"/>
                  <a:pt x="2305842" y="1975211"/>
                </a:cubicBezTo>
                <a:cubicBezTo>
                  <a:pt x="2315654" y="1952313"/>
                  <a:pt x="2330514" y="1931691"/>
                  <a:pt x="2339260" y="1908365"/>
                </a:cubicBezTo>
                <a:cubicBezTo>
                  <a:pt x="2347323" y="1886859"/>
                  <a:pt x="2349660" y="1863603"/>
                  <a:pt x="2355969" y="1841519"/>
                </a:cubicBezTo>
                <a:cubicBezTo>
                  <a:pt x="2360808" y="1824581"/>
                  <a:pt x="2368406" y="1808474"/>
                  <a:pt x="2372678" y="1791384"/>
                </a:cubicBezTo>
                <a:cubicBezTo>
                  <a:pt x="2379566" y="1763828"/>
                  <a:pt x="2383001" y="1735503"/>
                  <a:pt x="2389387" y="1707826"/>
                </a:cubicBezTo>
                <a:cubicBezTo>
                  <a:pt x="2417654" y="1585318"/>
                  <a:pt x="2411895" y="1606870"/>
                  <a:pt x="2439514" y="1523999"/>
                </a:cubicBezTo>
                <a:cubicBezTo>
                  <a:pt x="2535418" y="1907672"/>
                  <a:pt x="2407796" y="1375786"/>
                  <a:pt x="2472932" y="2526692"/>
                </a:cubicBezTo>
                <a:cubicBezTo>
                  <a:pt x="2474067" y="2546744"/>
                  <a:pt x="2492150" y="2490760"/>
                  <a:pt x="2506350" y="2476557"/>
                </a:cubicBezTo>
                <a:cubicBezTo>
                  <a:pt x="2526041" y="2456863"/>
                  <a:pt x="2550907" y="2443134"/>
                  <a:pt x="2573186" y="2426423"/>
                </a:cubicBezTo>
                <a:cubicBezTo>
                  <a:pt x="2584325" y="2404141"/>
                  <a:pt x="2592787" y="2380305"/>
                  <a:pt x="2606604" y="2359577"/>
                </a:cubicBezTo>
                <a:cubicBezTo>
                  <a:pt x="2615342" y="2346468"/>
                  <a:pt x="2631917" y="2339663"/>
                  <a:pt x="2640022" y="2326153"/>
                </a:cubicBezTo>
                <a:cubicBezTo>
                  <a:pt x="2650948" y="2307939"/>
                  <a:pt x="2669468" y="2223078"/>
                  <a:pt x="2673440" y="2209173"/>
                </a:cubicBezTo>
                <a:cubicBezTo>
                  <a:pt x="2678279" y="2192235"/>
                  <a:pt x="2685515" y="2176033"/>
                  <a:pt x="2690149" y="2159038"/>
                </a:cubicBezTo>
                <a:cubicBezTo>
                  <a:pt x="2714264" y="2070603"/>
                  <a:pt x="2737929" y="1963883"/>
                  <a:pt x="2756985" y="1874942"/>
                </a:cubicBezTo>
                <a:cubicBezTo>
                  <a:pt x="2762936" y="1847168"/>
                  <a:pt x="2764713" y="1818331"/>
                  <a:pt x="2773694" y="1791384"/>
                </a:cubicBezTo>
                <a:cubicBezTo>
                  <a:pt x="2802987" y="1703492"/>
                  <a:pt x="2803861" y="1747751"/>
                  <a:pt x="2840530" y="1674403"/>
                </a:cubicBezTo>
                <a:cubicBezTo>
                  <a:pt x="2848407" y="1658647"/>
                  <a:pt x="2851669" y="1640980"/>
                  <a:pt x="2857239" y="1624269"/>
                </a:cubicBezTo>
                <a:cubicBezTo>
                  <a:pt x="2899272" y="1652295"/>
                  <a:pt x="2920971" y="1651945"/>
                  <a:pt x="2924075" y="1707826"/>
                </a:cubicBezTo>
                <a:cubicBezTo>
                  <a:pt x="2960127" y="2356866"/>
                  <a:pt x="2893856" y="2071569"/>
                  <a:pt x="2957493" y="2326153"/>
                </a:cubicBezTo>
                <a:cubicBezTo>
                  <a:pt x="2969261" y="2243767"/>
                  <a:pt x="2969425" y="2213956"/>
                  <a:pt x="2990911" y="2142326"/>
                </a:cubicBezTo>
                <a:cubicBezTo>
                  <a:pt x="3026013" y="2025301"/>
                  <a:pt x="3017889" y="2064804"/>
                  <a:pt x="3057747" y="1958499"/>
                </a:cubicBezTo>
                <a:cubicBezTo>
                  <a:pt x="3085824" y="1883615"/>
                  <a:pt x="3064830" y="1929314"/>
                  <a:pt x="3091165" y="1841519"/>
                </a:cubicBezTo>
                <a:cubicBezTo>
                  <a:pt x="3152185" y="1638088"/>
                  <a:pt x="3102779" y="1828476"/>
                  <a:pt x="3141292" y="1674403"/>
                </a:cubicBezTo>
                <a:cubicBezTo>
                  <a:pt x="3146862" y="1741249"/>
                  <a:pt x="3140720" y="1810128"/>
                  <a:pt x="3158001" y="1874942"/>
                </a:cubicBezTo>
                <a:cubicBezTo>
                  <a:pt x="3164089" y="1897776"/>
                  <a:pt x="3193001" y="1906920"/>
                  <a:pt x="3208128" y="1925076"/>
                </a:cubicBezTo>
                <a:cubicBezTo>
                  <a:pt x="3220984" y="1940506"/>
                  <a:pt x="3230407" y="1958499"/>
                  <a:pt x="3241546" y="1975211"/>
                </a:cubicBezTo>
                <a:cubicBezTo>
                  <a:pt x="3258255" y="1958499"/>
                  <a:pt x="3286805" y="1948201"/>
                  <a:pt x="3291673" y="1925076"/>
                </a:cubicBezTo>
                <a:cubicBezTo>
                  <a:pt x="3312551" y="1825890"/>
                  <a:pt x="3308382" y="1571150"/>
                  <a:pt x="3308382" y="1457153"/>
                </a:cubicBez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4843382" y="3810001"/>
            <a:ext cx="1709818" cy="1511774"/>
          </a:xfrm>
          <a:custGeom>
            <a:avLst/>
            <a:gdLst>
              <a:gd name="connsiteX0" fmla="*/ 1273541 w 2617069"/>
              <a:gd name="connsiteY0" fmla="*/ 0 h 3074925"/>
              <a:gd name="connsiteX1" fmla="*/ 1189996 w 2617069"/>
              <a:gd name="connsiteY1" fmla="*/ 33424 h 3074925"/>
              <a:gd name="connsiteX2" fmla="*/ 1139869 w 2617069"/>
              <a:gd name="connsiteY2" fmla="*/ 50135 h 3074925"/>
              <a:gd name="connsiteX3" fmla="*/ 1073033 w 2617069"/>
              <a:gd name="connsiteY3" fmla="*/ 83558 h 3074925"/>
              <a:gd name="connsiteX4" fmla="*/ 1022906 w 2617069"/>
              <a:gd name="connsiteY4" fmla="*/ 116981 h 3074925"/>
              <a:gd name="connsiteX5" fmla="*/ 922652 w 2617069"/>
              <a:gd name="connsiteY5" fmla="*/ 133693 h 3074925"/>
              <a:gd name="connsiteX6" fmla="*/ 772271 w 2617069"/>
              <a:gd name="connsiteY6" fmla="*/ 250674 h 3074925"/>
              <a:gd name="connsiteX7" fmla="*/ 722144 w 2617069"/>
              <a:gd name="connsiteY7" fmla="*/ 284097 h 3074925"/>
              <a:gd name="connsiteX8" fmla="*/ 672017 w 2617069"/>
              <a:gd name="connsiteY8" fmla="*/ 334231 h 3074925"/>
              <a:gd name="connsiteX9" fmla="*/ 621890 w 2617069"/>
              <a:gd name="connsiteY9" fmla="*/ 367654 h 3074925"/>
              <a:gd name="connsiteX10" fmla="*/ 571763 w 2617069"/>
              <a:gd name="connsiteY10" fmla="*/ 417789 h 3074925"/>
              <a:gd name="connsiteX11" fmla="*/ 521636 w 2617069"/>
              <a:gd name="connsiteY11" fmla="*/ 434501 h 3074925"/>
              <a:gd name="connsiteX12" fmla="*/ 471509 w 2617069"/>
              <a:gd name="connsiteY12" fmla="*/ 484635 h 3074925"/>
              <a:gd name="connsiteX13" fmla="*/ 421382 w 2617069"/>
              <a:gd name="connsiteY13" fmla="*/ 518058 h 3074925"/>
              <a:gd name="connsiteX14" fmla="*/ 387964 w 2617069"/>
              <a:gd name="connsiteY14" fmla="*/ 568193 h 3074925"/>
              <a:gd name="connsiteX15" fmla="*/ 287710 w 2617069"/>
              <a:gd name="connsiteY15" fmla="*/ 651751 h 3074925"/>
              <a:gd name="connsiteX16" fmla="*/ 254292 w 2617069"/>
              <a:gd name="connsiteY16" fmla="*/ 701885 h 3074925"/>
              <a:gd name="connsiteX17" fmla="*/ 154038 w 2617069"/>
              <a:gd name="connsiteY17" fmla="*/ 802155 h 3074925"/>
              <a:gd name="connsiteX18" fmla="*/ 120620 w 2617069"/>
              <a:gd name="connsiteY18" fmla="*/ 852289 h 3074925"/>
              <a:gd name="connsiteX19" fmla="*/ 70493 w 2617069"/>
              <a:gd name="connsiteY19" fmla="*/ 902424 h 3074925"/>
              <a:gd name="connsiteX20" fmla="*/ 37075 w 2617069"/>
              <a:gd name="connsiteY20" fmla="*/ 952558 h 3074925"/>
              <a:gd name="connsiteX21" fmla="*/ 3657 w 2617069"/>
              <a:gd name="connsiteY21" fmla="*/ 985982 h 3074925"/>
              <a:gd name="connsiteX22" fmla="*/ 220874 w 2617069"/>
              <a:gd name="connsiteY22" fmla="*/ 935847 h 3074925"/>
              <a:gd name="connsiteX23" fmla="*/ 271001 w 2617069"/>
              <a:gd name="connsiteY23" fmla="*/ 919135 h 3074925"/>
              <a:gd name="connsiteX24" fmla="*/ 321128 w 2617069"/>
              <a:gd name="connsiteY24" fmla="*/ 885712 h 3074925"/>
              <a:gd name="connsiteX25" fmla="*/ 521636 w 2617069"/>
              <a:gd name="connsiteY25" fmla="*/ 869001 h 3074925"/>
              <a:gd name="connsiteX26" fmla="*/ 672017 w 2617069"/>
              <a:gd name="connsiteY26" fmla="*/ 785443 h 3074925"/>
              <a:gd name="connsiteX27" fmla="*/ 738853 w 2617069"/>
              <a:gd name="connsiteY27" fmla="*/ 718597 h 3074925"/>
              <a:gd name="connsiteX28" fmla="*/ 1056324 w 2617069"/>
              <a:gd name="connsiteY28" fmla="*/ 484635 h 3074925"/>
              <a:gd name="connsiteX29" fmla="*/ 1139869 w 2617069"/>
              <a:gd name="connsiteY29" fmla="*/ 434501 h 3074925"/>
              <a:gd name="connsiteX30" fmla="*/ 1290250 w 2617069"/>
              <a:gd name="connsiteY30" fmla="*/ 384366 h 3074925"/>
              <a:gd name="connsiteX31" fmla="*/ 1407213 w 2617069"/>
              <a:gd name="connsiteY31" fmla="*/ 350943 h 3074925"/>
              <a:gd name="connsiteX32" fmla="*/ 1624430 w 2617069"/>
              <a:gd name="connsiteY32" fmla="*/ 334231 h 3074925"/>
              <a:gd name="connsiteX33" fmla="*/ 2125700 w 2617069"/>
              <a:gd name="connsiteY33" fmla="*/ 317520 h 3074925"/>
              <a:gd name="connsiteX34" fmla="*/ 2058864 w 2617069"/>
              <a:gd name="connsiteY34" fmla="*/ 367654 h 3074925"/>
              <a:gd name="connsiteX35" fmla="*/ 2008737 w 2617069"/>
              <a:gd name="connsiteY35" fmla="*/ 384366 h 3074925"/>
              <a:gd name="connsiteX36" fmla="*/ 1875065 w 2617069"/>
              <a:gd name="connsiteY36" fmla="*/ 434501 h 3074925"/>
              <a:gd name="connsiteX37" fmla="*/ 1691266 w 2617069"/>
              <a:gd name="connsiteY37" fmla="*/ 584904 h 3074925"/>
              <a:gd name="connsiteX38" fmla="*/ 1657848 w 2617069"/>
              <a:gd name="connsiteY38" fmla="*/ 635039 h 3074925"/>
              <a:gd name="connsiteX39" fmla="*/ 1641139 w 2617069"/>
              <a:gd name="connsiteY39" fmla="*/ 685174 h 3074925"/>
              <a:gd name="connsiteX40" fmla="*/ 1591012 w 2617069"/>
              <a:gd name="connsiteY40" fmla="*/ 701885 h 3074925"/>
              <a:gd name="connsiteX41" fmla="*/ 1540885 w 2617069"/>
              <a:gd name="connsiteY41" fmla="*/ 735308 h 3074925"/>
              <a:gd name="connsiteX42" fmla="*/ 1490758 w 2617069"/>
              <a:gd name="connsiteY42" fmla="*/ 785443 h 3074925"/>
              <a:gd name="connsiteX43" fmla="*/ 1390504 w 2617069"/>
              <a:gd name="connsiteY43" fmla="*/ 818866 h 3074925"/>
              <a:gd name="connsiteX44" fmla="*/ 1156578 w 2617069"/>
              <a:gd name="connsiteY44" fmla="*/ 885712 h 3074925"/>
              <a:gd name="connsiteX45" fmla="*/ 1106451 w 2617069"/>
              <a:gd name="connsiteY45" fmla="*/ 902424 h 3074925"/>
              <a:gd name="connsiteX46" fmla="*/ 1056324 w 2617069"/>
              <a:gd name="connsiteY46" fmla="*/ 919135 h 3074925"/>
              <a:gd name="connsiteX47" fmla="*/ 989488 w 2617069"/>
              <a:gd name="connsiteY47" fmla="*/ 952558 h 3074925"/>
              <a:gd name="connsiteX48" fmla="*/ 889234 w 2617069"/>
              <a:gd name="connsiteY48" fmla="*/ 985982 h 3074925"/>
              <a:gd name="connsiteX49" fmla="*/ 788980 w 2617069"/>
              <a:gd name="connsiteY49" fmla="*/ 1036116 h 3074925"/>
              <a:gd name="connsiteX50" fmla="*/ 855816 w 2617069"/>
              <a:gd name="connsiteY50" fmla="*/ 1069539 h 3074925"/>
              <a:gd name="connsiteX51" fmla="*/ 1039615 w 2617069"/>
              <a:gd name="connsiteY51" fmla="*/ 1019405 h 3074925"/>
              <a:gd name="connsiteX52" fmla="*/ 1156578 w 2617069"/>
              <a:gd name="connsiteY52" fmla="*/ 1002693 h 3074925"/>
              <a:gd name="connsiteX53" fmla="*/ 1357086 w 2617069"/>
              <a:gd name="connsiteY53" fmla="*/ 952558 h 3074925"/>
              <a:gd name="connsiteX54" fmla="*/ 1540885 w 2617069"/>
              <a:gd name="connsiteY54" fmla="*/ 919135 h 3074925"/>
              <a:gd name="connsiteX55" fmla="*/ 2342917 w 2617069"/>
              <a:gd name="connsiteY55" fmla="*/ 952558 h 3074925"/>
              <a:gd name="connsiteX56" fmla="*/ 2526716 w 2617069"/>
              <a:gd name="connsiteY56" fmla="*/ 985982 h 3074925"/>
              <a:gd name="connsiteX57" fmla="*/ 2593552 w 2617069"/>
              <a:gd name="connsiteY57" fmla="*/ 1019405 h 3074925"/>
              <a:gd name="connsiteX58" fmla="*/ 2192536 w 2617069"/>
              <a:gd name="connsiteY58" fmla="*/ 1086251 h 3074925"/>
              <a:gd name="connsiteX59" fmla="*/ 2142409 w 2617069"/>
              <a:gd name="connsiteY59" fmla="*/ 1119674 h 3074925"/>
              <a:gd name="connsiteX60" fmla="*/ 2008737 w 2617069"/>
              <a:gd name="connsiteY60" fmla="*/ 1186520 h 3074925"/>
              <a:gd name="connsiteX61" fmla="*/ 1908483 w 2617069"/>
              <a:gd name="connsiteY61" fmla="*/ 1286789 h 3074925"/>
              <a:gd name="connsiteX62" fmla="*/ 1858356 w 2617069"/>
              <a:gd name="connsiteY62" fmla="*/ 1320212 h 3074925"/>
              <a:gd name="connsiteX63" fmla="*/ 1674557 w 2617069"/>
              <a:gd name="connsiteY63" fmla="*/ 1336924 h 3074925"/>
              <a:gd name="connsiteX64" fmla="*/ 1524176 w 2617069"/>
              <a:gd name="connsiteY64" fmla="*/ 1370347 h 3074925"/>
              <a:gd name="connsiteX65" fmla="*/ 1139869 w 2617069"/>
              <a:gd name="connsiteY65" fmla="*/ 1387059 h 3074925"/>
              <a:gd name="connsiteX66" fmla="*/ 1089742 w 2617069"/>
              <a:gd name="connsiteY66" fmla="*/ 1420482 h 3074925"/>
              <a:gd name="connsiteX67" fmla="*/ 1022906 w 2617069"/>
              <a:gd name="connsiteY67" fmla="*/ 1504039 h 3074925"/>
              <a:gd name="connsiteX68" fmla="*/ 1006197 w 2617069"/>
              <a:gd name="connsiteY68" fmla="*/ 1554174 h 3074925"/>
              <a:gd name="connsiteX69" fmla="*/ 1089742 w 2617069"/>
              <a:gd name="connsiteY69" fmla="*/ 1520751 h 3074925"/>
              <a:gd name="connsiteX70" fmla="*/ 1373795 w 2617069"/>
              <a:gd name="connsiteY70" fmla="*/ 1470616 h 3074925"/>
              <a:gd name="connsiteX71" fmla="*/ 1741393 w 2617069"/>
              <a:gd name="connsiteY71" fmla="*/ 1487328 h 3074925"/>
              <a:gd name="connsiteX72" fmla="*/ 1791520 w 2617069"/>
              <a:gd name="connsiteY72" fmla="*/ 1504039 h 3074925"/>
              <a:gd name="connsiteX73" fmla="*/ 1858356 w 2617069"/>
              <a:gd name="connsiteY73" fmla="*/ 1520751 h 3074925"/>
              <a:gd name="connsiteX74" fmla="*/ 1908483 w 2617069"/>
              <a:gd name="connsiteY74" fmla="*/ 1554174 h 3074925"/>
              <a:gd name="connsiteX75" fmla="*/ 2008737 w 2617069"/>
              <a:gd name="connsiteY75" fmla="*/ 1587597 h 3074925"/>
              <a:gd name="connsiteX76" fmla="*/ 2075573 w 2617069"/>
              <a:gd name="connsiteY76" fmla="*/ 1621020 h 3074925"/>
              <a:gd name="connsiteX77" fmla="*/ 2125700 w 2617069"/>
              <a:gd name="connsiteY77" fmla="*/ 1671155 h 3074925"/>
              <a:gd name="connsiteX78" fmla="*/ 2175827 w 2617069"/>
              <a:gd name="connsiteY78" fmla="*/ 1687866 h 3074925"/>
              <a:gd name="connsiteX79" fmla="*/ 2476589 w 2617069"/>
              <a:gd name="connsiteY79" fmla="*/ 1721289 h 3074925"/>
              <a:gd name="connsiteX80" fmla="*/ 2526716 w 2617069"/>
              <a:gd name="connsiteY80" fmla="*/ 1738001 h 3074925"/>
              <a:gd name="connsiteX81" fmla="*/ 2459880 w 2617069"/>
              <a:gd name="connsiteY81" fmla="*/ 1788136 h 3074925"/>
              <a:gd name="connsiteX82" fmla="*/ 2393044 w 2617069"/>
              <a:gd name="connsiteY82" fmla="*/ 1804847 h 3074925"/>
              <a:gd name="connsiteX83" fmla="*/ 2225954 w 2617069"/>
              <a:gd name="connsiteY83" fmla="*/ 1838270 h 3074925"/>
              <a:gd name="connsiteX84" fmla="*/ 1707975 w 2617069"/>
              <a:gd name="connsiteY84" fmla="*/ 1854982 h 3074925"/>
              <a:gd name="connsiteX85" fmla="*/ 1641139 w 2617069"/>
              <a:gd name="connsiteY85" fmla="*/ 1871693 h 3074925"/>
              <a:gd name="connsiteX86" fmla="*/ 1323668 w 2617069"/>
              <a:gd name="connsiteY86" fmla="*/ 1905116 h 3074925"/>
              <a:gd name="connsiteX87" fmla="*/ 1273541 w 2617069"/>
              <a:gd name="connsiteY87" fmla="*/ 1921828 h 3074925"/>
              <a:gd name="connsiteX88" fmla="*/ 1240123 w 2617069"/>
              <a:gd name="connsiteY88" fmla="*/ 1971963 h 3074925"/>
              <a:gd name="connsiteX89" fmla="*/ 1139869 w 2617069"/>
              <a:gd name="connsiteY89" fmla="*/ 2005386 h 3074925"/>
              <a:gd name="connsiteX90" fmla="*/ 1189996 w 2617069"/>
              <a:gd name="connsiteY90" fmla="*/ 1971963 h 3074925"/>
              <a:gd name="connsiteX91" fmla="*/ 1707975 w 2617069"/>
              <a:gd name="connsiteY91" fmla="*/ 1988674 h 3074925"/>
              <a:gd name="connsiteX92" fmla="*/ 1908483 w 2617069"/>
              <a:gd name="connsiteY92" fmla="*/ 2022097 h 3074925"/>
              <a:gd name="connsiteX93" fmla="*/ 2075573 w 2617069"/>
              <a:gd name="connsiteY93" fmla="*/ 2055520 h 3074925"/>
              <a:gd name="connsiteX94" fmla="*/ 2192536 w 2617069"/>
              <a:gd name="connsiteY94" fmla="*/ 2122367 h 3074925"/>
              <a:gd name="connsiteX95" fmla="*/ 2376335 w 2617069"/>
              <a:gd name="connsiteY95" fmla="*/ 2239347 h 3074925"/>
              <a:gd name="connsiteX96" fmla="*/ 2426462 w 2617069"/>
              <a:gd name="connsiteY96" fmla="*/ 2272770 h 3074925"/>
              <a:gd name="connsiteX97" fmla="*/ 2476589 w 2617069"/>
              <a:gd name="connsiteY97" fmla="*/ 2306194 h 3074925"/>
              <a:gd name="connsiteX98" fmla="*/ 2426462 w 2617069"/>
              <a:gd name="connsiteY98" fmla="*/ 2322905 h 3074925"/>
              <a:gd name="connsiteX99" fmla="*/ 2342917 w 2617069"/>
              <a:gd name="connsiteY99" fmla="*/ 2356328 h 3074925"/>
              <a:gd name="connsiteX100" fmla="*/ 2225954 w 2617069"/>
              <a:gd name="connsiteY100" fmla="*/ 2373040 h 3074925"/>
              <a:gd name="connsiteX101" fmla="*/ 1507467 w 2617069"/>
              <a:gd name="connsiteY101" fmla="*/ 2356328 h 3074925"/>
              <a:gd name="connsiteX102" fmla="*/ 1123160 w 2617069"/>
              <a:gd name="connsiteY102" fmla="*/ 2339617 h 3074925"/>
              <a:gd name="connsiteX103" fmla="*/ 1139869 w 2617069"/>
              <a:gd name="connsiteY103" fmla="*/ 2406463 h 3074925"/>
              <a:gd name="connsiteX104" fmla="*/ 1189996 w 2617069"/>
              <a:gd name="connsiteY104" fmla="*/ 2423174 h 3074925"/>
              <a:gd name="connsiteX105" fmla="*/ 1256832 w 2617069"/>
              <a:gd name="connsiteY105" fmla="*/ 2456597 h 3074925"/>
              <a:gd name="connsiteX106" fmla="*/ 1340377 w 2617069"/>
              <a:gd name="connsiteY106" fmla="*/ 2523444 h 3074925"/>
              <a:gd name="connsiteX107" fmla="*/ 1407213 w 2617069"/>
              <a:gd name="connsiteY107" fmla="*/ 2556867 h 3074925"/>
              <a:gd name="connsiteX108" fmla="*/ 1524176 w 2617069"/>
              <a:gd name="connsiteY108" fmla="*/ 2607001 h 3074925"/>
              <a:gd name="connsiteX109" fmla="*/ 1591012 w 2617069"/>
              <a:gd name="connsiteY109" fmla="*/ 2640424 h 3074925"/>
              <a:gd name="connsiteX110" fmla="*/ 1641139 w 2617069"/>
              <a:gd name="connsiteY110" fmla="*/ 2690559 h 3074925"/>
              <a:gd name="connsiteX111" fmla="*/ 1691266 w 2617069"/>
              <a:gd name="connsiteY111" fmla="*/ 2723982 h 3074925"/>
              <a:gd name="connsiteX112" fmla="*/ 1624430 w 2617069"/>
              <a:gd name="connsiteY112" fmla="*/ 2740694 h 3074925"/>
              <a:gd name="connsiteX113" fmla="*/ 1089742 w 2617069"/>
              <a:gd name="connsiteY113" fmla="*/ 2757405 h 3074925"/>
              <a:gd name="connsiteX114" fmla="*/ 1173287 w 2617069"/>
              <a:gd name="connsiteY114" fmla="*/ 2790828 h 3074925"/>
              <a:gd name="connsiteX115" fmla="*/ 1273541 w 2617069"/>
              <a:gd name="connsiteY115" fmla="*/ 2840963 h 3074925"/>
              <a:gd name="connsiteX116" fmla="*/ 1340377 w 2617069"/>
              <a:gd name="connsiteY116" fmla="*/ 2891098 h 3074925"/>
              <a:gd name="connsiteX117" fmla="*/ 1390504 w 2617069"/>
              <a:gd name="connsiteY117" fmla="*/ 2924521 h 3074925"/>
              <a:gd name="connsiteX118" fmla="*/ 1373795 w 2617069"/>
              <a:gd name="connsiteY118" fmla="*/ 2974655 h 3074925"/>
              <a:gd name="connsiteX119" fmla="*/ 1256832 w 2617069"/>
              <a:gd name="connsiteY119" fmla="*/ 2874386 h 3074925"/>
              <a:gd name="connsiteX120" fmla="*/ 1106451 w 2617069"/>
              <a:gd name="connsiteY120" fmla="*/ 2857675 h 3074925"/>
              <a:gd name="connsiteX121" fmla="*/ 1056324 w 2617069"/>
              <a:gd name="connsiteY121" fmla="*/ 2840963 h 3074925"/>
              <a:gd name="connsiteX122" fmla="*/ 939361 w 2617069"/>
              <a:gd name="connsiteY122" fmla="*/ 2807540 h 3074925"/>
              <a:gd name="connsiteX123" fmla="*/ 805689 w 2617069"/>
              <a:gd name="connsiteY123" fmla="*/ 2757405 h 3074925"/>
              <a:gd name="connsiteX124" fmla="*/ 822398 w 2617069"/>
              <a:gd name="connsiteY124" fmla="*/ 2807540 h 3074925"/>
              <a:gd name="connsiteX125" fmla="*/ 905943 w 2617069"/>
              <a:gd name="connsiteY125" fmla="*/ 3008078 h 3074925"/>
              <a:gd name="connsiteX126" fmla="*/ 939361 w 2617069"/>
              <a:gd name="connsiteY126" fmla="*/ 3058213 h 3074925"/>
              <a:gd name="connsiteX127" fmla="*/ 989488 w 2617069"/>
              <a:gd name="connsiteY127" fmla="*/ 3074925 h 307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617069" h="3074925">
                <a:moveTo>
                  <a:pt x="1273541" y="0"/>
                </a:moveTo>
                <a:cubicBezTo>
                  <a:pt x="1245693" y="11141"/>
                  <a:pt x="1218080" y="22891"/>
                  <a:pt x="1189996" y="33424"/>
                </a:cubicBezTo>
                <a:cubicBezTo>
                  <a:pt x="1173505" y="39609"/>
                  <a:pt x="1156058" y="43196"/>
                  <a:pt x="1139869" y="50135"/>
                </a:cubicBezTo>
                <a:cubicBezTo>
                  <a:pt x="1116974" y="59948"/>
                  <a:pt x="1094659" y="71198"/>
                  <a:pt x="1073033" y="83558"/>
                </a:cubicBezTo>
                <a:cubicBezTo>
                  <a:pt x="1055597" y="93523"/>
                  <a:pt x="1041958" y="110629"/>
                  <a:pt x="1022906" y="116981"/>
                </a:cubicBezTo>
                <a:cubicBezTo>
                  <a:pt x="990766" y="127696"/>
                  <a:pt x="956070" y="128122"/>
                  <a:pt x="922652" y="133693"/>
                </a:cubicBezTo>
                <a:cubicBezTo>
                  <a:pt x="669272" y="302638"/>
                  <a:pt x="929323" y="119777"/>
                  <a:pt x="772271" y="250674"/>
                </a:cubicBezTo>
                <a:cubicBezTo>
                  <a:pt x="756844" y="263532"/>
                  <a:pt x="737571" y="271239"/>
                  <a:pt x="722144" y="284097"/>
                </a:cubicBezTo>
                <a:cubicBezTo>
                  <a:pt x="703991" y="299227"/>
                  <a:pt x="690170" y="319101"/>
                  <a:pt x="672017" y="334231"/>
                </a:cubicBezTo>
                <a:cubicBezTo>
                  <a:pt x="656590" y="347089"/>
                  <a:pt x="637317" y="354796"/>
                  <a:pt x="621890" y="367654"/>
                </a:cubicBezTo>
                <a:cubicBezTo>
                  <a:pt x="603737" y="382784"/>
                  <a:pt x="591425" y="404679"/>
                  <a:pt x="571763" y="417789"/>
                </a:cubicBezTo>
                <a:cubicBezTo>
                  <a:pt x="557109" y="427560"/>
                  <a:pt x="538345" y="428930"/>
                  <a:pt x="521636" y="434501"/>
                </a:cubicBezTo>
                <a:cubicBezTo>
                  <a:pt x="504927" y="451212"/>
                  <a:pt x="489662" y="469505"/>
                  <a:pt x="471509" y="484635"/>
                </a:cubicBezTo>
                <a:cubicBezTo>
                  <a:pt x="456082" y="497493"/>
                  <a:pt x="435581" y="503856"/>
                  <a:pt x="421382" y="518058"/>
                </a:cubicBezTo>
                <a:cubicBezTo>
                  <a:pt x="407182" y="532261"/>
                  <a:pt x="400820" y="552763"/>
                  <a:pt x="387964" y="568193"/>
                </a:cubicBezTo>
                <a:cubicBezTo>
                  <a:pt x="347760" y="616446"/>
                  <a:pt x="337000" y="618886"/>
                  <a:pt x="287710" y="651751"/>
                </a:cubicBezTo>
                <a:cubicBezTo>
                  <a:pt x="276571" y="668462"/>
                  <a:pt x="267634" y="686873"/>
                  <a:pt x="254292" y="701885"/>
                </a:cubicBezTo>
                <a:cubicBezTo>
                  <a:pt x="222894" y="737213"/>
                  <a:pt x="180253" y="762827"/>
                  <a:pt x="154038" y="802155"/>
                </a:cubicBezTo>
                <a:cubicBezTo>
                  <a:pt x="142899" y="818866"/>
                  <a:pt x="133476" y="836859"/>
                  <a:pt x="120620" y="852289"/>
                </a:cubicBezTo>
                <a:cubicBezTo>
                  <a:pt x="105493" y="870445"/>
                  <a:pt x="85620" y="884268"/>
                  <a:pt x="70493" y="902424"/>
                </a:cubicBezTo>
                <a:cubicBezTo>
                  <a:pt x="57637" y="917854"/>
                  <a:pt x="49620" y="936874"/>
                  <a:pt x="37075" y="952558"/>
                </a:cubicBezTo>
                <a:cubicBezTo>
                  <a:pt x="27234" y="964861"/>
                  <a:pt x="-12033" y="987409"/>
                  <a:pt x="3657" y="985982"/>
                </a:cubicBezTo>
                <a:cubicBezTo>
                  <a:pt x="77661" y="979254"/>
                  <a:pt x="148784" y="953872"/>
                  <a:pt x="220874" y="935847"/>
                </a:cubicBezTo>
                <a:cubicBezTo>
                  <a:pt x="237961" y="931575"/>
                  <a:pt x="255248" y="927013"/>
                  <a:pt x="271001" y="919135"/>
                </a:cubicBezTo>
                <a:cubicBezTo>
                  <a:pt x="288963" y="910153"/>
                  <a:pt x="301435" y="889651"/>
                  <a:pt x="321128" y="885712"/>
                </a:cubicBezTo>
                <a:cubicBezTo>
                  <a:pt x="386893" y="872557"/>
                  <a:pt x="454800" y="874571"/>
                  <a:pt x="521636" y="869001"/>
                </a:cubicBezTo>
                <a:cubicBezTo>
                  <a:pt x="636544" y="792384"/>
                  <a:pt x="583787" y="814858"/>
                  <a:pt x="672017" y="785443"/>
                </a:cubicBezTo>
                <a:cubicBezTo>
                  <a:pt x="694296" y="763161"/>
                  <a:pt x="715434" y="739677"/>
                  <a:pt x="738853" y="718597"/>
                </a:cubicBezTo>
                <a:cubicBezTo>
                  <a:pt x="830995" y="635656"/>
                  <a:pt x="956718" y="544407"/>
                  <a:pt x="1056324" y="484635"/>
                </a:cubicBezTo>
                <a:cubicBezTo>
                  <a:pt x="1084172" y="467924"/>
                  <a:pt x="1110821" y="449027"/>
                  <a:pt x="1139869" y="434501"/>
                </a:cubicBezTo>
                <a:cubicBezTo>
                  <a:pt x="1216691" y="396084"/>
                  <a:pt x="1215787" y="405644"/>
                  <a:pt x="1290250" y="384366"/>
                </a:cubicBezTo>
                <a:cubicBezTo>
                  <a:pt x="1331856" y="372477"/>
                  <a:pt x="1362804" y="356168"/>
                  <a:pt x="1407213" y="350943"/>
                </a:cubicBezTo>
                <a:cubicBezTo>
                  <a:pt x="1479335" y="342457"/>
                  <a:pt x="1552024" y="339802"/>
                  <a:pt x="1624430" y="334231"/>
                </a:cubicBezTo>
                <a:cubicBezTo>
                  <a:pt x="1923980" y="284299"/>
                  <a:pt x="1757284" y="297049"/>
                  <a:pt x="2125700" y="317520"/>
                </a:cubicBezTo>
                <a:cubicBezTo>
                  <a:pt x="2103421" y="334231"/>
                  <a:pt x="2083043" y="353835"/>
                  <a:pt x="2058864" y="367654"/>
                </a:cubicBezTo>
                <a:cubicBezTo>
                  <a:pt x="2043572" y="376394"/>
                  <a:pt x="2025228" y="378181"/>
                  <a:pt x="2008737" y="384366"/>
                </a:cubicBezTo>
                <a:cubicBezTo>
                  <a:pt x="1848900" y="444314"/>
                  <a:pt x="1988844" y="396568"/>
                  <a:pt x="1875065" y="434501"/>
                </a:cubicBezTo>
                <a:cubicBezTo>
                  <a:pt x="1816259" y="478612"/>
                  <a:pt x="1740992" y="525224"/>
                  <a:pt x="1691266" y="584904"/>
                </a:cubicBezTo>
                <a:cubicBezTo>
                  <a:pt x="1678410" y="600334"/>
                  <a:pt x="1666829" y="617075"/>
                  <a:pt x="1657848" y="635039"/>
                </a:cubicBezTo>
                <a:cubicBezTo>
                  <a:pt x="1649971" y="650795"/>
                  <a:pt x="1653594" y="672717"/>
                  <a:pt x="1641139" y="685174"/>
                </a:cubicBezTo>
                <a:cubicBezTo>
                  <a:pt x="1628686" y="697629"/>
                  <a:pt x="1607721" y="696315"/>
                  <a:pt x="1591012" y="701885"/>
                </a:cubicBezTo>
                <a:cubicBezTo>
                  <a:pt x="1574303" y="713026"/>
                  <a:pt x="1556312" y="722450"/>
                  <a:pt x="1540885" y="735308"/>
                </a:cubicBezTo>
                <a:cubicBezTo>
                  <a:pt x="1522732" y="750438"/>
                  <a:pt x="1511415" y="773965"/>
                  <a:pt x="1490758" y="785443"/>
                </a:cubicBezTo>
                <a:cubicBezTo>
                  <a:pt x="1459966" y="802552"/>
                  <a:pt x="1424678" y="810321"/>
                  <a:pt x="1390504" y="818866"/>
                </a:cubicBezTo>
                <a:cubicBezTo>
                  <a:pt x="1222665" y="860832"/>
                  <a:pt x="1300398" y="837764"/>
                  <a:pt x="1156578" y="885712"/>
                </a:cubicBezTo>
                <a:lnTo>
                  <a:pt x="1106451" y="902424"/>
                </a:lnTo>
                <a:cubicBezTo>
                  <a:pt x="1089742" y="907994"/>
                  <a:pt x="1072077" y="911257"/>
                  <a:pt x="1056324" y="919135"/>
                </a:cubicBezTo>
                <a:cubicBezTo>
                  <a:pt x="1034045" y="930276"/>
                  <a:pt x="1012615" y="943306"/>
                  <a:pt x="989488" y="952558"/>
                </a:cubicBezTo>
                <a:cubicBezTo>
                  <a:pt x="956782" y="965643"/>
                  <a:pt x="918543" y="966440"/>
                  <a:pt x="889234" y="985982"/>
                </a:cubicBezTo>
                <a:cubicBezTo>
                  <a:pt x="824453" y="1029176"/>
                  <a:pt x="858159" y="1013054"/>
                  <a:pt x="788980" y="1036116"/>
                </a:cubicBezTo>
                <a:cubicBezTo>
                  <a:pt x="811259" y="1047257"/>
                  <a:pt x="831059" y="1066788"/>
                  <a:pt x="855816" y="1069539"/>
                </a:cubicBezTo>
                <a:cubicBezTo>
                  <a:pt x="897210" y="1074139"/>
                  <a:pt x="1007546" y="1026807"/>
                  <a:pt x="1039615" y="1019405"/>
                </a:cubicBezTo>
                <a:cubicBezTo>
                  <a:pt x="1077990" y="1010548"/>
                  <a:pt x="1118039" y="1010808"/>
                  <a:pt x="1156578" y="1002693"/>
                </a:cubicBezTo>
                <a:cubicBezTo>
                  <a:pt x="1223993" y="988498"/>
                  <a:pt x="1289130" y="963885"/>
                  <a:pt x="1357086" y="952558"/>
                </a:cubicBezTo>
                <a:cubicBezTo>
                  <a:pt x="1485354" y="931178"/>
                  <a:pt x="1424119" y="942492"/>
                  <a:pt x="1540885" y="919135"/>
                </a:cubicBezTo>
                <a:lnTo>
                  <a:pt x="2342917" y="952558"/>
                </a:lnTo>
                <a:cubicBezTo>
                  <a:pt x="2405240" y="955897"/>
                  <a:pt x="2468831" y="961170"/>
                  <a:pt x="2526716" y="985982"/>
                </a:cubicBezTo>
                <a:cubicBezTo>
                  <a:pt x="2549610" y="995795"/>
                  <a:pt x="2571273" y="1008264"/>
                  <a:pt x="2593552" y="1019405"/>
                </a:cubicBezTo>
                <a:cubicBezTo>
                  <a:pt x="2655512" y="1205311"/>
                  <a:pt x="2618455" y="1040610"/>
                  <a:pt x="2192536" y="1086251"/>
                </a:cubicBezTo>
                <a:cubicBezTo>
                  <a:pt x="2172568" y="1088391"/>
                  <a:pt x="2160371" y="1110692"/>
                  <a:pt x="2142409" y="1119674"/>
                </a:cubicBezTo>
                <a:cubicBezTo>
                  <a:pt x="2078020" y="1151873"/>
                  <a:pt x="2058509" y="1142271"/>
                  <a:pt x="2008737" y="1186520"/>
                </a:cubicBezTo>
                <a:cubicBezTo>
                  <a:pt x="1973414" y="1217923"/>
                  <a:pt x="1947807" y="1260569"/>
                  <a:pt x="1908483" y="1286789"/>
                </a:cubicBezTo>
                <a:cubicBezTo>
                  <a:pt x="1891774" y="1297930"/>
                  <a:pt x="1877993" y="1316003"/>
                  <a:pt x="1858356" y="1320212"/>
                </a:cubicBezTo>
                <a:cubicBezTo>
                  <a:pt x="1798203" y="1333104"/>
                  <a:pt x="1735823" y="1331353"/>
                  <a:pt x="1674557" y="1336924"/>
                </a:cubicBezTo>
                <a:cubicBezTo>
                  <a:pt x="1641914" y="1345086"/>
                  <a:pt x="1553881" y="1368225"/>
                  <a:pt x="1524176" y="1370347"/>
                </a:cubicBezTo>
                <a:cubicBezTo>
                  <a:pt x="1396279" y="1379484"/>
                  <a:pt x="1267971" y="1381488"/>
                  <a:pt x="1139869" y="1387059"/>
                </a:cubicBezTo>
                <a:cubicBezTo>
                  <a:pt x="1123160" y="1398200"/>
                  <a:pt x="1102286" y="1404799"/>
                  <a:pt x="1089742" y="1420482"/>
                </a:cubicBezTo>
                <a:cubicBezTo>
                  <a:pt x="997506" y="1535793"/>
                  <a:pt x="1166556" y="1408258"/>
                  <a:pt x="1022906" y="1504039"/>
                </a:cubicBezTo>
                <a:cubicBezTo>
                  <a:pt x="1017336" y="1520751"/>
                  <a:pt x="989108" y="1549901"/>
                  <a:pt x="1006197" y="1554174"/>
                </a:cubicBezTo>
                <a:cubicBezTo>
                  <a:pt x="1035295" y="1561450"/>
                  <a:pt x="1060902" y="1528992"/>
                  <a:pt x="1089742" y="1520751"/>
                </a:cubicBezTo>
                <a:cubicBezTo>
                  <a:pt x="1207229" y="1487178"/>
                  <a:pt x="1256267" y="1485310"/>
                  <a:pt x="1373795" y="1470616"/>
                </a:cubicBezTo>
                <a:cubicBezTo>
                  <a:pt x="1496328" y="1476187"/>
                  <a:pt x="1619125" y="1477545"/>
                  <a:pt x="1741393" y="1487328"/>
                </a:cubicBezTo>
                <a:cubicBezTo>
                  <a:pt x="1758950" y="1488733"/>
                  <a:pt x="1774585" y="1499200"/>
                  <a:pt x="1791520" y="1504039"/>
                </a:cubicBezTo>
                <a:cubicBezTo>
                  <a:pt x="1813601" y="1510349"/>
                  <a:pt x="1836077" y="1515180"/>
                  <a:pt x="1858356" y="1520751"/>
                </a:cubicBezTo>
                <a:cubicBezTo>
                  <a:pt x="1875065" y="1531892"/>
                  <a:pt x="1890132" y="1546017"/>
                  <a:pt x="1908483" y="1554174"/>
                </a:cubicBezTo>
                <a:cubicBezTo>
                  <a:pt x="1940672" y="1568482"/>
                  <a:pt x="1976031" y="1574513"/>
                  <a:pt x="2008737" y="1587597"/>
                </a:cubicBezTo>
                <a:cubicBezTo>
                  <a:pt x="2031864" y="1596849"/>
                  <a:pt x="2053294" y="1609879"/>
                  <a:pt x="2075573" y="1621020"/>
                </a:cubicBezTo>
                <a:cubicBezTo>
                  <a:pt x="2092282" y="1637732"/>
                  <a:pt x="2106038" y="1658045"/>
                  <a:pt x="2125700" y="1671155"/>
                </a:cubicBezTo>
                <a:cubicBezTo>
                  <a:pt x="2140354" y="1680926"/>
                  <a:pt x="2158892" y="1683027"/>
                  <a:pt x="2175827" y="1687866"/>
                </a:cubicBezTo>
                <a:cubicBezTo>
                  <a:pt x="2294728" y="1721843"/>
                  <a:pt x="2300686" y="1708723"/>
                  <a:pt x="2476589" y="1721289"/>
                </a:cubicBezTo>
                <a:cubicBezTo>
                  <a:pt x="2493298" y="1726860"/>
                  <a:pt x="2530987" y="1720914"/>
                  <a:pt x="2526716" y="1738001"/>
                </a:cubicBezTo>
                <a:cubicBezTo>
                  <a:pt x="2519962" y="1765020"/>
                  <a:pt x="2484789" y="1775680"/>
                  <a:pt x="2459880" y="1788136"/>
                </a:cubicBezTo>
                <a:cubicBezTo>
                  <a:pt x="2439341" y="1798407"/>
                  <a:pt x="2415499" y="1800035"/>
                  <a:pt x="2393044" y="1804847"/>
                </a:cubicBezTo>
                <a:cubicBezTo>
                  <a:pt x="2337505" y="1816750"/>
                  <a:pt x="2282724" y="1836438"/>
                  <a:pt x="2225954" y="1838270"/>
                </a:cubicBezTo>
                <a:lnTo>
                  <a:pt x="1707975" y="1854982"/>
                </a:lnTo>
                <a:cubicBezTo>
                  <a:pt x="1685696" y="1860552"/>
                  <a:pt x="1663836" y="1868201"/>
                  <a:pt x="1641139" y="1871693"/>
                </a:cubicBezTo>
                <a:cubicBezTo>
                  <a:pt x="1598607" y="1878237"/>
                  <a:pt x="1359509" y="1901531"/>
                  <a:pt x="1323668" y="1905116"/>
                </a:cubicBezTo>
                <a:cubicBezTo>
                  <a:pt x="1306959" y="1910687"/>
                  <a:pt x="1287294" y="1910824"/>
                  <a:pt x="1273541" y="1921828"/>
                </a:cubicBezTo>
                <a:cubicBezTo>
                  <a:pt x="1257859" y="1934376"/>
                  <a:pt x="1257153" y="1961317"/>
                  <a:pt x="1240123" y="1971963"/>
                </a:cubicBezTo>
                <a:cubicBezTo>
                  <a:pt x="1210253" y="1990635"/>
                  <a:pt x="1110560" y="2024928"/>
                  <a:pt x="1139869" y="2005386"/>
                </a:cubicBezTo>
                <a:lnTo>
                  <a:pt x="1189996" y="1971963"/>
                </a:lnTo>
                <a:cubicBezTo>
                  <a:pt x="1362656" y="1977533"/>
                  <a:pt x="1535645" y="1976649"/>
                  <a:pt x="1707975" y="1988674"/>
                </a:cubicBezTo>
                <a:cubicBezTo>
                  <a:pt x="1775569" y="1993391"/>
                  <a:pt x="1841647" y="2010956"/>
                  <a:pt x="1908483" y="2022097"/>
                </a:cubicBezTo>
                <a:cubicBezTo>
                  <a:pt x="2031384" y="2042584"/>
                  <a:pt x="1975873" y="2030592"/>
                  <a:pt x="2075573" y="2055520"/>
                </a:cubicBezTo>
                <a:cubicBezTo>
                  <a:pt x="2180602" y="2125550"/>
                  <a:pt x="2065347" y="2051695"/>
                  <a:pt x="2192536" y="2122367"/>
                </a:cubicBezTo>
                <a:cubicBezTo>
                  <a:pt x="2263336" y="2161706"/>
                  <a:pt x="2307414" y="2193393"/>
                  <a:pt x="2376335" y="2239347"/>
                </a:cubicBezTo>
                <a:lnTo>
                  <a:pt x="2426462" y="2272770"/>
                </a:lnTo>
                <a:lnTo>
                  <a:pt x="2476589" y="2306194"/>
                </a:lnTo>
                <a:cubicBezTo>
                  <a:pt x="2459880" y="2311764"/>
                  <a:pt x="2442953" y="2316720"/>
                  <a:pt x="2426462" y="2322905"/>
                </a:cubicBezTo>
                <a:cubicBezTo>
                  <a:pt x="2398378" y="2333438"/>
                  <a:pt x="2372015" y="2349052"/>
                  <a:pt x="2342917" y="2356328"/>
                </a:cubicBezTo>
                <a:cubicBezTo>
                  <a:pt x="2304710" y="2365881"/>
                  <a:pt x="2264942" y="2367469"/>
                  <a:pt x="2225954" y="2373040"/>
                </a:cubicBezTo>
                <a:cubicBezTo>
                  <a:pt x="1986458" y="2367469"/>
                  <a:pt x="1746684" y="2369145"/>
                  <a:pt x="1507467" y="2356328"/>
                </a:cubicBezTo>
                <a:cubicBezTo>
                  <a:pt x="1056976" y="2332191"/>
                  <a:pt x="1499112" y="2302015"/>
                  <a:pt x="1123160" y="2339617"/>
                </a:cubicBezTo>
                <a:cubicBezTo>
                  <a:pt x="1128730" y="2361899"/>
                  <a:pt x="1125523" y="2388527"/>
                  <a:pt x="1139869" y="2406463"/>
                </a:cubicBezTo>
                <a:cubicBezTo>
                  <a:pt x="1150871" y="2420217"/>
                  <a:pt x="1173807" y="2416235"/>
                  <a:pt x="1189996" y="2423174"/>
                </a:cubicBezTo>
                <a:cubicBezTo>
                  <a:pt x="1212891" y="2432987"/>
                  <a:pt x="1234553" y="2445456"/>
                  <a:pt x="1256832" y="2456597"/>
                </a:cubicBezTo>
                <a:cubicBezTo>
                  <a:pt x="1293426" y="2493198"/>
                  <a:pt x="1291193" y="2495335"/>
                  <a:pt x="1340377" y="2523444"/>
                </a:cubicBezTo>
                <a:cubicBezTo>
                  <a:pt x="1362003" y="2535804"/>
                  <a:pt x="1385587" y="2544507"/>
                  <a:pt x="1407213" y="2556867"/>
                </a:cubicBezTo>
                <a:cubicBezTo>
                  <a:pt x="1496960" y="2608159"/>
                  <a:pt x="1414400" y="2579554"/>
                  <a:pt x="1524176" y="2607001"/>
                </a:cubicBezTo>
                <a:cubicBezTo>
                  <a:pt x="1546455" y="2618142"/>
                  <a:pt x="1570744" y="2625944"/>
                  <a:pt x="1591012" y="2640424"/>
                </a:cubicBezTo>
                <a:cubicBezTo>
                  <a:pt x="1610241" y="2654161"/>
                  <a:pt x="1622986" y="2675429"/>
                  <a:pt x="1641139" y="2690559"/>
                </a:cubicBezTo>
                <a:cubicBezTo>
                  <a:pt x="1656566" y="2703417"/>
                  <a:pt x="1674557" y="2712841"/>
                  <a:pt x="1691266" y="2723982"/>
                </a:cubicBezTo>
                <a:cubicBezTo>
                  <a:pt x="1668987" y="2729553"/>
                  <a:pt x="1647359" y="2739420"/>
                  <a:pt x="1624430" y="2740694"/>
                </a:cubicBezTo>
                <a:cubicBezTo>
                  <a:pt x="1446388" y="2750587"/>
                  <a:pt x="1266967" y="2737711"/>
                  <a:pt x="1089742" y="2757405"/>
                </a:cubicBezTo>
                <a:cubicBezTo>
                  <a:pt x="1059931" y="2760718"/>
                  <a:pt x="1146460" y="2777413"/>
                  <a:pt x="1173287" y="2790828"/>
                </a:cubicBezTo>
                <a:cubicBezTo>
                  <a:pt x="1302854" y="2855621"/>
                  <a:pt x="1147543" y="2798956"/>
                  <a:pt x="1273541" y="2840963"/>
                </a:cubicBezTo>
                <a:cubicBezTo>
                  <a:pt x="1295820" y="2857675"/>
                  <a:pt x="1317716" y="2874909"/>
                  <a:pt x="1340377" y="2891098"/>
                </a:cubicBezTo>
                <a:cubicBezTo>
                  <a:pt x="1356718" y="2902772"/>
                  <a:pt x="1383046" y="2905874"/>
                  <a:pt x="1390504" y="2924521"/>
                </a:cubicBezTo>
                <a:cubicBezTo>
                  <a:pt x="1397045" y="2940876"/>
                  <a:pt x="1379365" y="2957944"/>
                  <a:pt x="1373795" y="2974655"/>
                </a:cubicBezTo>
                <a:cubicBezTo>
                  <a:pt x="1359304" y="2960162"/>
                  <a:pt x="1290762" y="2882870"/>
                  <a:pt x="1256832" y="2874386"/>
                </a:cubicBezTo>
                <a:cubicBezTo>
                  <a:pt x="1207903" y="2862152"/>
                  <a:pt x="1156578" y="2863245"/>
                  <a:pt x="1106451" y="2857675"/>
                </a:cubicBezTo>
                <a:cubicBezTo>
                  <a:pt x="1089742" y="2852104"/>
                  <a:pt x="1073259" y="2845803"/>
                  <a:pt x="1056324" y="2840963"/>
                </a:cubicBezTo>
                <a:cubicBezTo>
                  <a:pt x="909432" y="2798986"/>
                  <a:pt x="1059569" y="2847614"/>
                  <a:pt x="939361" y="2807540"/>
                </a:cubicBezTo>
                <a:cubicBezTo>
                  <a:pt x="909407" y="2787568"/>
                  <a:pt x="846983" y="2736755"/>
                  <a:pt x="805689" y="2757405"/>
                </a:cubicBezTo>
                <a:cubicBezTo>
                  <a:pt x="789934" y="2765284"/>
                  <a:pt x="818577" y="2790344"/>
                  <a:pt x="822398" y="2807540"/>
                </a:cubicBezTo>
                <a:cubicBezTo>
                  <a:pt x="857365" y="2964917"/>
                  <a:pt x="806496" y="2858885"/>
                  <a:pt x="905943" y="3008078"/>
                </a:cubicBezTo>
                <a:cubicBezTo>
                  <a:pt x="917082" y="3024790"/>
                  <a:pt x="920308" y="3051861"/>
                  <a:pt x="939361" y="3058213"/>
                </a:cubicBezTo>
                <a:lnTo>
                  <a:pt x="989488" y="3074925"/>
                </a:lnTo>
              </a:path>
            </a:pathLst>
          </a:custGeom>
          <a:ln w="1905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00DBFA-D373-5F43-946D-74FBCACE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679884" cy="1143000"/>
          </a:xfrm>
        </p:spPr>
        <p:txBody>
          <a:bodyPr/>
          <a:lstStyle/>
          <a:p>
            <a:r>
              <a:rPr lang="en-US" sz="4600" b="1" dirty="0">
                <a:solidFill>
                  <a:schemeClr val="tx1"/>
                </a:solidFill>
                <a:ea typeface="ＭＳ Ｐゴシック" charset="0"/>
              </a:rPr>
              <a:t>CYTOPLASM: ORGANELLES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4170713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tochondria and its folded membran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530538"/>
            <a:ext cx="6388100" cy="3327462"/>
          </a:xfrm>
          <a:prstGeom prst="rect">
            <a:avLst/>
          </a:prstGeom>
        </p:spPr>
      </p:pic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185" y="1238229"/>
            <a:ext cx="8528853" cy="2825097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Production of energy (ATP)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0000"/>
                </a:solidFill>
                <a:latin typeface="+mj-lt"/>
              </a:rPr>
              <a:t>“Powerhouse” of the cell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i="1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Folding membranes make mitochondria more efficient</a:t>
            </a:r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426FFA-B358-9A4A-BDAC-40D7ACA1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ORGANELLES: MITOCHONDRIA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08482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78398" y="1237444"/>
            <a:ext cx="6889656" cy="545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900" b="1" u="sng" kern="0" noProof="0" dirty="0">
                <a:latin typeface="+mj-lt"/>
              </a:rPr>
              <a:t>Function</a:t>
            </a:r>
            <a:r>
              <a:rPr lang="en-US" sz="2900" b="1" kern="0" noProof="0" dirty="0">
                <a:latin typeface="+mj-lt"/>
              </a:rPr>
              <a:t> = </a:t>
            </a:r>
            <a:r>
              <a:rPr lang="en-US" sz="2900" b="1" kern="0" dirty="0">
                <a:latin typeface="+mj-lt"/>
              </a:rPr>
              <a:t>Synthesis </a:t>
            </a:r>
            <a:r>
              <a:rPr lang="en-US" sz="2900" b="1" kern="0" noProof="0" dirty="0">
                <a:latin typeface="+mj-lt"/>
              </a:rPr>
              <a:t>and transport</a:t>
            </a:r>
          </a:p>
          <a:p>
            <a:pPr marL="914400" lvl="1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900" kern="0" dirty="0">
                <a:latin typeface="+mj-lt"/>
              </a:rPr>
              <a:t>The ER is like the </a:t>
            </a:r>
            <a:r>
              <a:rPr lang="en-US" sz="2900" b="1" kern="0" dirty="0">
                <a:latin typeface="+mj-lt"/>
              </a:rPr>
              <a:t>blood</a:t>
            </a:r>
            <a:endParaRPr lang="en-US" sz="2900" b="1" kern="0" noProof="0" dirty="0"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900" kern="0" noProof="0" dirty="0"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900" u="sng" kern="0" noProof="0" dirty="0">
                <a:latin typeface="+mj-lt"/>
              </a:rPr>
              <a:t>2 Types</a:t>
            </a:r>
          </a:p>
          <a:p>
            <a:pPr marL="971550" lvl="1" indent="-514350">
              <a:spcBef>
                <a:spcPct val="20000"/>
              </a:spcBef>
              <a:buClr>
                <a:schemeClr val="tx2"/>
              </a:buClr>
              <a:buSzPct val="70000"/>
              <a:buFont typeface="+mj-lt"/>
              <a:buAutoNum type="arabicPeriod"/>
              <a:defRPr/>
            </a:pPr>
            <a:r>
              <a:rPr lang="en-US" sz="2900" kern="0" dirty="0">
                <a:latin typeface="+mj-lt"/>
              </a:rPr>
              <a:t>Rough ER</a:t>
            </a:r>
          </a:p>
          <a:p>
            <a:pPr marL="971550" lvl="1" indent="-514350">
              <a:spcBef>
                <a:spcPct val="20000"/>
              </a:spcBef>
              <a:buClr>
                <a:schemeClr val="tx2"/>
              </a:buClr>
              <a:buSzPct val="70000"/>
              <a:buFont typeface="+mj-lt"/>
              <a:buAutoNum type="arabicPeriod"/>
              <a:defRPr/>
            </a:pPr>
            <a:r>
              <a:rPr lang="en-US" sz="2900" kern="0" noProof="0" dirty="0">
                <a:latin typeface="+mj-lt"/>
              </a:rPr>
              <a:t>Smooth ER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900" kern="0" noProof="0" dirty="0">
              <a:solidFill>
                <a:srgbClr val="FF0000"/>
              </a:solidFill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900" kern="0" noProof="0" dirty="0">
                <a:solidFill>
                  <a:srgbClr val="000000"/>
                </a:solidFill>
                <a:latin typeface="+mj-lt"/>
              </a:rPr>
              <a:t>RER has </a:t>
            </a:r>
            <a:r>
              <a:rPr lang="en-US" sz="2900" i="1" kern="0" noProof="0" dirty="0">
                <a:solidFill>
                  <a:srgbClr val="000000"/>
                </a:solidFill>
                <a:latin typeface="+mj-lt"/>
              </a:rPr>
              <a:t>ribosomes</a:t>
            </a:r>
            <a:endParaRPr kumimoji="0" lang="en-US" sz="29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21" name="Group 20" descr="Rough and smooth endoplasmic reticulum.">
            <a:extLst>
              <a:ext uri="{FF2B5EF4-FFF2-40B4-BE49-F238E27FC236}">
                <a16:creationId xmlns:a16="http://schemas.microsoft.com/office/drawing/2014/main" id="{A8828887-8168-B14C-BF1A-44C65E23C72B}"/>
              </a:ext>
            </a:extLst>
          </p:cNvPr>
          <p:cNvGrpSpPr/>
          <p:nvPr/>
        </p:nvGrpSpPr>
        <p:grpSpPr>
          <a:xfrm>
            <a:off x="3886200" y="2187883"/>
            <a:ext cx="5236057" cy="4289117"/>
            <a:chOff x="2820988" y="192088"/>
            <a:chExt cx="3524250" cy="2796082"/>
          </a:xfrm>
        </p:grpSpPr>
        <p:pic>
          <p:nvPicPr>
            <p:cNvPr id="27" name="Picture 42" descr="\\192.168.9.252\08macdata04\08VOL4\Graphics\Powerpoint\MH_DCM\MH_DCM-TEXTEDIT PROJECTS\McKINLEY_5e\Final files\chapt02\chapt00_textedit\jpeg\mck85278_02_08_unlabeled.jpg">
              <a:extLst>
                <a:ext uri="{FF2B5EF4-FFF2-40B4-BE49-F238E27FC236}">
                  <a16:creationId xmlns:a16="http://schemas.microsoft.com/office/drawing/2014/main" id="{E99CEB7F-00A9-6C40-83C8-FDD418ED6A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051"/>
            <a:stretch/>
          </p:blipFill>
          <p:spPr bwMode="auto">
            <a:xfrm>
              <a:off x="2820988" y="192088"/>
              <a:ext cx="3524250" cy="2657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AA2F0832-3A7E-4545-81A2-53A02628A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100" y="2830513"/>
              <a:ext cx="487680" cy="105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050" b="1">
                  <a:solidFill>
                    <a:srgbClr val="000000"/>
                  </a:solidFill>
                  <a:latin typeface="+mj-lt"/>
                </a:rPr>
                <a:t>Smooth ER</a:t>
              </a:r>
              <a:endParaRPr lang="en-US" sz="1050" b="1"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9A11C6-535E-2342-B669-3CC110709089}"/>
                </a:ext>
              </a:extLst>
            </p:cNvPr>
            <p:cNvSpPr txBox="1"/>
            <p:nvPr/>
          </p:nvSpPr>
          <p:spPr>
            <a:xfrm>
              <a:off x="5803900" y="955675"/>
              <a:ext cx="414960" cy="135432"/>
            </a:xfrm>
            <a:prstGeom prst="rect">
              <a:avLst/>
            </a:prstGeom>
            <a:noFill/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1050" b="1" dirty="0">
                  <a:latin typeface="Arial"/>
                </a:rPr>
                <a:t>Nucleus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C5FF91-680C-3C42-BDB9-2B7C2862610A}"/>
                </a:ext>
              </a:extLst>
            </p:cNvPr>
            <p:cNvSpPr txBox="1"/>
            <p:nvPr/>
          </p:nvSpPr>
          <p:spPr>
            <a:xfrm>
              <a:off x="2908300" y="2217738"/>
              <a:ext cx="550906" cy="135432"/>
            </a:xfrm>
            <a:prstGeom prst="rect">
              <a:avLst/>
            </a:prstGeom>
            <a:noFill/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1050" b="1" dirty="0">
                  <a:latin typeface="Arial"/>
                </a:rPr>
                <a:t>Ribosomes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E1436A-B1B6-1C4E-AFB0-90B8F18363E3}"/>
                </a:ext>
              </a:extLst>
            </p:cNvPr>
            <p:cNvSpPr txBox="1"/>
            <p:nvPr/>
          </p:nvSpPr>
          <p:spPr>
            <a:xfrm>
              <a:off x="3968750" y="2852738"/>
              <a:ext cx="499117" cy="135432"/>
            </a:xfrm>
            <a:prstGeom prst="rect">
              <a:avLst/>
            </a:prstGeom>
            <a:noFill/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1050" b="1" dirty="0">
                  <a:latin typeface="Arial"/>
                </a:rPr>
                <a:t>Rough ER</a:t>
              </a:r>
            </a:p>
          </p:txBody>
        </p:sp>
        <p:sp>
          <p:nvSpPr>
            <p:cNvPr id="32" name="Line 18">
              <a:extLst>
                <a:ext uri="{FF2B5EF4-FFF2-40B4-BE49-F238E27FC236}">
                  <a16:creationId xmlns:a16="http://schemas.microsoft.com/office/drawing/2014/main" id="{E7409FEB-F68C-254D-9867-FFD289C838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300" y="2279650"/>
              <a:ext cx="458788" cy="15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073F441D-A804-4E40-A663-246146FD2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3450" y="2103438"/>
              <a:ext cx="311150" cy="17938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1694DE71-0FBB-2243-8281-7C579CCE5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5738" y="2633663"/>
              <a:ext cx="1587" cy="2095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37DF868F-20FF-0148-AE0E-BDD1C5367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225" y="2582863"/>
              <a:ext cx="1089025" cy="53975"/>
            </a:xfrm>
            <a:custGeom>
              <a:avLst/>
              <a:gdLst/>
              <a:ahLst/>
              <a:cxnLst>
                <a:cxn ang="0">
                  <a:pos x="686" y="0"/>
                </a:cxn>
                <a:cxn ang="0">
                  <a:pos x="686" y="34"/>
                </a:cxn>
                <a:cxn ang="0">
                  <a:pos x="0" y="34"/>
                </a:cxn>
                <a:cxn ang="0">
                  <a:pos x="0" y="0"/>
                </a:cxn>
              </a:cxnLst>
              <a:rect l="0" t="0" r="r" b="b"/>
              <a:pathLst>
                <a:path w="686" h="34">
                  <a:moveTo>
                    <a:pt x="686" y="0"/>
                  </a:moveTo>
                  <a:lnTo>
                    <a:pt x="686" y="34"/>
                  </a:lnTo>
                  <a:lnTo>
                    <a:pt x="0" y="3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6" name="Line 26">
              <a:extLst>
                <a:ext uri="{FF2B5EF4-FFF2-40B4-BE49-F238E27FC236}">
                  <a16:creationId xmlns:a16="http://schemas.microsoft.com/office/drawing/2014/main" id="{62037C4A-823C-C844-8C1C-72DDEE19C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200" y="2532063"/>
              <a:ext cx="1588" cy="3111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C1959F14-B8DB-7548-B882-52A1D5DD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125" y="2478088"/>
              <a:ext cx="693738" cy="53975"/>
            </a:xfrm>
            <a:custGeom>
              <a:avLst/>
              <a:gdLst/>
              <a:ahLst/>
              <a:cxnLst>
                <a:cxn ang="0">
                  <a:pos x="437" y="0"/>
                </a:cxn>
                <a:cxn ang="0">
                  <a:pos x="437" y="34"/>
                </a:cxn>
                <a:cxn ang="0">
                  <a:pos x="0" y="34"/>
                </a:cxn>
                <a:cxn ang="0">
                  <a:pos x="0" y="0"/>
                </a:cxn>
              </a:cxnLst>
              <a:rect l="0" t="0" r="r" b="b"/>
              <a:pathLst>
                <a:path w="437" h="34">
                  <a:moveTo>
                    <a:pt x="437" y="0"/>
                  </a:moveTo>
                  <a:lnTo>
                    <a:pt x="437" y="34"/>
                  </a:lnTo>
                  <a:lnTo>
                    <a:pt x="0" y="3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F663668A-7BA8-F847-B9BD-26B4D0570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760413"/>
              <a:ext cx="862012" cy="514350"/>
            </a:xfrm>
            <a:custGeom>
              <a:avLst/>
              <a:gdLst/>
              <a:ahLst/>
              <a:cxnLst>
                <a:cxn ang="0">
                  <a:pos x="524" y="0"/>
                </a:cxn>
                <a:cxn ang="0">
                  <a:pos x="543" y="17"/>
                </a:cxn>
                <a:cxn ang="0">
                  <a:pos x="23" y="324"/>
                </a:cxn>
                <a:cxn ang="0">
                  <a:pos x="0" y="315"/>
                </a:cxn>
              </a:cxnLst>
              <a:rect l="0" t="0" r="r" b="b"/>
              <a:pathLst>
                <a:path w="543" h="324">
                  <a:moveTo>
                    <a:pt x="524" y="0"/>
                  </a:moveTo>
                  <a:lnTo>
                    <a:pt x="543" y="17"/>
                  </a:lnTo>
                  <a:lnTo>
                    <a:pt x="23" y="324"/>
                  </a:lnTo>
                  <a:lnTo>
                    <a:pt x="0" y="315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13FE3355-AFB5-4745-8F86-BCC66D79B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9300" y="1008063"/>
              <a:ext cx="1214438" cy="158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0" name="Line 18">
              <a:extLst>
                <a:ext uri="{FF2B5EF4-FFF2-40B4-BE49-F238E27FC236}">
                  <a16:creationId xmlns:a16="http://schemas.microsoft.com/office/drawing/2014/main" id="{FE2AE3B2-37BB-444D-A8B5-0A39BD9E7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16300" y="2279650"/>
              <a:ext cx="458788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1" name="Line 19">
              <a:extLst>
                <a:ext uri="{FF2B5EF4-FFF2-40B4-BE49-F238E27FC236}">
                  <a16:creationId xmlns:a16="http://schemas.microsoft.com/office/drawing/2014/main" id="{BBBAE0FE-DBB6-A44C-AAD5-3AB46D29D9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3450" y="2103438"/>
              <a:ext cx="311150" cy="1793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2" name="Line 23">
              <a:extLst>
                <a:ext uri="{FF2B5EF4-FFF2-40B4-BE49-F238E27FC236}">
                  <a16:creationId xmlns:a16="http://schemas.microsoft.com/office/drawing/2014/main" id="{716D9B8C-FE0B-DF46-8E02-99A98A0CE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5738" y="2633663"/>
              <a:ext cx="1587" cy="2095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90DA6F3-9C0D-EF47-B981-2AE48D76F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225" y="2582863"/>
              <a:ext cx="1089025" cy="53975"/>
            </a:xfrm>
            <a:custGeom>
              <a:avLst/>
              <a:gdLst/>
              <a:ahLst/>
              <a:cxnLst>
                <a:cxn ang="0">
                  <a:pos x="686" y="0"/>
                </a:cxn>
                <a:cxn ang="0">
                  <a:pos x="686" y="34"/>
                </a:cxn>
                <a:cxn ang="0">
                  <a:pos x="0" y="34"/>
                </a:cxn>
                <a:cxn ang="0">
                  <a:pos x="0" y="0"/>
                </a:cxn>
              </a:cxnLst>
              <a:rect l="0" t="0" r="r" b="b"/>
              <a:pathLst>
                <a:path w="686" h="34">
                  <a:moveTo>
                    <a:pt x="686" y="0"/>
                  </a:moveTo>
                  <a:lnTo>
                    <a:pt x="686" y="34"/>
                  </a:lnTo>
                  <a:lnTo>
                    <a:pt x="0" y="3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4" name="Line 26">
              <a:extLst>
                <a:ext uri="{FF2B5EF4-FFF2-40B4-BE49-F238E27FC236}">
                  <a16:creationId xmlns:a16="http://schemas.microsoft.com/office/drawing/2014/main" id="{B9758149-1D5E-394A-B392-F10082B2C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200" y="2532063"/>
              <a:ext cx="1588" cy="3111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0797A17-D430-1942-A1BB-E90CB20DB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125" y="2478088"/>
              <a:ext cx="693738" cy="53975"/>
            </a:xfrm>
            <a:custGeom>
              <a:avLst/>
              <a:gdLst/>
              <a:ahLst/>
              <a:cxnLst>
                <a:cxn ang="0">
                  <a:pos x="437" y="0"/>
                </a:cxn>
                <a:cxn ang="0">
                  <a:pos x="437" y="34"/>
                </a:cxn>
                <a:cxn ang="0">
                  <a:pos x="0" y="34"/>
                </a:cxn>
                <a:cxn ang="0">
                  <a:pos x="0" y="0"/>
                </a:cxn>
              </a:cxnLst>
              <a:rect l="0" t="0" r="r" b="b"/>
              <a:pathLst>
                <a:path w="437" h="34">
                  <a:moveTo>
                    <a:pt x="437" y="0"/>
                  </a:moveTo>
                  <a:lnTo>
                    <a:pt x="437" y="34"/>
                  </a:lnTo>
                  <a:lnTo>
                    <a:pt x="0" y="3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D93D6453-2039-0742-8913-3FB1F6EA9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588" y="760413"/>
              <a:ext cx="862012" cy="514350"/>
            </a:xfrm>
            <a:custGeom>
              <a:avLst/>
              <a:gdLst/>
              <a:ahLst/>
              <a:cxnLst>
                <a:cxn ang="0">
                  <a:pos x="524" y="0"/>
                </a:cxn>
                <a:cxn ang="0">
                  <a:pos x="543" y="17"/>
                </a:cxn>
                <a:cxn ang="0">
                  <a:pos x="23" y="324"/>
                </a:cxn>
                <a:cxn ang="0">
                  <a:pos x="0" y="315"/>
                </a:cxn>
              </a:cxnLst>
              <a:rect l="0" t="0" r="r" b="b"/>
              <a:pathLst>
                <a:path w="543" h="324">
                  <a:moveTo>
                    <a:pt x="524" y="0"/>
                  </a:moveTo>
                  <a:lnTo>
                    <a:pt x="543" y="17"/>
                  </a:lnTo>
                  <a:lnTo>
                    <a:pt x="23" y="324"/>
                  </a:lnTo>
                  <a:lnTo>
                    <a:pt x="0" y="315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  <p:sp>
          <p:nvSpPr>
            <p:cNvPr id="47" name="Line 30">
              <a:extLst>
                <a:ext uri="{FF2B5EF4-FFF2-40B4-BE49-F238E27FC236}">
                  <a16:creationId xmlns:a16="http://schemas.microsoft.com/office/drawing/2014/main" id="{F5DB8E3A-DD12-F84B-9C29-767C2C326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9300" y="1008063"/>
              <a:ext cx="1214438" cy="15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050" b="1">
                <a:latin typeface="+mj-lt"/>
              </a:endParaRPr>
            </a:p>
          </p:txBody>
        </p:sp>
      </p:grpSp>
      <p:sp>
        <p:nvSpPr>
          <p:cNvPr id="48" name="Title 1">
            <a:extLst>
              <a:ext uri="{FF2B5EF4-FFF2-40B4-BE49-F238E27FC236}">
                <a16:creationId xmlns:a16="http://schemas.microsoft.com/office/drawing/2014/main" id="{44148431-2F73-DE40-B983-67CC75B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875146" cy="1143000"/>
          </a:xfrm>
        </p:spPr>
        <p:txBody>
          <a:bodyPr/>
          <a:lstStyle/>
          <a:p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ORGANELLES: </a:t>
            </a:r>
            <a:br>
              <a:rPr lang="en-US" sz="3800" b="1" dirty="0">
                <a:solidFill>
                  <a:schemeClr val="tx1"/>
                </a:solidFill>
                <a:ea typeface="ＭＳ Ｐゴシック" charset="0"/>
              </a:rPr>
            </a:br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ENDOPLASMIC RETICULUM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8097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6148" y="1295400"/>
            <a:ext cx="4766852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200" u="sng" dirty="0">
                <a:latin typeface="+mj-lt"/>
              </a:rPr>
              <a:t>Rough ER</a:t>
            </a:r>
            <a:endParaRPr lang="en-US" sz="3200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Surrounded by </a:t>
            </a:r>
            <a:r>
              <a:rPr lang="en-US" sz="3200" b="1" dirty="0">
                <a:latin typeface="+mj-lt"/>
              </a:rPr>
              <a:t>ribosomes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Makes </a:t>
            </a:r>
            <a:r>
              <a:rPr lang="en-US" sz="3200" b="1" dirty="0">
                <a:latin typeface="+mj-lt"/>
              </a:rPr>
              <a:t>proteins</a:t>
            </a:r>
            <a:r>
              <a:rPr lang="en-US" sz="3200" dirty="0">
                <a:latin typeface="+mj-lt"/>
              </a:rPr>
              <a:t> that: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Leave the cell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Go into the plasma membrane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Go into lysosomes</a:t>
            </a:r>
          </a:p>
          <a:p>
            <a:pPr eaLnBrk="1" hangingPunct="1">
              <a:buFont typeface="Wingdings" pitchFamily="2" charset="2"/>
              <a:buNone/>
            </a:pPr>
            <a:endParaRPr lang="en-US" sz="3200" u="sng" dirty="0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295400"/>
            <a:ext cx="44196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200" u="sng" dirty="0">
                <a:latin typeface="+mj-lt"/>
              </a:rPr>
              <a:t>Smooth ER</a:t>
            </a:r>
            <a:endParaRPr lang="en-US" sz="3200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Makes and transports </a:t>
            </a:r>
            <a:r>
              <a:rPr lang="en-US" sz="3200" b="1" dirty="0">
                <a:latin typeface="+mj-lt"/>
              </a:rPr>
              <a:t>fat</a:t>
            </a:r>
            <a:r>
              <a:rPr lang="en-US" sz="3200" dirty="0">
                <a:latin typeface="+mj-lt"/>
              </a:rPr>
              <a:t>, carbohydrates, calcium, and waste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Calcium</a:t>
            </a:r>
            <a:r>
              <a:rPr lang="en-US" dirty="0">
                <a:latin typeface="+mj-lt"/>
              </a:rPr>
              <a:t> = </a:t>
            </a:r>
            <a:r>
              <a:rPr lang="en-US" i="1" dirty="0">
                <a:latin typeface="+mj-lt"/>
              </a:rPr>
              <a:t>rigor mortis</a:t>
            </a:r>
            <a:endParaRPr lang="en-US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Transport of waste = </a:t>
            </a:r>
            <a:r>
              <a:rPr lang="en-US" sz="3200" b="1" dirty="0">
                <a:latin typeface="+mj-lt"/>
              </a:rPr>
              <a:t>Detoxification</a:t>
            </a:r>
          </a:p>
          <a:p>
            <a:pPr eaLnBrk="1" hangingPunct="1"/>
            <a:endParaRPr lang="en-US" sz="3200" dirty="0"/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59436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  <a:defRPr/>
            </a:pPr>
            <a:r>
              <a:rPr lang="en-US" sz="2800" b="1" i="1" dirty="0">
                <a:solidFill>
                  <a:srgbClr val="000000"/>
                </a:solidFill>
                <a:latin typeface="+mj-lt"/>
              </a:rPr>
              <a:t>The cells of what organ have well developed SMOOTH ER?</a:t>
            </a:r>
          </a:p>
          <a:p>
            <a:pPr algn="ctr" eaLnBrk="1" hangingPunct="1">
              <a:buFont typeface="Wingdings" pitchFamily="2" charset="2"/>
              <a:buChar char="§"/>
            </a:pPr>
            <a:endParaRPr lang="en-US" sz="2800" b="1" dirty="0">
              <a:latin typeface="+mj-lt"/>
            </a:endParaRPr>
          </a:p>
          <a:p>
            <a:pPr algn="ctr" eaLnBrk="1" hangingPunct="1">
              <a:buFont typeface="Wingdings" pitchFamily="2" charset="2"/>
              <a:buChar char="§"/>
            </a:pPr>
            <a:endParaRPr lang="en-US" sz="2800" b="1" dirty="0">
              <a:latin typeface="+mj-lt"/>
            </a:endParaRPr>
          </a:p>
          <a:p>
            <a:pPr algn="ctr" eaLnBrk="1" hangingPunct="1">
              <a:buFont typeface="Wingdings" pitchFamily="2" charset="2"/>
              <a:buChar char="§"/>
            </a:pPr>
            <a:endParaRPr lang="en-US" sz="2800" b="1" dirty="0"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B52444-DA2E-3E41-9D1C-CBABF19A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875146" cy="1143000"/>
          </a:xfrm>
        </p:spPr>
        <p:txBody>
          <a:bodyPr/>
          <a:lstStyle/>
          <a:p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ORGANELLES: </a:t>
            </a:r>
            <a:br>
              <a:rPr lang="en-US" sz="3800" b="1" dirty="0">
                <a:solidFill>
                  <a:schemeClr val="tx1"/>
                </a:solidFill>
                <a:ea typeface="ＭＳ Ｐゴシック" charset="0"/>
              </a:rPr>
            </a:br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ENDOPLASMIC RETICULUM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172999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myth of the deto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1" y="1600200"/>
            <a:ext cx="8994098" cy="3657600"/>
          </a:xfrm>
          <a:prstGeom prst="rect">
            <a:avLst/>
          </a:prstGeom>
        </p:spPr>
      </p:pic>
      <p:sp>
        <p:nvSpPr>
          <p:cNvPr id="4" name="Title 1" hidden="1">
            <a:extLst>
              <a:ext uri="{FF2B5EF4-FFF2-40B4-BE49-F238E27FC236}">
                <a16:creationId xmlns:a16="http://schemas.microsoft.com/office/drawing/2014/main" id="{D2E665D1-D0D0-C348-8996-04189D60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0"/>
            <a:ext cx="8875146" cy="1143000"/>
          </a:xfrm>
        </p:spPr>
        <p:txBody>
          <a:bodyPr/>
          <a:lstStyle/>
          <a:p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ORGANELLES: </a:t>
            </a:r>
            <a:br>
              <a:rPr lang="en-US" sz="3800" b="1" dirty="0">
                <a:solidFill>
                  <a:schemeClr val="tx1"/>
                </a:solidFill>
                <a:ea typeface="ＭＳ Ｐゴシック" charset="0"/>
              </a:rPr>
            </a:br>
            <a:r>
              <a:rPr lang="en-US" sz="3800" b="1" dirty="0">
                <a:solidFill>
                  <a:schemeClr val="tx1"/>
                </a:solidFill>
                <a:ea typeface="ＭＳ Ｐゴシック" charset="0"/>
              </a:rPr>
              <a:t>ENDOPLASMIC RETICULUM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807448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1219200"/>
          </a:xfrm>
        </p:spPr>
        <p:txBody>
          <a:bodyPr/>
          <a:lstStyle/>
          <a:p>
            <a:pPr marL="457200" lvl="0" indent="-457200">
              <a:buFont typeface="Wingdings" panose="05000000000000000000" pitchFamily="2" charset="2"/>
              <a:buChar char="§"/>
              <a:defRPr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</a:t>
            </a:r>
            <a:r>
              <a:rPr lang="en-US" dirty="0">
                <a:latin typeface="+mj-lt"/>
              </a:rPr>
              <a:t>Modification and transport of </a:t>
            </a:r>
            <a:r>
              <a:rPr lang="en-US" u="sng" dirty="0">
                <a:latin typeface="+mj-lt"/>
              </a:rPr>
              <a:t>proteins</a:t>
            </a:r>
            <a:r>
              <a:rPr lang="en-US" i="1" dirty="0">
                <a:latin typeface="+mj-lt"/>
              </a:rPr>
              <a:t> out of the cell</a:t>
            </a:r>
          </a:p>
          <a:p>
            <a:pPr marL="857250" lvl="1" indent="-457200"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en-US" sz="2400" i="1" dirty="0">
                <a:latin typeface="+mj-lt"/>
              </a:rPr>
              <a:t>“Rough Endoplasmic Reticulum part II”</a:t>
            </a:r>
          </a:p>
          <a:p>
            <a:pPr marL="857250" lvl="1" indent="-457200">
              <a:buClr>
                <a:schemeClr val="tx2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Material is exported in </a:t>
            </a:r>
            <a:r>
              <a:rPr lang="en-US" b="1" dirty="0">
                <a:latin typeface="+mj-lt"/>
              </a:rPr>
              <a:t>vesicles</a:t>
            </a:r>
            <a:endParaRPr lang="en-US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" descr="The golgi apparatus and its associated vesicles.">
            <a:extLst>
              <a:ext uri="{FF2B5EF4-FFF2-40B4-BE49-F238E27FC236}">
                <a16:creationId xmlns:a16="http://schemas.microsoft.com/office/drawing/2014/main" id="{033458A3-8C92-974A-8C33-C36D451B8FF5}"/>
              </a:ext>
            </a:extLst>
          </p:cNvPr>
          <p:cNvGrpSpPr/>
          <p:nvPr/>
        </p:nvGrpSpPr>
        <p:grpSpPr>
          <a:xfrm>
            <a:off x="588189" y="3340100"/>
            <a:ext cx="8375650" cy="3517900"/>
            <a:chOff x="1344613" y="4076700"/>
            <a:chExt cx="6497637" cy="2641600"/>
          </a:xfrm>
        </p:grpSpPr>
        <p:pic>
          <p:nvPicPr>
            <p:cNvPr id="8" name="Picture 138" descr="W:\08VOL4\Graphics\Powerpoint\MH_DCM\MH_DCM-TEXTEDIT PROJECTS\McKINLEY_5e\Processed files\chapt02\chapt00_textedit\mck85278_02_09.jpg">
              <a:extLst>
                <a:ext uri="{FF2B5EF4-FFF2-40B4-BE49-F238E27FC236}">
                  <a16:creationId xmlns:a16="http://schemas.microsoft.com/office/drawing/2014/main" id="{5979C3D2-C73E-0C40-A514-08E0D4D452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316"/>
            <a:stretch/>
          </p:blipFill>
          <p:spPr bwMode="auto">
            <a:xfrm>
              <a:off x="1344613" y="4076700"/>
              <a:ext cx="5988050" cy="264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2C6F1E7-94C2-9548-BC88-C759F9959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963" y="5915025"/>
              <a:ext cx="34925" cy="14763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3" y="0"/>
                </a:cxn>
                <a:cxn ang="0">
                  <a:pos x="18" y="9"/>
                </a:cxn>
                <a:cxn ang="0">
                  <a:pos x="20" y="22"/>
                </a:cxn>
                <a:cxn ang="0">
                  <a:pos x="22" y="33"/>
                </a:cxn>
                <a:cxn ang="0">
                  <a:pos x="22" y="46"/>
                </a:cxn>
                <a:cxn ang="0">
                  <a:pos x="20" y="57"/>
                </a:cxn>
                <a:cxn ang="0">
                  <a:pos x="15" y="71"/>
                </a:cxn>
                <a:cxn ang="0">
                  <a:pos x="9" y="82"/>
                </a:cxn>
                <a:cxn ang="0">
                  <a:pos x="0" y="93"/>
                </a:cxn>
              </a:cxnLst>
              <a:rect l="0" t="0" r="r" b="b"/>
              <a:pathLst>
                <a:path w="22" h="93">
                  <a:moveTo>
                    <a:pt x="13" y="0"/>
                  </a:moveTo>
                  <a:lnTo>
                    <a:pt x="13" y="0"/>
                  </a:lnTo>
                  <a:lnTo>
                    <a:pt x="18" y="9"/>
                  </a:lnTo>
                  <a:lnTo>
                    <a:pt x="20" y="22"/>
                  </a:lnTo>
                  <a:lnTo>
                    <a:pt x="22" y="33"/>
                  </a:lnTo>
                  <a:lnTo>
                    <a:pt x="22" y="46"/>
                  </a:lnTo>
                  <a:lnTo>
                    <a:pt x="20" y="57"/>
                  </a:lnTo>
                  <a:lnTo>
                    <a:pt x="15" y="71"/>
                  </a:lnTo>
                  <a:lnTo>
                    <a:pt x="9" y="82"/>
                  </a:lnTo>
                  <a:lnTo>
                    <a:pt x="0" y="9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B832A53-3785-954E-AFE1-EA5AE4CB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563" y="6034088"/>
              <a:ext cx="53975" cy="57150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4" y="0"/>
                </a:cxn>
                <a:cxn ang="0">
                  <a:pos x="18" y="16"/>
                </a:cxn>
                <a:cxn ang="0">
                  <a:pos x="34" y="20"/>
                </a:cxn>
                <a:cxn ang="0">
                  <a:pos x="0" y="36"/>
                </a:cxn>
              </a:cxnLst>
              <a:rect l="0" t="0" r="r" b="b"/>
              <a:pathLst>
                <a:path w="34" h="36">
                  <a:moveTo>
                    <a:pt x="0" y="36"/>
                  </a:moveTo>
                  <a:lnTo>
                    <a:pt x="14" y="0"/>
                  </a:lnTo>
                  <a:lnTo>
                    <a:pt x="18" y="16"/>
                  </a:lnTo>
                  <a:lnTo>
                    <a:pt x="34" y="2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69D78AF-35B1-4C41-8857-0B2D41DAD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113" y="5678488"/>
              <a:ext cx="127000" cy="238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0" y="0"/>
                </a:cxn>
                <a:cxn ang="0">
                  <a:pos x="40" y="2"/>
                </a:cxn>
                <a:cxn ang="0">
                  <a:pos x="60" y="9"/>
                </a:cxn>
                <a:cxn ang="0">
                  <a:pos x="80" y="15"/>
                </a:cxn>
              </a:cxnLst>
              <a:rect l="0" t="0" r="r" b="b"/>
              <a:pathLst>
                <a:path w="80" h="15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40" y="2"/>
                  </a:lnTo>
                  <a:lnTo>
                    <a:pt x="60" y="9"/>
                  </a:lnTo>
                  <a:lnTo>
                    <a:pt x="80" y="1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E8745F72-2396-614F-A0F2-C74DFC0D3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713" y="5675313"/>
              <a:ext cx="63500" cy="46037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0" y="26"/>
                </a:cxn>
                <a:cxn ang="0">
                  <a:pos x="13" y="17"/>
                </a:cxn>
                <a:cxn ang="0">
                  <a:pos x="13" y="0"/>
                </a:cxn>
                <a:cxn ang="0">
                  <a:pos x="40" y="29"/>
                </a:cxn>
              </a:cxnLst>
              <a:rect l="0" t="0" r="r" b="b"/>
              <a:pathLst>
                <a:path w="40" h="29">
                  <a:moveTo>
                    <a:pt x="40" y="29"/>
                  </a:moveTo>
                  <a:lnTo>
                    <a:pt x="0" y="26"/>
                  </a:lnTo>
                  <a:lnTo>
                    <a:pt x="13" y="17"/>
                  </a:lnTo>
                  <a:lnTo>
                    <a:pt x="13" y="0"/>
                  </a:lnTo>
                  <a:lnTo>
                    <a:pt x="40" y="2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DC812F5-113D-E746-9738-ADF01B133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9638" y="6364288"/>
              <a:ext cx="144462" cy="4445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9" y="28"/>
                </a:cxn>
                <a:cxn ang="0">
                  <a:pos x="22" y="26"/>
                </a:cxn>
                <a:cxn ang="0">
                  <a:pos x="49" y="19"/>
                </a:cxn>
                <a:cxn ang="0">
                  <a:pos x="73" y="8"/>
                </a:cxn>
                <a:cxn ang="0">
                  <a:pos x="91" y="0"/>
                </a:cxn>
              </a:cxnLst>
              <a:rect l="0" t="0" r="r" b="b"/>
              <a:pathLst>
                <a:path w="91" h="28">
                  <a:moveTo>
                    <a:pt x="0" y="26"/>
                  </a:moveTo>
                  <a:lnTo>
                    <a:pt x="0" y="26"/>
                  </a:lnTo>
                  <a:lnTo>
                    <a:pt x="9" y="28"/>
                  </a:lnTo>
                  <a:lnTo>
                    <a:pt x="22" y="26"/>
                  </a:lnTo>
                  <a:lnTo>
                    <a:pt x="49" y="19"/>
                  </a:lnTo>
                  <a:lnTo>
                    <a:pt x="73" y="8"/>
                  </a:lnTo>
                  <a:lnTo>
                    <a:pt x="91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A06749A-96FE-1049-9CE8-623E5A1AB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700" y="6342063"/>
              <a:ext cx="60325" cy="4921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6" y="31"/>
                </a:cxn>
                <a:cxn ang="0">
                  <a:pos x="16" y="14"/>
                </a:cxn>
                <a:cxn ang="0">
                  <a:pos x="0" y="5"/>
                </a:cxn>
                <a:cxn ang="0">
                  <a:pos x="38" y="0"/>
                </a:cxn>
              </a:cxnLst>
              <a:rect l="0" t="0" r="r" b="b"/>
              <a:pathLst>
                <a:path w="38" h="31">
                  <a:moveTo>
                    <a:pt x="38" y="0"/>
                  </a:moveTo>
                  <a:lnTo>
                    <a:pt x="16" y="31"/>
                  </a:lnTo>
                  <a:lnTo>
                    <a:pt x="16" y="14"/>
                  </a:lnTo>
                  <a:lnTo>
                    <a:pt x="0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B159B50-AB99-404B-AD38-84D3573D3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075" y="4346575"/>
              <a:ext cx="60325" cy="23813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18" y="11"/>
                </a:cxn>
                <a:cxn ang="0">
                  <a:pos x="38" y="0"/>
                </a:cxn>
              </a:cxnLst>
              <a:rect l="0" t="0" r="r" b="b"/>
              <a:pathLst>
                <a:path w="38" h="15">
                  <a:moveTo>
                    <a:pt x="0" y="15"/>
                  </a:moveTo>
                  <a:lnTo>
                    <a:pt x="0" y="15"/>
                  </a:lnTo>
                  <a:lnTo>
                    <a:pt x="18" y="11"/>
                  </a:lnTo>
                  <a:lnTo>
                    <a:pt x="3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2549C1-9604-1144-BA40-679D08385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4329113"/>
              <a:ext cx="60325" cy="4921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3" y="31"/>
                </a:cxn>
                <a:cxn ang="0">
                  <a:pos x="16" y="13"/>
                </a:cxn>
                <a:cxn ang="0">
                  <a:pos x="0" y="4"/>
                </a:cxn>
                <a:cxn ang="0">
                  <a:pos x="38" y="0"/>
                </a:cxn>
              </a:cxnLst>
              <a:rect l="0" t="0" r="r" b="b"/>
              <a:pathLst>
                <a:path w="38" h="31">
                  <a:moveTo>
                    <a:pt x="38" y="0"/>
                  </a:moveTo>
                  <a:lnTo>
                    <a:pt x="13" y="31"/>
                  </a:lnTo>
                  <a:lnTo>
                    <a:pt x="16" y="13"/>
                  </a:lnTo>
                  <a:lnTo>
                    <a:pt x="0" y="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030A95B0-5276-6444-B25F-11BF65883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188" y="4456113"/>
              <a:ext cx="127000" cy="23812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40" y="11"/>
                </a:cxn>
                <a:cxn ang="0">
                  <a:pos x="60" y="6"/>
                </a:cxn>
                <a:cxn ang="0">
                  <a:pos x="80" y="0"/>
                </a:cxn>
              </a:cxnLst>
              <a:rect l="0" t="0" r="r" b="b"/>
              <a:pathLst>
                <a:path w="80" h="15">
                  <a:moveTo>
                    <a:pt x="0" y="15"/>
                  </a:moveTo>
                  <a:lnTo>
                    <a:pt x="0" y="15"/>
                  </a:lnTo>
                  <a:lnTo>
                    <a:pt x="40" y="11"/>
                  </a:lnTo>
                  <a:lnTo>
                    <a:pt x="60" y="6"/>
                  </a:lnTo>
                  <a:lnTo>
                    <a:pt x="8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E856873-EC0A-D647-BBA6-885F3E25B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788" y="4437063"/>
              <a:ext cx="60325" cy="46037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1" y="29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8" y="0"/>
                </a:cxn>
              </a:cxnLst>
              <a:rect l="0" t="0" r="r" b="b"/>
              <a:pathLst>
                <a:path w="38" h="29">
                  <a:moveTo>
                    <a:pt x="38" y="0"/>
                  </a:moveTo>
                  <a:lnTo>
                    <a:pt x="11" y="29"/>
                  </a:lnTo>
                  <a:lnTo>
                    <a:pt x="13" y="12"/>
                  </a:lnTo>
                  <a:lnTo>
                    <a:pt x="0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63B2D008-3D6F-EC46-8AEC-DBDA8A33E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3213" y="4884738"/>
              <a:ext cx="147637" cy="539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7" y="7"/>
                </a:cxn>
                <a:cxn ang="0">
                  <a:pos x="49" y="16"/>
                </a:cxn>
                <a:cxn ang="0">
                  <a:pos x="93" y="34"/>
                </a:cxn>
              </a:cxnLst>
              <a:rect l="0" t="0" r="r" b="b"/>
              <a:pathLst>
                <a:path w="93" h="34">
                  <a:moveTo>
                    <a:pt x="0" y="0"/>
                  </a:moveTo>
                  <a:lnTo>
                    <a:pt x="0" y="0"/>
                  </a:lnTo>
                  <a:lnTo>
                    <a:pt x="27" y="7"/>
                  </a:lnTo>
                  <a:lnTo>
                    <a:pt x="49" y="16"/>
                  </a:lnTo>
                  <a:lnTo>
                    <a:pt x="93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BB4D67A-47A3-E247-91A7-B5E678BD3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038" y="4910138"/>
              <a:ext cx="63500" cy="46037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0" y="27"/>
                </a:cxn>
                <a:cxn ang="0">
                  <a:pos x="15" y="18"/>
                </a:cxn>
                <a:cxn ang="0">
                  <a:pos x="13" y="0"/>
                </a:cxn>
                <a:cxn ang="0">
                  <a:pos x="40" y="29"/>
                </a:cxn>
              </a:cxnLst>
              <a:rect l="0" t="0" r="r" b="b"/>
              <a:pathLst>
                <a:path w="40" h="29">
                  <a:moveTo>
                    <a:pt x="40" y="29"/>
                  </a:moveTo>
                  <a:lnTo>
                    <a:pt x="0" y="27"/>
                  </a:lnTo>
                  <a:lnTo>
                    <a:pt x="15" y="18"/>
                  </a:lnTo>
                  <a:lnTo>
                    <a:pt x="13" y="0"/>
                  </a:lnTo>
                  <a:lnTo>
                    <a:pt x="40" y="2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E0DB6AFE-D472-F744-A0A0-2C087D546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313" y="5083175"/>
              <a:ext cx="166687" cy="136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1" y="6"/>
                </a:cxn>
                <a:cxn ang="0">
                  <a:pos x="23" y="17"/>
                </a:cxn>
                <a:cxn ang="0">
                  <a:pos x="43" y="44"/>
                </a:cxn>
                <a:cxn ang="0">
                  <a:pos x="56" y="57"/>
                </a:cxn>
                <a:cxn ang="0">
                  <a:pos x="69" y="69"/>
                </a:cxn>
                <a:cxn ang="0">
                  <a:pos x="87" y="80"/>
                </a:cxn>
                <a:cxn ang="0">
                  <a:pos x="105" y="86"/>
                </a:cxn>
              </a:cxnLst>
              <a:rect l="0" t="0" r="r" b="b"/>
              <a:pathLst>
                <a:path w="105" h="86">
                  <a:moveTo>
                    <a:pt x="0" y="0"/>
                  </a:moveTo>
                  <a:lnTo>
                    <a:pt x="0" y="0"/>
                  </a:lnTo>
                  <a:lnTo>
                    <a:pt x="11" y="6"/>
                  </a:lnTo>
                  <a:lnTo>
                    <a:pt x="23" y="17"/>
                  </a:lnTo>
                  <a:lnTo>
                    <a:pt x="43" y="44"/>
                  </a:lnTo>
                  <a:lnTo>
                    <a:pt x="56" y="57"/>
                  </a:lnTo>
                  <a:lnTo>
                    <a:pt x="69" y="69"/>
                  </a:lnTo>
                  <a:lnTo>
                    <a:pt x="87" y="80"/>
                  </a:lnTo>
                  <a:lnTo>
                    <a:pt x="105" y="8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0DD44BAA-C457-FE43-8D62-9D3C1F5A7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775" y="5192713"/>
              <a:ext cx="63500" cy="44450"/>
            </a:xfrm>
            <a:custGeom>
              <a:avLst/>
              <a:gdLst/>
              <a:ahLst/>
              <a:cxnLst>
                <a:cxn ang="0">
                  <a:pos x="40" y="22"/>
                </a:cxn>
                <a:cxn ang="0">
                  <a:pos x="0" y="28"/>
                </a:cxn>
                <a:cxn ang="0">
                  <a:pos x="11" y="15"/>
                </a:cxn>
                <a:cxn ang="0">
                  <a:pos x="7" y="0"/>
                </a:cxn>
                <a:cxn ang="0">
                  <a:pos x="40" y="22"/>
                </a:cxn>
              </a:cxnLst>
              <a:rect l="0" t="0" r="r" b="b"/>
              <a:pathLst>
                <a:path w="40" h="28">
                  <a:moveTo>
                    <a:pt x="40" y="22"/>
                  </a:moveTo>
                  <a:lnTo>
                    <a:pt x="0" y="28"/>
                  </a:lnTo>
                  <a:lnTo>
                    <a:pt x="11" y="15"/>
                  </a:lnTo>
                  <a:lnTo>
                    <a:pt x="7" y="0"/>
                  </a:lnTo>
                  <a:lnTo>
                    <a:pt x="40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C1A9255C-C42E-C041-BF08-0D28DAFA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038" y="4846638"/>
              <a:ext cx="117475" cy="52387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0" y="33"/>
                </a:cxn>
                <a:cxn ang="0">
                  <a:pos x="7" y="24"/>
                </a:cxn>
                <a:cxn ang="0">
                  <a:pos x="16" y="16"/>
                </a:cxn>
                <a:cxn ang="0">
                  <a:pos x="27" y="9"/>
                </a:cxn>
                <a:cxn ang="0">
                  <a:pos x="40" y="4"/>
                </a:cxn>
                <a:cxn ang="0">
                  <a:pos x="60" y="0"/>
                </a:cxn>
                <a:cxn ang="0">
                  <a:pos x="74" y="0"/>
                </a:cxn>
              </a:cxnLst>
              <a:rect l="0" t="0" r="r" b="b"/>
              <a:pathLst>
                <a:path w="74" h="33">
                  <a:moveTo>
                    <a:pt x="0" y="33"/>
                  </a:moveTo>
                  <a:lnTo>
                    <a:pt x="0" y="33"/>
                  </a:lnTo>
                  <a:lnTo>
                    <a:pt x="7" y="24"/>
                  </a:lnTo>
                  <a:lnTo>
                    <a:pt x="16" y="16"/>
                  </a:lnTo>
                  <a:lnTo>
                    <a:pt x="27" y="9"/>
                  </a:lnTo>
                  <a:lnTo>
                    <a:pt x="40" y="4"/>
                  </a:lnTo>
                  <a:lnTo>
                    <a:pt x="60" y="0"/>
                  </a:lnTo>
                  <a:lnTo>
                    <a:pt x="7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0BEC8FB-C720-B74F-AEBC-3F1EAF77C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63" y="4821238"/>
              <a:ext cx="57150" cy="46037"/>
            </a:xfrm>
            <a:custGeom>
              <a:avLst/>
              <a:gdLst/>
              <a:ahLst/>
              <a:cxnLst>
                <a:cxn ang="0">
                  <a:pos x="36" y="20"/>
                </a:cxn>
                <a:cxn ang="0">
                  <a:pos x="0" y="29"/>
                </a:cxn>
                <a:cxn ang="0">
                  <a:pos x="9" y="16"/>
                </a:cxn>
                <a:cxn ang="0">
                  <a:pos x="5" y="0"/>
                </a:cxn>
                <a:cxn ang="0">
                  <a:pos x="36" y="20"/>
                </a:cxn>
              </a:cxnLst>
              <a:rect l="0" t="0" r="r" b="b"/>
              <a:pathLst>
                <a:path w="36" h="29">
                  <a:moveTo>
                    <a:pt x="36" y="20"/>
                  </a:moveTo>
                  <a:lnTo>
                    <a:pt x="0" y="29"/>
                  </a:lnTo>
                  <a:lnTo>
                    <a:pt x="9" y="16"/>
                  </a:lnTo>
                  <a:lnTo>
                    <a:pt x="5" y="0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2062B49F-D072-8E4B-B017-B18072745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263" y="6037263"/>
              <a:ext cx="12700" cy="112712"/>
            </a:xfrm>
            <a:custGeom>
              <a:avLst/>
              <a:gdLst/>
              <a:ahLst/>
              <a:cxnLst>
                <a:cxn ang="0">
                  <a:pos x="0" y="71"/>
                </a:cxn>
                <a:cxn ang="0">
                  <a:pos x="0" y="71"/>
                </a:cxn>
                <a:cxn ang="0">
                  <a:pos x="6" y="49"/>
                </a:cxn>
                <a:cxn ang="0">
                  <a:pos x="8" y="31"/>
                </a:cxn>
                <a:cxn ang="0">
                  <a:pos x="8" y="16"/>
                </a:cxn>
                <a:cxn ang="0">
                  <a:pos x="6" y="0"/>
                </a:cxn>
              </a:cxnLst>
              <a:rect l="0" t="0" r="r" b="b"/>
              <a:pathLst>
                <a:path w="8" h="71">
                  <a:moveTo>
                    <a:pt x="0" y="71"/>
                  </a:moveTo>
                  <a:lnTo>
                    <a:pt x="0" y="71"/>
                  </a:lnTo>
                  <a:lnTo>
                    <a:pt x="6" y="49"/>
                  </a:lnTo>
                  <a:lnTo>
                    <a:pt x="8" y="31"/>
                  </a:lnTo>
                  <a:lnTo>
                    <a:pt x="8" y="16"/>
                  </a:lnTo>
                  <a:lnTo>
                    <a:pt x="6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BB41B6B-EC90-1E40-BCBB-FFF813382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150" y="5999163"/>
              <a:ext cx="49213" cy="55562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1" y="33"/>
                </a:cxn>
                <a:cxn ang="0">
                  <a:pos x="15" y="27"/>
                </a:cxn>
                <a:cxn ang="0">
                  <a:pos x="0" y="35"/>
                </a:cxn>
                <a:cxn ang="0">
                  <a:pos x="11" y="0"/>
                </a:cxn>
              </a:cxnLst>
              <a:rect l="0" t="0" r="r" b="b"/>
              <a:pathLst>
                <a:path w="31" h="35">
                  <a:moveTo>
                    <a:pt x="11" y="0"/>
                  </a:moveTo>
                  <a:lnTo>
                    <a:pt x="31" y="33"/>
                  </a:lnTo>
                  <a:lnTo>
                    <a:pt x="15" y="27"/>
                  </a:ln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6BACAB0E-8822-F048-8D59-04EF8FED0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263" y="4537075"/>
              <a:ext cx="49212" cy="34925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0" y="22"/>
                </a:cxn>
                <a:cxn ang="0">
                  <a:pos x="6" y="15"/>
                </a:cxn>
                <a:cxn ang="0">
                  <a:pos x="13" y="8"/>
                </a:cxn>
                <a:cxn ang="0">
                  <a:pos x="22" y="4"/>
                </a:cxn>
                <a:cxn ang="0">
                  <a:pos x="31" y="0"/>
                </a:cxn>
              </a:cxnLst>
              <a:rect l="0" t="0" r="r" b="b"/>
              <a:pathLst>
                <a:path w="31" h="22">
                  <a:moveTo>
                    <a:pt x="0" y="22"/>
                  </a:moveTo>
                  <a:lnTo>
                    <a:pt x="0" y="22"/>
                  </a:lnTo>
                  <a:lnTo>
                    <a:pt x="6" y="15"/>
                  </a:lnTo>
                  <a:lnTo>
                    <a:pt x="13" y="8"/>
                  </a:lnTo>
                  <a:lnTo>
                    <a:pt x="22" y="4"/>
                  </a:lnTo>
                  <a:lnTo>
                    <a:pt x="31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D2962F70-0151-6442-BF99-95CFBB517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838" y="4518025"/>
              <a:ext cx="58737" cy="46038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6" y="29"/>
                </a:cxn>
                <a:cxn ang="0">
                  <a:pos x="11" y="12"/>
                </a:cxn>
                <a:cxn ang="0">
                  <a:pos x="0" y="0"/>
                </a:cxn>
                <a:cxn ang="0">
                  <a:pos x="37" y="5"/>
                </a:cxn>
              </a:cxnLst>
              <a:rect l="0" t="0" r="r" b="b"/>
              <a:pathLst>
                <a:path w="37" h="29">
                  <a:moveTo>
                    <a:pt x="37" y="5"/>
                  </a:moveTo>
                  <a:lnTo>
                    <a:pt x="6" y="29"/>
                  </a:lnTo>
                  <a:lnTo>
                    <a:pt x="11" y="12"/>
                  </a:lnTo>
                  <a:lnTo>
                    <a:pt x="0" y="0"/>
                  </a:lnTo>
                  <a:lnTo>
                    <a:pt x="37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grpSp>
          <p:nvGrpSpPr>
            <p:cNvPr id="29" name="Group 139">
              <a:extLst>
                <a:ext uri="{FF2B5EF4-FFF2-40B4-BE49-F238E27FC236}">
                  <a16:creationId xmlns:a16="http://schemas.microsoft.com/office/drawing/2014/main" id="{4C931C0C-E7DF-0F42-9689-2FF58E14A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263" y="5219700"/>
              <a:ext cx="173037" cy="46038"/>
              <a:chOff x="1963736" y="5213351"/>
              <a:chExt cx="173037" cy="46037"/>
            </a:xfrm>
          </p:grpSpPr>
          <p:sp>
            <p:nvSpPr>
              <p:cNvPr id="94" name="Freeform 25">
                <a:extLst>
                  <a:ext uri="{FF2B5EF4-FFF2-40B4-BE49-F238E27FC236}">
                    <a16:creationId xmlns:a16="http://schemas.microsoft.com/office/drawing/2014/main" id="{184F1B61-3178-5045-A5B0-DD9138DFD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3736" y="5230814"/>
                <a:ext cx="134937" cy="14287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25" y="9"/>
                  </a:cxn>
                  <a:cxn ang="0">
                    <a:pos x="51" y="7"/>
                  </a:cxn>
                  <a:cxn ang="0">
                    <a:pos x="71" y="4"/>
                  </a:cxn>
                  <a:cxn ang="0">
                    <a:pos x="85" y="0"/>
                  </a:cxn>
                </a:cxnLst>
                <a:rect l="0" t="0" r="r" b="b"/>
                <a:pathLst>
                  <a:path w="85" h="9">
                    <a:moveTo>
                      <a:pt x="0" y="9"/>
                    </a:moveTo>
                    <a:lnTo>
                      <a:pt x="0" y="9"/>
                    </a:lnTo>
                    <a:lnTo>
                      <a:pt x="25" y="9"/>
                    </a:lnTo>
                    <a:lnTo>
                      <a:pt x="51" y="7"/>
                    </a:lnTo>
                    <a:lnTo>
                      <a:pt x="71" y="4"/>
                    </a:lnTo>
                    <a:lnTo>
                      <a:pt x="85" y="0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IN" sz="1800" b="1">
                  <a:latin typeface="+mj-lt"/>
                </a:endParaRPr>
              </a:p>
            </p:txBody>
          </p:sp>
          <p:sp>
            <p:nvSpPr>
              <p:cNvPr id="95" name="Freeform 26">
                <a:extLst>
                  <a:ext uri="{FF2B5EF4-FFF2-40B4-BE49-F238E27FC236}">
                    <a16:creationId xmlns:a16="http://schemas.microsoft.com/office/drawing/2014/main" id="{3BF62B00-5373-0D4A-B46B-8975DF108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273" y="5213351"/>
                <a:ext cx="63500" cy="46037"/>
              </a:xfrm>
              <a:custGeom>
                <a:avLst/>
                <a:gdLst/>
                <a:ahLst/>
                <a:cxnLst>
                  <a:cxn ang="0">
                    <a:pos x="40" y="4"/>
                  </a:cxn>
                  <a:cxn ang="0">
                    <a:pos x="9" y="29"/>
                  </a:cxn>
                  <a:cxn ang="0">
                    <a:pos x="13" y="11"/>
                  </a:cxn>
                  <a:cxn ang="0">
                    <a:pos x="0" y="0"/>
                  </a:cxn>
                  <a:cxn ang="0">
                    <a:pos x="40" y="4"/>
                  </a:cxn>
                </a:cxnLst>
                <a:rect l="0" t="0" r="r" b="b"/>
                <a:pathLst>
                  <a:path w="40" h="29">
                    <a:moveTo>
                      <a:pt x="40" y="4"/>
                    </a:moveTo>
                    <a:lnTo>
                      <a:pt x="9" y="29"/>
                    </a:lnTo>
                    <a:lnTo>
                      <a:pt x="13" y="11"/>
                    </a:lnTo>
                    <a:lnTo>
                      <a:pt x="0" y="0"/>
                    </a:lnTo>
                    <a:lnTo>
                      <a:pt x="4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IN" sz="1800" b="1">
                  <a:latin typeface="+mj-lt"/>
                </a:endParaRPr>
              </a:p>
            </p:txBody>
          </p:sp>
        </p:grpSp>
        <p:grpSp>
          <p:nvGrpSpPr>
            <p:cNvPr id="30" name="Group 138">
              <a:extLst>
                <a:ext uri="{FF2B5EF4-FFF2-40B4-BE49-F238E27FC236}">
                  <a16:creationId xmlns:a16="http://schemas.microsoft.com/office/drawing/2014/main" id="{AAA1EF34-AEB8-3846-9636-DDDAA325A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0125" y="5832475"/>
              <a:ext cx="161925" cy="46038"/>
              <a:chOff x="2260598" y="5829301"/>
              <a:chExt cx="161925" cy="46037"/>
            </a:xfrm>
          </p:grpSpPr>
          <p:sp>
            <p:nvSpPr>
              <p:cNvPr id="92" name="Freeform 27">
                <a:extLst>
                  <a:ext uri="{FF2B5EF4-FFF2-40B4-BE49-F238E27FC236}">
                    <a16:creationId xmlns:a16="http://schemas.microsoft.com/office/drawing/2014/main" id="{189D9D6D-C33D-6C40-9737-AAB0AA125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0598" y="5846764"/>
                <a:ext cx="119063" cy="79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37" y="5"/>
                  </a:cxn>
                  <a:cxn ang="0">
                    <a:pos x="75" y="3"/>
                  </a:cxn>
                </a:cxnLst>
                <a:rect l="0" t="0" r="r" b="b"/>
                <a:pathLst>
                  <a:path w="75" h="5">
                    <a:moveTo>
                      <a:pt x="0" y="0"/>
                    </a:moveTo>
                    <a:lnTo>
                      <a:pt x="0" y="0"/>
                    </a:lnTo>
                    <a:lnTo>
                      <a:pt x="37" y="5"/>
                    </a:lnTo>
                    <a:lnTo>
                      <a:pt x="75" y="3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IN" sz="1800" b="1">
                  <a:latin typeface="+mj-lt"/>
                </a:endParaRPr>
              </a:p>
            </p:txBody>
          </p:sp>
          <p:sp>
            <p:nvSpPr>
              <p:cNvPr id="93" name="Freeform 28">
                <a:extLst>
                  <a:ext uri="{FF2B5EF4-FFF2-40B4-BE49-F238E27FC236}">
                    <a16:creationId xmlns:a16="http://schemas.microsoft.com/office/drawing/2014/main" id="{2EA79D85-73FD-E848-8B42-F82973CE8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198" y="5829301"/>
                <a:ext cx="60325" cy="46037"/>
              </a:xfrm>
              <a:custGeom>
                <a:avLst/>
                <a:gdLst/>
                <a:ahLst/>
                <a:cxnLst>
                  <a:cxn ang="0">
                    <a:pos x="38" y="11"/>
                  </a:cxn>
                  <a:cxn ang="0">
                    <a:pos x="2" y="29"/>
                  </a:cxn>
                  <a:cxn ang="0">
                    <a:pos x="11" y="14"/>
                  </a:cxn>
                  <a:cxn ang="0">
                    <a:pos x="0" y="0"/>
                  </a:cxn>
                  <a:cxn ang="0">
                    <a:pos x="38" y="11"/>
                  </a:cxn>
                </a:cxnLst>
                <a:rect l="0" t="0" r="r" b="b"/>
                <a:pathLst>
                  <a:path w="38" h="29">
                    <a:moveTo>
                      <a:pt x="38" y="11"/>
                    </a:moveTo>
                    <a:lnTo>
                      <a:pt x="2" y="29"/>
                    </a:lnTo>
                    <a:lnTo>
                      <a:pt x="11" y="14"/>
                    </a:lnTo>
                    <a:lnTo>
                      <a:pt x="0" y="0"/>
                    </a:lnTo>
                    <a:lnTo>
                      <a:pt x="38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IN" sz="1800" b="1">
                  <a:latin typeface="+mj-lt"/>
                </a:endParaRPr>
              </a:p>
            </p:txBody>
          </p:sp>
        </p:grp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A8C3BECE-60A2-C54D-B6C5-E4CAB4030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525" y="5114925"/>
              <a:ext cx="41275" cy="20638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0" y="13"/>
                </a:cxn>
                <a:cxn ang="0">
                  <a:pos x="6" y="11"/>
                </a:cxn>
                <a:cxn ang="0">
                  <a:pos x="11" y="9"/>
                </a:cxn>
                <a:cxn ang="0">
                  <a:pos x="26" y="0"/>
                </a:cxn>
              </a:cxnLst>
              <a:rect l="0" t="0" r="r" b="b"/>
              <a:pathLst>
                <a:path w="26" h="13">
                  <a:moveTo>
                    <a:pt x="0" y="13"/>
                  </a:moveTo>
                  <a:lnTo>
                    <a:pt x="0" y="13"/>
                  </a:lnTo>
                  <a:lnTo>
                    <a:pt x="6" y="11"/>
                  </a:lnTo>
                  <a:lnTo>
                    <a:pt x="11" y="9"/>
                  </a:lnTo>
                  <a:lnTo>
                    <a:pt x="26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0DA046B7-6A5F-534D-B644-C11BF503E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988" y="5092700"/>
              <a:ext cx="60325" cy="46038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3" y="29"/>
                </a:cxn>
                <a:cxn ang="0">
                  <a:pos x="13" y="14"/>
                </a:cxn>
                <a:cxn ang="0">
                  <a:pos x="0" y="5"/>
                </a:cxn>
                <a:cxn ang="0">
                  <a:pos x="38" y="0"/>
                </a:cxn>
              </a:cxnLst>
              <a:rect l="0" t="0" r="r" b="b"/>
              <a:pathLst>
                <a:path w="38" h="29">
                  <a:moveTo>
                    <a:pt x="38" y="0"/>
                  </a:moveTo>
                  <a:lnTo>
                    <a:pt x="13" y="29"/>
                  </a:lnTo>
                  <a:lnTo>
                    <a:pt x="13" y="14"/>
                  </a:lnTo>
                  <a:lnTo>
                    <a:pt x="0" y="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96E43696-C0D8-8D47-879F-3143BDA88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025" y="5780088"/>
              <a:ext cx="115888" cy="42862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27"/>
                </a:cxn>
                <a:cxn ang="0">
                  <a:pos x="11" y="25"/>
                </a:cxn>
                <a:cxn ang="0">
                  <a:pos x="20" y="23"/>
                </a:cxn>
                <a:cxn ang="0">
                  <a:pos x="40" y="16"/>
                </a:cxn>
                <a:cxn ang="0">
                  <a:pos x="60" y="7"/>
                </a:cxn>
                <a:cxn ang="0">
                  <a:pos x="73" y="0"/>
                </a:cxn>
              </a:cxnLst>
              <a:rect l="0" t="0" r="r" b="b"/>
              <a:pathLst>
                <a:path w="73" h="27">
                  <a:moveTo>
                    <a:pt x="0" y="27"/>
                  </a:moveTo>
                  <a:lnTo>
                    <a:pt x="0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40" y="16"/>
                  </a:lnTo>
                  <a:lnTo>
                    <a:pt x="60" y="7"/>
                  </a:lnTo>
                  <a:lnTo>
                    <a:pt x="73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8BC470EB-938C-8548-B3DF-0FC509DBA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513" y="5759450"/>
              <a:ext cx="60325" cy="49213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31"/>
                </a:cxn>
                <a:cxn ang="0">
                  <a:pos x="16" y="13"/>
                </a:cxn>
                <a:cxn ang="0">
                  <a:pos x="0" y="4"/>
                </a:cxn>
                <a:cxn ang="0">
                  <a:pos x="38" y="0"/>
                </a:cxn>
              </a:cxnLst>
              <a:rect l="0" t="0" r="r" b="b"/>
              <a:pathLst>
                <a:path w="38" h="31">
                  <a:moveTo>
                    <a:pt x="38" y="0"/>
                  </a:moveTo>
                  <a:lnTo>
                    <a:pt x="14" y="31"/>
                  </a:lnTo>
                  <a:lnTo>
                    <a:pt x="16" y="13"/>
                  </a:lnTo>
                  <a:lnTo>
                    <a:pt x="0" y="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448435A7-34D8-8744-AE14-43AA18EA0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350" y="5441950"/>
              <a:ext cx="66675" cy="1444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42" y="91"/>
                </a:cxn>
                <a:cxn ang="0">
                  <a:pos x="0" y="91"/>
                </a:cxn>
              </a:cxnLst>
              <a:rect l="0" t="0" r="r" b="b"/>
              <a:pathLst>
                <a:path w="42" h="91">
                  <a:moveTo>
                    <a:pt x="42" y="0"/>
                  </a:moveTo>
                  <a:lnTo>
                    <a:pt x="42" y="91"/>
                  </a:lnTo>
                  <a:lnTo>
                    <a:pt x="0" y="91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2C6623EA-FC05-384E-BB17-BB837660F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038" y="5322888"/>
              <a:ext cx="509587" cy="119062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321" y="75"/>
                </a:cxn>
                <a:cxn ang="0">
                  <a:pos x="0" y="75"/>
                </a:cxn>
                <a:cxn ang="0">
                  <a:pos x="0" y="0"/>
                </a:cxn>
              </a:cxnLst>
              <a:rect l="0" t="0" r="r" b="b"/>
              <a:pathLst>
                <a:path w="321" h="75">
                  <a:moveTo>
                    <a:pt x="321" y="0"/>
                  </a:moveTo>
                  <a:lnTo>
                    <a:pt x="321" y="75"/>
                  </a:lnTo>
                  <a:lnTo>
                    <a:pt x="0" y="75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34E48451-4288-F141-8B29-219E4C6FD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2750" y="4540250"/>
              <a:ext cx="1588" cy="376238"/>
            </a:xfrm>
            <a:prstGeom prst="line">
              <a:avLst/>
            </a:pr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694DC70F-75DF-504A-B0AE-7E820BABF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7763" y="4443413"/>
              <a:ext cx="1587" cy="92075"/>
            </a:xfrm>
            <a:prstGeom prst="line">
              <a:avLst/>
            </a:pr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5AFF1FAE-344F-F441-937D-9A593F704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113" y="4278313"/>
              <a:ext cx="1250950" cy="430212"/>
            </a:xfrm>
            <a:custGeom>
              <a:avLst/>
              <a:gdLst/>
              <a:ahLst/>
              <a:cxnLst>
                <a:cxn ang="0">
                  <a:pos x="11" y="271"/>
                </a:cxn>
                <a:cxn ang="0">
                  <a:pos x="0" y="233"/>
                </a:cxn>
                <a:cxn ang="0">
                  <a:pos x="777" y="0"/>
                </a:cxn>
                <a:cxn ang="0">
                  <a:pos x="788" y="38"/>
                </a:cxn>
              </a:cxnLst>
              <a:rect l="0" t="0" r="r" b="b"/>
              <a:pathLst>
                <a:path w="788" h="271">
                  <a:moveTo>
                    <a:pt x="11" y="271"/>
                  </a:moveTo>
                  <a:lnTo>
                    <a:pt x="0" y="233"/>
                  </a:lnTo>
                  <a:lnTo>
                    <a:pt x="777" y="0"/>
                  </a:lnTo>
                  <a:lnTo>
                    <a:pt x="788" y="38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B86DF623-24FE-0449-AD96-B8EF69A34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3950" y="4818063"/>
              <a:ext cx="127000" cy="1587"/>
            </a:xfrm>
            <a:prstGeom prst="line">
              <a:avLst/>
            </a:pr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1" name="Line 55">
              <a:extLst>
                <a:ext uri="{FF2B5EF4-FFF2-40B4-BE49-F238E27FC236}">
                  <a16:creationId xmlns:a16="http://schemas.microsoft.com/office/drawing/2014/main" id="{3D51C795-4F89-C745-9EF8-3EB2A223E6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3950" y="4818063"/>
              <a:ext cx="127000" cy="158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2" name="Freeform 56">
              <a:extLst>
                <a:ext uri="{FF2B5EF4-FFF2-40B4-BE49-F238E27FC236}">
                  <a16:creationId xmlns:a16="http://schemas.microsoft.com/office/drawing/2014/main" id="{6672B370-97E3-454C-82AB-317E298A0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938" y="4730750"/>
              <a:ext cx="292100" cy="214313"/>
            </a:xfrm>
            <a:custGeom>
              <a:avLst/>
              <a:gdLst/>
              <a:ahLst/>
              <a:cxnLst>
                <a:cxn ang="0">
                  <a:pos x="0" y="60"/>
                </a:cxn>
                <a:cxn ang="0">
                  <a:pos x="124" y="0"/>
                </a:cxn>
                <a:cxn ang="0">
                  <a:pos x="184" y="135"/>
                </a:cxn>
              </a:cxnLst>
              <a:rect l="0" t="0" r="r" b="b"/>
              <a:pathLst>
                <a:path w="184" h="135">
                  <a:moveTo>
                    <a:pt x="0" y="60"/>
                  </a:moveTo>
                  <a:lnTo>
                    <a:pt x="124" y="0"/>
                  </a:lnTo>
                  <a:lnTo>
                    <a:pt x="184" y="135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76B9B875-3E88-2E4E-9F6B-2D10582F4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938" y="4730750"/>
              <a:ext cx="292100" cy="214313"/>
            </a:xfrm>
            <a:custGeom>
              <a:avLst/>
              <a:gdLst/>
              <a:ahLst/>
              <a:cxnLst>
                <a:cxn ang="0">
                  <a:pos x="0" y="60"/>
                </a:cxn>
                <a:cxn ang="0">
                  <a:pos x="124" y="0"/>
                </a:cxn>
                <a:cxn ang="0">
                  <a:pos x="184" y="135"/>
                </a:cxn>
              </a:cxnLst>
              <a:rect l="0" t="0" r="r" b="b"/>
              <a:pathLst>
                <a:path w="184" h="135">
                  <a:moveTo>
                    <a:pt x="0" y="60"/>
                  </a:moveTo>
                  <a:lnTo>
                    <a:pt x="124" y="0"/>
                  </a:lnTo>
                  <a:lnTo>
                    <a:pt x="184" y="135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07BE7387-9A6B-DD40-A579-DE287B733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788" y="5816600"/>
              <a:ext cx="153987" cy="35560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97" y="126"/>
                </a:cxn>
                <a:cxn ang="0">
                  <a:pos x="0" y="224"/>
                </a:cxn>
              </a:cxnLst>
              <a:rect l="0" t="0" r="r" b="b"/>
              <a:pathLst>
                <a:path w="97" h="224">
                  <a:moveTo>
                    <a:pt x="20" y="0"/>
                  </a:moveTo>
                  <a:lnTo>
                    <a:pt x="97" y="126"/>
                  </a:lnTo>
                  <a:lnTo>
                    <a:pt x="0" y="224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5" name="Freeform 59">
              <a:extLst>
                <a:ext uri="{FF2B5EF4-FFF2-40B4-BE49-F238E27FC236}">
                  <a16:creationId xmlns:a16="http://schemas.microsoft.com/office/drawing/2014/main" id="{63242844-7D42-6449-8C44-2A85F9BDD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788" y="5816600"/>
              <a:ext cx="153987" cy="35560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97" y="126"/>
                </a:cxn>
                <a:cxn ang="0">
                  <a:pos x="0" y="224"/>
                </a:cxn>
              </a:cxnLst>
              <a:rect l="0" t="0" r="r" b="b"/>
              <a:pathLst>
                <a:path w="97" h="224">
                  <a:moveTo>
                    <a:pt x="20" y="0"/>
                  </a:moveTo>
                  <a:lnTo>
                    <a:pt x="97" y="126"/>
                  </a:lnTo>
                  <a:lnTo>
                    <a:pt x="0" y="224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635BEFBB-3E73-C541-89A9-1921EA770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288" y="4292600"/>
              <a:ext cx="268287" cy="106363"/>
            </a:xfrm>
            <a:custGeom>
              <a:avLst/>
              <a:gdLst/>
              <a:ahLst/>
              <a:cxnLst>
                <a:cxn ang="0">
                  <a:pos x="169" y="51"/>
                </a:cxn>
                <a:cxn ang="0">
                  <a:pos x="87" y="0"/>
                </a:cxn>
                <a:cxn ang="0">
                  <a:pos x="0" y="67"/>
                </a:cxn>
              </a:cxnLst>
              <a:rect l="0" t="0" r="r" b="b"/>
              <a:pathLst>
                <a:path w="169" h="67">
                  <a:moveTo>
                    <a:pt x="169" y="51"/>
                  </a:moveTo>
                  <a:lnTo>
                    <a:pt x="87" y="0"/>
                  </a:lnTo>
                  <a:lnTo>
                    <a:pt x="0" y="67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698B7332-10AA-674B-A387-D643FE02B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288" y="4292600"/>
              <a:ext cx="268287" cy="106363"/>
            </a:xfrm>
            <a:custGeom>
              <a:avLst/>
              <a:gdLst/>
              <a:ahLst/>
              <a:cxnLst>
                <a:cxn ang="0">
                  <a:pos x="169" y="51"/>
                </a:cxn>
                <a:cxn ang="0">
                  <a:pos x="87" y="0"/>
                </a:cxn>
                <a:cxn ang="0">
                  <a:pos x="0" y="67"/>
                </a:cxn>
              </a:cxnLst>
              <a:rect l="0" t="0" r="r" b="b"/>
              <a:pathLst>
                <a:path w="169" h="67">
                  <a:moveTo>
                    <a:pt x="169" y="51"/>
                  </a:moveTo>
                  <a:lnTo>
                    <a:pt x="87" y="0"/>
                  </a:lnTo>
                  <a:lnTo>
                    <a:pt x="0" y="67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1C01B280-AB27-3C4B-AD6E-129CD2F56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5892800"/>
              <a:ext cx="265113" cy="1222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73" y="77"/>
                </a:cxn>
                <a:cxn ang="0">
                  <a:pos x="167" y="0"/>
                </a:cxn>
              </a:cxnLst>
              <a:rect l="0" t="0" r="r" b="b"/>
              <a:pathLst>
                <a:path w="167" h="77">
                  <a:moveTo>
                    <a:pt x="0" y="4"/>
                  </a:moveTo>
                  <a:lnTo>
                    <a:pt x="73" y="77"/>
                  </a:lnTo>
                  <a:lnTo>
                    <a:pt x="167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9" name="Freeform 65">
              <a:extLst>
                <a:ext uri="{FF2B5EF4-FFF2-40B4-BE49-F238E27FC236}">
                  <a16:creationId xmlns:a16="http://schemas.microsoft.com/office/drawing/2014/main" id="{C9F2ABCD-1F1D-7348-A067-FD39E799F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5892800"/>
              <a:ext cx="265113" cy="1222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73" y="77"/>
                </a:cxn>
                <a:cxn ang="0">
                  <a:pos x="167" y="0"/>
                </a:cxn>
              </a:cxnLst>
              <a:rect l="0" t="0" r="r" b="b"/>
              <a:pathLst>
                <a:path w="167" h="77">
                  <a:moveTo>
                    <a:pt x="0" y="4"/>
                  </a:moveTo>
                  <a:lnTo>
                    <a:pt x="73" y="77"/>
                  </a:lnTo>
                  <a:lnTo>
                    <a:pt x="167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0" name="Line 66">
              <a:extLst>
                <a:ext uri="{FF2B5EF4-FFF2-40B4-BE49-F238E27FC236}">
                  <a16:creationId xmlns:a16="http://schemas.microsoft.com/office/drawing/2014/main" id="{75A9F4FE-0095-474E-BBF5-9E737DF52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5213" y="6015038"/>
              <a:ext cx="1587" cy="106362"/>
            </a:xfrm>
            <a:prstGeom prst="line">
              <a:avLst/>
            </a:pr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1" name="Freeform 67">
              <a:extLst>
                <a:ext uri="{FF2B5EF4-FFF2-40B4-BE49-F238E27FC236}">
                  <a16:creationId xmlns:a16="http://schemas.microsoft.com/office/drawing/2014/main" id="{73E72588-D029-9D45-8E52-DE2F6CF6F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5892800"/>
              <a:ext cx="265113" cy="1222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73" y="77"/>
                </a:cxn>
                <a:cxn ang="0">
                  <a:pos x="167" y="0"/>
                </a:cxn>
              </a:cxnLst>
              <a:rect l="0" t="0" r="r" b="b"/>
              <a:pathLst>
                <a:path w="167" h="77">
                  <a:moveTo>
                    <a:pt x="0" y="4"/>
                  </a:moveTo>
                  <a:lnTo>
                    <a:pt x="73" y="77"/>
                  </a:lnTo>
                  <a:lnTo>
                    <a:pt x="167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2" name="Freeform 68">
              <a:extLst>
                <a:ext uri="{FF2B5EF4-FFF2-40B4-BE49-F238E27FC236}">
                  <a16:creationId xmlns:a16="http://schemas.microsoft.com/office/drawing/2014/main" id="{8BFBC13C-AB83-D945-94AD-2B50AB455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5892800"/>
              <a:ext cx="265113" cy="1222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73" y="77"/>
                </a:cxn>
                <a:cxn ang="0">
                  <a:pos x="167" y="0"/>
                </a:cxn>
              </a:cxnLst>
              <a:rect l="0" t="0" r="r" b="b"/>
              <a:pathLst>
                <a:path w="167" h="77">
                  <a:moveTo>
                    <a:pt x="0" y="4"/>
                  </a:moveTo>
                  <a:lnTo>
                    <a:pt x="73" y="77"/>
                  </a:lnTo>
                  <a:lnTo>
                    <a:pt x="167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3" name="Line 69">
              <a:extLst>
                <a:ext uri="{FF2B5EF4-FFF2-40B4-BE49-F238E27FC236}">
                  <a16:creationId xmlns:a16="http://schemas.microsoft.com/office/drawing/2014/main" id="{BC8A3553-1E0F-B04A-B969-119BC2959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5213" y="6015038"/>
              <a:ext cx="1587" cy="10636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4" name="Freeform 78">
              <a:extLst>
                <a:ext uri="{FF2B5EF4-FFF2-40B4-BE49-F238E27FC236}">
                  <a16:creationId xmlns:a16="http://schemas.microsoft.com/office/drawing/2014/main" id="{B4A2CCA7-2E1F-AC4C-BB05-7B2C8BAB6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350" y="5441950"/>
              <a:ext cx="66675" cy="1444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42" y="91"/>
                </a:cxn>
                <a:cxn ang="0">
                  <a:pos x="0" y="91"/>
                </a:cxn>
              </a:cxnLst>
              <a:rect l="0" t="0" r="r" b="b"/>
              <a:pathLst>
                <a:path w="42" h="91">
                  <a:moveTo>
                    <a:pt x="42" y="0"/>
                  </a:moveTo>
                  <a:lnTo>
                    <a:pt x="42" y="91"/>
                  </a:lnTo>
                  <a:lnTo>
                    <a:pt x="0" y="9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5" name="Line 79">
              <a:extLst>
                <a:ext uri="{FF2B5EF4-FFF2-40B4-BE49-F238E27FC236}">
                  <a16:creationId xmlns:a16="http://schemas.microsoft.com/office/drawing/2014/main" id="{AF137DA4-6A6B-9D4E-BFB3-E2E9C3F5E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2750" y="4540250"/>
              <a:ext cx="1588" cy="37623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6" name="Line 80">
              <a:extLst>
                <a:ext uri="{FF2B5EF4-FFF2-40B4-BE49-F238E27FC236}">
                  <a16:creationId xmlns:a16="http://schemas.microsoft.com/office/drawing/2014/main" id="{3B7B68F7-FCD3-4C4F-AC13-D3D12286F7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7763" y="4443413"/>
              <a:ext cx="1587" cy="92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7" name="Freeform 81">
              <a:extLst>
                <a:ext uri="{FF2B5EF4-FFF2-40B4-BE49-F238E27FC236}">
                  <a16:creationId xmlns:a16="http://schemas.microsoft.com/office/drawing/2014/main" id="{9B7FB728-5601-7945-96AD-E1B1E4D64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038" y="5322888"/>
              <a:ext cx="509587" cy="119062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321" y="75"/>
                </a:cxn>
                <a:cxn ang="0">
                  <a:pos x="0" y="75"/>
                </a:cxn>
                <a:cxn ang="0">
                  <a:pos x="0" y="0"/>
                </a:cxn>
              </a:cxnLst>
              <a:rect l="0" t="0" r="r" b="b"/>
              <a:pathLst>
                <a:path w="321" h="75">
                  <a:moveTo>
                    <a:pt x="321" y="0"/>
                  </a:moveTo>
                  <a:lnTo>
                    <a:pt x="321" y="75"/>
                  </a:lnTo>
                  <a:lnTo>
                    <a:pt x="0" y="75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8" name="Freeform 82">
              <a:extLst>
                <a:ext uri="{FF2B5EF4-FFF2-40B4-BE49-F238E27FC236}">
                  <a16:creationId xmlns:a16="http://schemas.microsoft.com/office/drawing/2014/main" id="{CC6B67E3-3E83-1248-98BD-45397C4AF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113" y="4278313"/>
              <a:ext cx="1250950" cy="430212"/>
            </a:xfrm>
            <a:custGeom>
              <a:avLst/>
              <a:gdLst/>
              <a:ahLst/>
              <a:cxnLst>
                <a:cxn ang="0">
                  <a:pos x="11" y="271"/>
                </a:cxn>
                <a:cxn ang="0">
                  <a:pos x="0" y="233"/>
                </a:cxn>
                <a:cxn ang="0">
                  <a:pos x="777" y="0"/>
                </a:cxn>
                <a:cxn ang="0">
                  <a:pos x="788" y="38"/>
                </a:cxn>
              </a:cxnLst>
              <a:rect l="0" t="0" r="r" b="b"/>
              <a:pathLst>
                <a:path w="788" h="271">
                  <a:moveTo>
                    <a:pt x="11" y="271"/>
                  </a:moveTo>
                  <a:lnTo>
                    <a:pt x="0" y="233"/>
                  </a:lnTo>
                  <a:lnTo>
                    <a:pt x="777" y="0"/>
                  </a:lnTo>
                  <a:lnTo>
                    <a:pt x="788" y="38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59" name="Rectangle 266">
              <a:extLst>
                <a:ext uri="{FF2B5EF4-FFF2-40B4-BE49-F238E27FC236}">
                  <a16:creationId xmlns:a16="http://schemas.microsoft.com/office/drawing/2014/main" id="{654B1A4A-176D-FC46-A379-2B06BE235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4322763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0" name="Rectangle 287">
              <a:extLst>
                <a:ext uri="{FF2B5EF4-FFF2-40B4-BE49-F238E27FC236}">
                  <a16:creationId xmlns:a16="http://schemas.microsoft.com/office/drawing/2014/main" id="{9058071D-8893-CD46-99F3-D1BED45F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4664075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2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1" name="Rectangle 302">
              <a:extLst>
                <a:ext uri="{FF2B5EF4-FFF2-40B4-BE49-F238E27FC236}">
                  <a16:creationId xmlns:a16="http://schemas.microsoft.com/office/drawing/2014/main" id="{BD1CB0C8-8087-F444-AF3B-834D1997B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5002213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3</a:t>
              </a:r>
              <a:endParaRPr lang="en-US" sz="1800" b="1">
                <a:latin typeface="+mj-lt"/>
              </a:endParaRPr>
            </a:p>
          </p:txBody>
        </p:sp>
        <p:sp>
          <p:nvSpPr>
            <p:cNvPr id="62" name="Rectangle 312">
              <a:extLst>
                <a:ext uri="{FF2B5EF4-FFF2-40B4-BE49-F238E27FC236}">
                  <a16:creationId xmlns:a16="http://schemas.microsoft.com/office/drawing/2014/main" id="{371AD8C9-688F-AB46-9949-750BA5D90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5287963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3" name="Rectangle 344">
              <a:extLst>
                <a:ext uri="{FF2B5EF4-FFF2-40B4-BE49-F238E27FC236}">
                  <a16:creationId xmlns:a16="http://schemas.microsoft.com/office/drawing/2014/main" id="{4AB30123-0CF7-2D4A-B5F4-EFB7530D3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5621338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4" name="Rectangle 372">
              <a:extLst>
                <a:ext uri="{FF2B5EF4-FFF2-40B4-BE49-F238E27FC236}">
                  <a16:creationId xmlns:a16="http://schemas.microsoft.com/office/drawing/2014/main" id="{D728D861-B3BA-5142-BB84-3C627C8ED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8" y="5962650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6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5" name="Rectangle 500">
              <a:extLst>
                <a:ext uri="{FF2B5EF4-FFF2-40B4-BE49-F238E27FC236}">
                  <a16:creationId xmlns:a16="http://schemas.microsoft.com/office/drawing/2014/main" id="{ED1813CA-AFCC-4D47-9E58-F97B9326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5" y="5618163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6" name="Rectangle 501">
              <a:extLst>
                <a:ext uri="{FF2B5EF4-FFF2-40B4-BE49-F238E27FC236}">
                  <a16:creationId xmlns:a16="http://schemas.microsoft.com/office/drawing/2014/main" id="{59D9D621-738B-4344-8A87-84FAC306C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388" y="5614988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2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7" name="Rectangle 502">
              <a:extLst>
                <a:ext uri="{FF2B5EF4-FFF2-40B4-BE49-F238E27FC236}">
                  <a16:creationId xmlns:a16="http://schemas.microsoft.com/office/drawing/2014/main" id="{74A2FFF9-A4B7-324F-9F38-B6F563AAB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5900738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3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8" name="Rectangle 503">
              <a:extLst>
                <a:ext uri="{FF2B5EF4-FFF2-40B4-BE49-F238E27FC236}">
                  <a16:creationId xmlns:a16="http://schemas.microsoft.com/office/drawing/2014/main" id="{C13224C6-DD7B-554C-AD0D-B606CB444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488" y="6108700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69" name="Rectangle 504">
              <a:extLst>
                <a:ext uri="{FF2B5EF4-FFF2-40B4-BE49-F238E27FC236}">
                  <a16:creationId xmlns:a16="http://schemas.microsoft.com/office/drawing/2014/main" id="{7D4E1194-03FB-674D-8362-56A77AF55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375" y="5176838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0" name="Rectangle 505">
              <a:extLst>
                <a:ext uri="{FF2B5EF4-FFF2-40B4-BE49-F238E27FC236}">
                  <a16:creationId xmlns:a16="http://schemas.microsoft.com/office/drawing/2014/main" id="{53537569-694D-0746-AF12-5CCF37B5E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3" y="5491163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1" name="Rectangle 506">
              <a:extLst>
                <a:ext uri="{FF2B5EF4-FFF2-40B4-BE49-F238E27FC236}">
                  <a16:creationId xmlns:a16="http://schemas.microsoft.com/office/drawing/2014/main" id="{4591BD25-BFFF-F34C-8420-3F064A2A9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763" y="4397375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2" name="Rectangle 507">
              <a:extLst>
                <a:ext uri="{FF2B5EF4-FFF2-40B4-BE49-F238E27FC236}">
                  <a16:creationId xmlns:a16="http://schemas.microsoft.com/office/drawing/2014/main" id="{69101B57-10D2-F547-9DF9-254C9BEB8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778375"/>
              <a:ext cx="50800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 dirty="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3" name="Rectangle 508">
              <a:extLst>
                <a:ext uri="{FF2B5EF4-FFF2-40B4-BE49-F238E27FC236}">
                  <a16:creationId xmlns:a16="http://schemas.microsoft.com/office/drawing/2014/main" id="{BD90692B-4585-EC4E-8C0E-BC29B76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38" y="5029200"/>
              <a:ext cx="90487" cy="9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000000"/>
                  </a:solidFill>
                  <a:latin typeface="+mj-lt"/>
                </a:rPr>
                <a:t>6b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4" name="Rectangle 509">
              <a:extLst>
                <a:ext uri="{FF2B5EF4-FFF2-40B4-BE49-F238E27FC236}">
                  <a16:creationId xmlns:a16="http://schemas.microsoft.com/office/drawing/2014/main" id="{5F881B43-17A2-A340-A550-89554879B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700" y="6021388"/>
              <a:ext cx="100013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700" b="1">
                  <a:solidFill>
                    <a:srgbClr val="000000"/>
                  </a:solidFill>
                  <a:latin typeface="+mj-lt"/>
                </a:rPr>
                <a:t>6c</a:t>
              </a:r>
              <a:endParaRPr lang="en-US" sz="1800" b="1">
                <a:latin typeface="+mj-lt"/>
              </a:endParaRPr>
            </a:p>
          </p:txBody>
        </p:sp>
        <p:sp>
          <p:nvSpPr>
            <p:cNvPr id="75" name="Rectangle 510">
              <a:extLst>
                <a:ext uri="{FF2B5EF4-FFF2-40B4-BE49-F238E27FC236}">
                  <a16:creationId xmlns:a16="http://schemas.microsoft.com/office/drawing/2014/main" id="{2E0EE9DB-9C26-B84A-8E5F-3AE80CABE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288" y="4416425"/>
              <a:ext cx="87312" cy="9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000000"/>
                  </a:solidFill>
                  <a:latin typeface="+mj-lt"/>
                </a:rPr>
                <a:t>6a</a:t>
              </a:r>
              <a:endParaRPr lang="en-US" sz="1800" b="1" dirty="0">
                <a:latin typeface="+mj-lt"/>
              </a:endParaRPr>
            </a:p>
          </p:txBody>
        </p:sp>
        <p:sp>
          <p:nvSpPr>
            <p:cNvPr id="76" name="TextBox 121">
              <a:extLst>
                <a:ext uri="{FF2B5EF4-FFF2-40B4-BE49-F238E27FC236}">
                  <a16:creationId xmlns:a16="http://schemas.microsoft.com/office/drawing/2014/main" id="{734A403B-02A5-C446-B0C7-49DA7698C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913" y="4167188"/>
              <a:ext cx="561975" cy="41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Rough</a:t>
              </a:r>
            </a:p>
            <a:p>
              <a:pPr algn="ctr" eaLnBrk="1" hangingPunct="1"/>
              <a:r>
                <a:rPr lang="en-IN" altLang="en-US" sz="600" b="1"/>
                <a:t>endoplasmic</a:t>
              </a:r>
            </a:p>
            <a:p>
              <a:pPr algn="ctr" eaLnBrk="1" hangingPunct="1"/>
              <a:r>
                <a:rPr lang="en-IN" altLang="en-US" sz="600" b="1"/>
                <a:t>reticulum</a:t>
              </a:r>
            </a:p>
            <a:p>
              <a:pPr algn="ctr" eaLnBrk="1" hangingPunct="1"/>
              <a:r>
                <a:rPr lang="en-IN" altLang="en-US" sz="600" b="1"/>
                <a:t>(RER)</a:t>
              </a:r>
            </a:p>
          </p:txBody>
        </p:sp>
        <p:sp>
          <p:nvSpPr>
            <p:cNvPr id="77" name="TextBox 122">
              <a:extLst>
                <a:ext uri="{FF2B5EF4-FFF2-40B4-BE49-F238E27FC236}">
                  <a16:creationId xmlns:a16="http://schemas.microsoft.com/office/drawing/2014/main" id="{125F6BE2-F4B6-C046-8CFC-A4C2FED30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188" y="4230688"/>
              <a:ext cx="460375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Golgi</a:t>
              </a:r>
            </a:p>
            <a:p>
              <a:pPr algn="ctr" eaLnBrk="1" hangingPunct="1"/>
              <a:r>
                <a:rPr lang="en-IN" altLang="en-US" sz="600" b="1"/>
                <a:t>apparatus</a:t>
              </a:r>
            </a:p>
          </p:txBody>
        </p:sp>
        <p:sp>
          <p:nvSpPr>
            <p:cNvPr id="78" name="TextBox 124">
              <a:extLst>
                <a:ext uri="{FF2B5EF4-FFF2-40B4-BE49-F238E27FC236}">
                  <a16:creationId xmlns:a16="http://schemas.microsoft.com/office/drawing/2014/main" id="{4AD6F3F1-FC6F-B84F-B12A-067859A85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063" y="4079875"/>
              <a:ext cx="1893887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Synthesis, Modification, and Shipping of Proteins</a:t>
              </a:r>
            </a:p>
          </p:txBody>
        </p:sp>
        <p:sp>
          <p:nvSpPr>
            <p:cNvPr id="79" name="TextBox 126">
              <a:extLst>
                <a:ext uri="{FF2B5EF4-FFF2-40B4-BE49-F238E27FC236}">
                  <a16:creationId xmlns:a16="http://schemas.microsoft.com/office/drawing/2014/main" id="{41AEAB23-38FB-B74B-8BD1-CA8C8C449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300" y="4414838"/>
              <a:ext cx="554038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Extracellular</a:t>
              </a:r>
            </a:p>
            <a:p>
              <a:pPr algn="ctr" eaLnBrk="1" hangingPunct="1"/>
              <a:r>
                <a:rPr lang="en-IN" altLang="en-US" sz="600" b="1"/>
                <a:t>fluid</a:t>
              </a:r>
            </a:p>
          </p:txBody>
        </p:sp>
        <p:sp>
          <p:nvSpPr>
            <p:cNvPr id="80" name="TextBox 127">
              <a:extLst>
                <a:ext uri="{FF2B5EF4-FFF2-40B4-BE49-F238E27FC236}">
                  <a16:creationId xmlns:a16="http://schemas.microsoft.com/office/drawing/2014/main" id="{7C0814F1-A423-1647-AEC6-BD72A69EF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350" y="4767263"/>
              <a:ext cx="484188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Plasma</a:t>
              </a:r>
            </a:p>
            <a:p>
              <a:pPr eaLnBrk="1" hangingPunct="1"/>
              <a:r>
                <a:rPr lang="en-IN" altLang="en-US" sz="600" b="1"/>
                <a:t>membrane</a:t>
              </a:r>
            </a:p>
          </p:txBody>
        </p:sp>
        <p:sp>
          <p:nvSpPr>
            <p:cNvPr id="81" name="TextBox 128">
              <a:extLst>
                <a:ext uri="{FF2B5EF4-FFF2-40B4-BE49-F238E27FC236}">
                  <a16:creationId xmlns:a16="http://schemas.microsoft.com/office/drawing/2014/main" id="{A0FD64E9-AAB3-D94D-A13C-062DB3DE8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4322763"/>
              <a:ext cx="1751013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RER synthesizes protein that is released in a </a:t>
              </a:r>
              <a:br>
                <a:rPr lang="en-IN" altLang="en-US" sz="600" b="1"/>
              </a:br>
              <a:r>
                <a:rPr lang="en-IN" altLang="en-US" sz="600" b="1"/>
                <a:t>transport vesicle.</a:t>
              </a:r>
            </a:p>
          </p:txBody>
        </p:sp>
        <p:sp>
          <p:nvSpPr>
            <p:cNvPr id="82" name="TextBox 129">
              <a:extLst>
                <a:ext uri="{FF2B5EF4-FFF2-40B4-BE49-F238E27FC236}">
                  <a16:creationId xmlns:a16="http://schemas.microsoft.com/office/drawing/2014/main" id="{8A2DD341-6291-EA40-87BB-DC928481D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4664075"/>
              <a:ext cx="1582738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Vesicle from the RER moves to the Golgi</a:t>
              </a:r>
            </a:p>
            <a:p>
              <a:pPr eaLnBrk="1" hangingPunct="1"/>
              <a:r>
                <a:rPr lang="en-IN" altLang="en-US" sz="600" b="1"/>
                <a:t>apparatus.</a:t>
              </a:r>
            </a:p>
          </p:txBody>
        </p:sp>
        <p:sp>
          <p:nvSpPr>
            <p:cNvPr id="83" name="TextBox 130">
              <a:extLst>
                <a:ext uri="{FF2B5EF4-FFF2-40B4-BE49-F238E27FC236}">
                  <a16:creationId xmlns:a16="http://schemas.microsoft.com/office/drawing/2014/main" id="{39DAECCF-CCE1-AA49-A461-C82F5C4D0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5002213"/>
              <a:ext cx="1585913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Vesicle fuses with Golgi apparatus at the</a:t>
              </a:r>
            </a:p>
            <a:p>
              <a:pPr eaLnBrk="1" hangingPunct="1"/>
              <a:r>
                <a:rPr lang="en-IN" altLang="en-US" sz="600" b="1"/>
                <a:t>receiving region.</a:t>
              </a:r>
            </a:p>
          </p:txBody>
        </p:sp>
        <p:sp>
          <p:nvSpPr>
            <p:cNvPr id="84" name="TextBox 131">
              <a:extLst>
                <a:ext uri="{FF2B5EF4-FFF2-40B4-BE49-F238E27FC236}">
                  <a16:creationId xmlns:a16="http://schemas.microsoft.com/office/drawing/2014/main" id="{35FA0442-1842-154C-BD5F-43FA167E9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5287963"/>
              <a:ext cx="1841500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Proteins are modified as they move through</a:t>
              </a:r>
            </a:p>
            <a:p>
              <a:pPr eaLnBrk="1" hangingPunct="1"/>
              <a:r>
                <a:rPr lang="en-IN" altLang="en-US" sz="600" b="1"/>
                <a:t>Golgi apparatus (e.g., addition of carbohydrate).</a:t>
              </a:r>
            </a:p>
          </p:txBody>
        </p:sp>
        <p:sp>
          <p:nvSpPr>
            <p:cNvPr id="85" name="TextBox 132">
              <a:extLst>
                <a:ext uri="{FF2B5EF4-FFF2-40B4-BE49-F238E27FC236}">
                  <a16:creationId xmlns:a16="http://schemas.microsoft.com/office/drawing/2014/main" id="{8001FD08-31CE-CB46-8B88-84A154C1A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5621338"/>
              <a:ext cx="1903413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Modified proteins are packaged and released</a:t>
              </a:r>
            </a:p>
            <a:p>
              <a:pPr eaLnBrk="1" hangingPunct="1"/>
              <a:r>
                <a:rPr lang="en-IN" altLang="en-US" sz="600" b="1"/>
                <a:t>within secretory vesicle from the shipping region.</a:t>
              </a:r>
            </a:p>
          </p:txBody>
        </p:sp>
        <p:sp>
          <p:nvSpPr>
            <p:cNvPr id="86" name="TextBox 133">
              <a:extLst>
                <a:ext uri="{FF2B5EF4-FFF2-40B4-BE49-F238E27FC236}">
                  <a16:creationId xmlns:a16="http://schemas.microsoft.com/office/drawing/2014/main" id="{022C612E-B31F-EA45-8C8A-B4A1E2596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5975" y="5967413"/>
              <a:ext cx="1946275" cy="41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Secretory vesicles (6a) merge with the plasma</a:t>
              </a:r>
            </a:p>
            <a:p>
              <a:pPr eaLnBrk="1" hangingPunct="1"/>
              <a:r>
                <a:rPr lang="en-IN" altLang="en-US" sz="600" b="1"/>
                <a:t>membrane to insert molecules into the plasma</a:t>
              </a:r>
            </a:p>
            <a:p>
              <a:pPr eaLnBrk="1" hangingPunct="1"/>
              <a:r>
                <a:rPr lang="en-IN" altLang="en-US" sz="600" b="1"/>
                <a:t>membrane (6b), or release contents by exocytosis.</a:t>
              </a:r>
            </a:p>
            <a:p>
              <a:pPr eaLnBrk="1" hangingPunct="1"/>
              <a:r>
                <a:rPr lang="en-IN" altLang="en-US" sz="600" b="1"/>
                <a:t>(6c). They may also serve as lysosomes.</a:t>
              </a:r>
            </a:p>
          </p:txBody>
        </p:sp>
        <p:sp>
          <p:nvSpPr>
            <p:cNvPr id="87" name="TextBox 134">
              <a:extLst>
                <a:ext uri="{FF2B5EF4-FFF2-40B4-BE49-F238E27FC236}">
                  <a16:creationId xmlns:a16="http://schemas.microsoft.com/office/drawing/2014/main" id="{4D052AFA-C00B-7C46-85B5-AFC7F40AB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25" y="5964238"/>
              <a:ext cx="517525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Lysosomes</a:t>
              </a:r>
            </a:p>
          </p:txBody>
        </p:sp>
        <p:sp>
          <p:nvSpPr>
            <p:cNvPr id="88" name="TextBox 135">
              <a:extLst>
                <a:ext uri="{FF2B5EF4-FFF2-40B4-BE49-F238E27FC236}">
                  <a16:creationId xmlns:a16="http://schemas.microsoft.com/office/drawing/2014/main" id="{ED9116CD-8006-D94F-BBD4-01A4B29E9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725" y="5538788"/>
              <a:ext cx="50006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600" b="1"/>
                <a:t>Exocytosis</a:t>
              </a:r>
            </a:p>
          </p:txBody>
        </p:sp>
        <p:sp>
          <p:nvSpPr>
            <p:cNvPr id="89" name="TextBox 136">
              <a:extLst>
                <a:ext uri="{FF2B5EF4-FFF2-40B4-BE49-F238E27FC236}">
                  <a16:creationId xmlns:a16="http://schemas.microsoft.com/office/drawing/2014/main" id="{5B668B12-A7CE-0949-9310-D4A5DF363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200" y="4995863"/>
              <a:ext cx="419100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Shipping</a:t>
              </a:r>
            </a:p>
            <a:p>
              <a:pPr algn="ctr" eaLnBrk="1" hangingPunct="1"/>
              <a:r>
                <a:rPr lang="en-IN" altLang="en-US" sz="600" b="1"/>
                <a:t>region</a:t>
              </a:r>
            </a:p>
          </p:txBody>
        </p:sp>
        <p:sp>
          <p:nvSpPr>
            <p:cNvPr id="90" name="TextBox 137">
              <a:extLst>
                <a:ext uri="{FF2B5EF4-FFF2-40B4-BE49-F238E27FC236}">
                  <a16:creationId xmlns:a16="http://schemas.microsoft.com/office/drawing/2014/main" id="{FF5FD339-9817-084E-AB6F-AE27C0FF9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9488" y="5335588"/>
              <a:ext cx="455612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Receiving</a:t>
              </a:r>
            </a:p>
            <a:p>
              <a:pPr algn="ctr" eaLnBrk="1" hangingPunct="1"/>
              <a:r>
                <a:rPr lang="en-IN" altLang="en-US" sz="600" b="1"/>
                <a:t>region</a:t>
              </a:r>
            </a:p>
          </p:txBody>
        </p:sp>
        <p:sp>
          <p:nvSpPr>
            <p:cNvPr id="91" name="TextBox 140">
              <a:extLst>
                <a:ext uri="{FF2B5EF4-FFF2-40B4-BE49-F238E27FC236}">
                  <a16:creationId xmlns:a16="http://schemas.microsoft.com/office/drawing/2014/main" id="{482E072B-0F56-E742-81C8-E0AEE9F27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888" y="6129338"/>
              <a:ext cx="450850" cy="23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IN" altLang="en-US" sz="600" b="1"/>
                <a:t>Transport</a:t>
              </a:r>
            </a:p>
            <a:p>
              <a:pPr algn="ctr" eaLnBrk="1" hangingPunct="1"/>
              <a:r>
                <a:rPr lang="en-IN" altLang="en-US" sz="600" b="1"/>
                <a:t>vesicles</a:t>
              </a:r>
            </a:p>
          </p:txBody>
        </p:sp>
      </p:grpSp>
      <p:sp>
        <p:nvSpPr>
          <p:cNvPr id="96" name="Title 1">
            <a:extLst>
              <a:ext uri="{FF2B5EF4-FFF2-40B4-BE49-F238E27FC236}">
                <a16:creationId xmlns:a16="http://schemas.microsoft.com/office/drawing/2014/main" id="{FE8736FD-CA90-BE4C-9236-9008745C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ea typeface="ＭＳ Ｐゴシック" charset="0"/>
              </a:rPr>
              <a:t>ORGANELLES: GOLGI APPARATUS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609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3" y="1219200"/>
            <a:ext cx="87757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Digestion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</a:rPr>
              <a:t>Lysosomes are like the </a:t>
            </a:r>
            <a:r>
              <a:rPr lang="en-US" sz="2400" b="1" dirty="0">
                <a:solidFill>
                  <a:srgbClr val="000000"/>
                </a:solidFill>
              </a:rPr>
              <a:t>digestive system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</a:rPr>
              <a:t>Sacs or </a:t>
            </a:r>
            <a:r>
              <a:rPr lang="en-US" b="1" i="1" dirty="0">
                <a:solidFill>
                  <a:srgbClr val="000000"/>
                </a:solidFill>
              </a:rPr>
              <a:t>vesicles</a:t>
            </a:r>
            <a:endParaRPr lang="en-US" b="1" dirty="0">
              <a:solidFill>
                <a:srgbClr val="FF0000"/>
              </a:solidFill>
              <a:latin typeface="+mj-lt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+mj-lt"/>
              </a:rPr>
              <a:t>Enzymes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from the RER break down food, bacteria, and worn-out organelles</a:t>
            </a: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pic>
        <p:nvPicPr>
          <p:cNvPr id="3" name="Picture 2" descr="A lysosome with a plasma membrane."/>
          <p:cNvPicPr>
            <a:picLocks noChangeAspect="1"/>
          </p:cNvPicPr>
          <p:nvPr/>
        </p:nvPicPr>
        <p:blipFill rotWithShape="1">
          <a:blip r:embed="rId3"/>
          <a:srcRect l="9002" t="16050" r="7219" b="25514"/>
          <a:stretch/>
        </p:blipFill>
        <p:spPr>
          <a:xfrm>
            <a:off x="2954866" y="3541109"/>
            <a:ext cx="3293534" cy="33168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66A1155-9782-2742-8A89-6EB1D54F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ea typeface="ＭＳ Ｐゴシック" charset="0"/>
              </a:rPr>
              <a:t>ORGANELLES: LYSOSOMES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25058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3" y="1219200"/>
            <a:ext cx="87757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Protection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Peroxisomes are like the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lymphatic (immune) system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Sacs or </a:t>
            </a:r>
            <a:r>
              <a:rPr lang="en-US" b="1" i="1" dirty="0">
                <a:solidFill>
                  <a:srgbClr val="000000"/>
                </a:solidFill>
                <a:latin typeface="+mj-lt"/>
              </a:rPr>
              <a:t>vesicles</a:t>
            </a:r>
            <a:endParaRPr lang="en-US" b="1" dirty="0">
              <a:solidFill>
                <a:srgbClr val="FF0000"/>
              </a:solidFill>
              <a:latin typeface="+mj-lt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+mj-lt"/>
              </a:rPr>
              <a:t>Enzymes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from the RER break down 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hydrogen peroxide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Prevents formation of harmful oxygen free-radicals</a:t>
            </a:r>
            <a:endParaRPr lang="en-US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pic>
        <p:nvPicPr>
          <p:cNvPr id="9" name="Picture 1" descr="Peroxisoomes scavange oxygen free-radicals.">
            <a:extLst>
              <a:ext uri="{FF2B5EF4-FFF2-40B4-BE49-F238E27FC236}">
                <a16:creationId xmlns:a16="http://schemas.microsoft.com/office/drawing/2014/main" id="{5B1E4EFF-06F0-9842-97EB-87958DFD4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67200"/>
            <a:ext cx="7500416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8F41BB1-1C2F-814E-BB72-7A797D23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ORGANELLES: PEROXISOMES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48817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3" y="1118529"/>
            <a:ext cx="87757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Make protein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Receive information from DNA to create proteins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Ribosomes in the </a:t>
            </a:r>
            <a:r>
              <a:rPr lang="en-US" u="sng" dirty="0">
                <a:latin typeface="+mj-lt"/>
              </a:rPr>
              <a:t>cytoplasm</a:t>
            </a:r>
            <a:r>
              <a:rPr lang="en-US" dirty="0">
                <a:latin typeface="+mj-lt"/>
              </a:rPr>
              <a:t> = Proteins for the cell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Ribosomes in the </a:t>
            </a:r>
            <a:r>
              <a:rPr lang="en-US" u="sng" dirty="0">
                <a:latin typeface="+mj-lt"/>
              </a:rPr>
              <a:t>RER</a:t>
            </a:r>
            <a:r>
              <a:rPr lang="en-US" dirty="0">
                <a:latin typeface="+mj-lt"/>
              </a:rPr>
              <a:t> = Proteins for outside the cell</a:t>
            </a:r>
          </a:p>
        </p:txBody>
      </p:sp>
      <p:pic>
        <p:nvPicPr>
          <p:cNvPr id="3" name="Picture 2" descr="Tick-borne diseases can be treated with Doxycycline, a drug that kills bacterial cells and not human cells due to our ribosomal differenc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274" y="4800600"/>
            <a:ext cx="1759331" cy="2057400"/>
          </a:xfrm>
          <a:prstGeom prst="rect">
            <a:avLst/>
          </a:prstGeom>
        </p:spPr>
      </p:pic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2C7950-6A25-F445-B855-F2AF012FF195}"/>
              </a:ext>
            </a:extLst>
          </p:cNvPr>
          <p:cNvGrpSpPr/>
          <p:nvPr/>
        </p:nvGrpSpPr>
        <p:grpSpPr>
          <a:xfrm>
            <a:off x="1524000" y="3200400"/>
            <a:ext cx="5972216" cy="2071074"/>
            <a:chOff x="2001839" y="185738"/>
            <a:chExt cx="3823838" cy="1122961"/>
          </a:xfrm>
        </p:grpSpPr>
        <p:pic>
          <p:nvPicPr>
            <p:cNvPr id="13" name="Picture 28" descr="Bacterial ribosomes look different than ours.">
              <a:extLst>
                <a:ext uri="{FF2B5EF4-FFF2-40B4-BE49-F238E27FC236}">
                  <a16:creationId xmlns:a16="http://schemas.microsoft.com/office/drawing/2014/main" id="{5A458346-8071-F04C-84FD-EFC4E8A6A1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212" b="85328"/>
            <a:stretch/>
          </p:blipFill>
          <p:spPr bwMode="auto">
            <a:xfrm>
              <a:off x="2001839" y="185738"/>
              <a:ext cx="3484562" cy="96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44">
              <a:extLst>
                <a:ext uri="{FF2B5EF4-FFF2-40B4-BE49-F238E27FC236}">
                  <a16:creationId xmlns:a16="http://schemas.microsoft.com/office/drawing/2014/main" id="{BE0EDB8F-01B7-7C47-8369-CF0B1234F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606425"/>
              <a:ext cx="134453" cy="233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800" b="1">
                  <a:solidFill>
                    <a:srgbClr val="000000"/>
                  </a:solidFill>
                  <a:latin typeface="+mj-lt"/>
                </a:rPr>
                <a:t>=</a:t>
              </a:r>
              <a:endParaRPr lang="en-US" sz="3600" b="1">
                <a:latin typeface="+mj-lt"/>
              </a:endParaRPr>
            </a:p>
          </p:txBody>
        </p:sp>
        <p:sp>
          <p:nvSpPr>
            <p:cNvPr id="15" name="Rectangle 45">
              <a:extLst>
                <a:ext uri="{FF2B5EF4-FFF2-40B4-BE49-F238E27FC236}">
                  <a16:creationId xmlns:a16="http://schemas.microsoft.com/office/drawing/2014/main" id="{A564D673-285E-A34C-9FBF-6FE9CAEAB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8625" y="606425"/>
              <a:ext cx="134453" cy="233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800" b="1" dirty="0">
                  <a:solidFill>
                    <a:srgbClr val="000000"/>
                  </a:solidFill>
                  <a:latin typeface="+mj-lt"/>
                </a:rPr>
                <a:t>+</a:t>
              </a:r>
              <a:endParaRPr lang="en-US" sz="3600" b="1" dirty="0">
                <a:latin typeface="+mj-lt"/>
              </a:endParaRPr>
            </a:p>
          </p:txBody>
        </p:sp>
        <p:sp>
          <p:nvSpPr>
            <p:cNvPr id="16" name="TextBox 128">
              <a:extLst>
                <a:ext uri="{FF2B5EF4-FFF2-40B4-BE49-F238E27FC236}">
                  <a16:creationId xmlns:a16="http://schemas.microsoft.com/office/drawing/2014/main" id="{56CC2090-19D9-1641-8C4B-822EDC9FB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2163" y="1133475"/>
              <a:ext cx="1027999" cy="175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800" b="1"/>
                <a:t>Small subunit</a:t>
              </a:r>
            </a:p>
          </p:txBody>
        </p:sp>
        <p:sp>
          <p:nvSpPr>
            <p:cNvPr id="17" name="TextBox 129">
              <a:extLst>
                <a:ext uri="{FF2B5EF4-FFF2-40B4-BE49-F238E27FC236}">
                  <a16:creationId xmlns:a16="http://schemas.microsoft.com/office/drawing/2014/main" id="{CCEF4372-847D-7249-BDD9-D580D7981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5000" y="1133475"/>
              <a:ext cx="1036210" cy="175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800" b="1"/>
                <a:t>Large subunit</a:t>
              </a:r>
            </a:p>
          </p:txBody>
        </p:sp>
        <p:sp>
          <p:nvSpPr>
            <p:cNvPr id="18" name="TextBox 130">
              <a:extLst>
                <a:ext uri="{FF2B5EF4-FFF2-40B4-BE49-F238E27FC236}">
                  <a16:creationId xmlns:a16="http://schemas.microsoft.com/office/drawing/2014/main" id="{5B36C93A-73F4-B745-885D-9A08AB169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3238" y="1133475"/>
              <a:ext cx="1512439" cy="175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800" b="1"/>
                <a:t>Functional ribosome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2296BFCC-DD02-464A-88D6-7617E321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600" b="1" dirty="0">
                <a:solidFill>
                  <a:schemeClr val="tx1"/>
                </a:solidFill>
                <a:ea typeface="ＭＳ Ｐゴシック" charset="0"/>
              </a:rPr>
              <a:t>ORGANELLES: RIBOSOMES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241026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182563" y="1143000"/>
            <a:ext cx="87757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Structure and Movement</a:t>
            </a:r>
          </a:p>
          <a:p>
            <a:pPr marL="857250" lvl="1" indent="-457200"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dirty="0">
                <a:latin typeface="+mj-lt"/>
              </a:rPr>
              <a:t>The Cytoskeleton is like the </a:t>
            </a:r>
            <a:r>
              <a:rPr lang="en-US" sz="2400" b="1" dirty="0">
                <a:latin typeface="+mj-lt"/>
              </a:rPr>
              <a:t>musculoskeletal system</a:t>
            </a:r>
          </a:p>
          <a:p>
            <a:pPr marL="400050" lvl="1" indent="0">
              <a:buNone/>
              <a:defRPr/>
            </a:pPr>
            <a:endParaRPr lang="en-US" sz="1000" b="1" dirty="0">
              <a:latin typeface="+mj-lt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u="sng" dirty="0">
                <a:latin typeface="+mj-lt"/>
              </a:rPr>
              <a:t>Fibers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i="1" dirty="0">
                <a:latin typeface="+mj-lt"/>
              </a:rPr>
              <a:t>Small</a:t>
            </a:r>
            <a:r>
              <a:rPr lang="en-US" dirty="0">
                <a:latin typeface="+mj-lt"/>
              </a:rPr>
              <a:t> = </a:t>
            </a:r>
            <a:r>
              <a:rPr lang="en-US" b="1" dirty="0">
                <a:latin typeface="+mj-lt"/>
              </a:rPr>
              <a:t>Microfilaments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i="1" dirty="0">
                <a:latin typeface="+mj-lt"/>
              </a:rPr>
              <a:t>Medium</a:t>
            </a:r>
            <a:r>
              <a:rPr lang="en-US" dirty="0">
                <a:latin typeface="+mj-lt"/>
              </a:rPr>
              <a:t> = </a:t>
            </a:r>
            <a:r>
              <a:rPr lang="en-US" b="1" dirty="0">
                <a:latin typeface="+mj-lt"/>
              </a:rPr>
              <a:t>Intermediate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fibers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i="1" dirty="0">
                <a:latin typeface="+mj-lt"/>
              </a:rPr>
              <a:t>Large</a:t>
            </a:r>
            <a:r>
              <a:rPr lang="en-US" dirty="0">
                <a:latin typeface="+mj-lt"/>
              </a:rPr>
              <a:t> = </a:t>
            </a:r>
            <a:r>
              <a:rPr lang="en-US" b="1" dirty="0">
                <a:latin typeface="+mj-lt"/>
              </a:rPr>
              <a:t>Microtubules</a:t>
            </a:r>
          </a:p>
          <a:p>
            <a:pPr marL="400050" lvl="1" indent="0">
              <a:buNone/>
              <a:defRPr/>
            </a:pPr>
            <a:endParaRPr lang="en-US" sz="1000" b="1" u="sng" dirty="0">
              <a:latin typeface="+mj-lt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b="1" u="sng" dirty="0">
                <a:latin typeface="+mj-lt"/>
              </a:rPr>
              <a:t>Variations</a:t>
            </a:r>
            <a:r>
              <a:rPr lang="en-US" b="1" dirty="0">
                <a:latin typeface="+mj-lt"/>
              </a:rPr>
              <a:t>: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Mitotic Spindle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Flagella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Cilia</a:t>
            </a:r>
          </a:p>
          <a:p>
            <a:pPr marL="857250" lvl="1" indent="-457200">
              <a:buClr>
                <a:schemeClr val="tx2"/>
              </a:buClr>
              <a:buFont typeface="+mj-lt"/>
              <a:buAutoNum type="arabicParenR"/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Microvilli</a:t>
            </a:r>
          </a:p>
          <a:p>
            <a:pPr marL="857250" lvl="1" indent="-457200">
              <a:buFont typeface="Wingdings" pitchFamily="2" charset="2"/>
              <a:buChar char="§"/>
              <a:defRPr/>
            </a:pPr>
            <a:endParaRPr lang="en-US" b="1" dirty="0">
              <a:solidFill>
                <a:srgbClr val="FF0000"/>
              </a:solidFill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0" name="Picture 29" descr="Cilia are a modification of the cytoskeleton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5570" r="20267" b="24062"/>
          <a:stretch/>
        </p:blipFill>
        <p:spPr>
          <a:xfrm>
            <a:off x="4421188" y="3810000"/>
            <a:ext cx="4581525" cy="2819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4295DD-E86E-984B-B2E0-ACB8FB39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ORGANELLES: CYTOSKELETON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7353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3" y="1219200"/>
            <a:ext cx="8775700" cy="3352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b="1" u="sng" dirty="0">
                <a:latin typeface="+mj-lt"/>
              </a:rPr>
              <a:t>Function</a:t>
            </a:r>
            <a:r>
              <a:rPr lang="en-US" b="1" dirty="0">
                <a:latin typeface="+mj-lt"/>
              </a:rPr>
              <a:t> = Cell division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u="sng" dirty="0">
                <a:latin typeface="+mj-lt"/>
              </a:rPr>
              <a:t>Structure</a:t>
            </a:r>
            <a:r>
              <a:rPr lang="en-US" dirty="0">
                <a:latin typeface="+mj-lt"/>
              </a:rPr>
              <a:t> = </a:t>
            </a:r>
            <a:r>
              <a:rPr lang="en-US" b="1" dirty="0">
                <a:latin typeface="+mj-lt"/>
              </a:rPr>
              <a:t>Microtubules</a:t>
            </a:r>
            <a:r>
              <a:rPr lang="en-US" dirty="0">
                <a:latin typeface="+mj-lt"/>
              </a:rPr>
              <a:t> + </a:t>
            </a:r>
            <a:r>
              <a:rPr lang="en-US" b="1" dirty="0">
                <a:latin typeface="+mj-lt"/>
              </a:rPr>
              <a:t>Centrosomes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Centrosomes = 2 Cylinders perpendicular to each other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Each cylinder is called a </a:t>
            </a:r>
            <a:r>
              <a:rPr lang="en-US" b="1" i="1" dirty="0">
                <a:latin typeface="+mj-lt"/>
              </a:rPr>
              <a:t>centriole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Microtubules + Centrosomes together form the </a:t>
            </a:r>
            <a:r>
              <a:rPr lang="en-US" b="1" dirty="0">
                <a:latin typeface="+mj-lt"/>
              </a:rPr>
              <a:t>mitotic spindle </a:t>
            </a:r>
            <a:r>
              <a:rPr lang="en-US" dirty="0">
                <a:latin typeface="+mj-lt"/>
              </a:rPr>
              <a:t>during cell division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0000"/>
                </a:solidFill>
                <a:latin typeface="+mj-lt"/>
              </a:rPr>
              <a:t>The spindle moves the chromosomes (DNA) so that each new cell gets the right amount of genetic material</a:t>
            </a: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 descr="The mitotic spindle is formed from the cytoskeletal microtubules and centrosom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552013"/>
            <a:ext cx="2819400" cy="222908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822B901-FD4F-B942-BDA7-4F6FE099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MITOTIC SPINDLE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26674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7" descr="Cilia are modified forms of the cytoskeleton that produce beating movement.">
            <a:extLst>
              <a:ext uri="{FF2B5EF4-FFF2-40B4-BE49-F238E27FC236}">
                <a16:creationId xmlns:a16="http://schemas.microsoft.com/office/drawing/2014/main" id="{5B59024E-09C1-C646-A792-BA0491619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67" b="30884"/>
          <a:stretch/>
        </p:blipFill>
        <p:spPr bwMode="auto">
          <a:xfrm>
            <a:off x="304800" y="1382167"/>
            <a:ext cx="3962400" cy="353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51">
            <a:extLst>
              <a:ext uri="{FF2B5EF4-FFF2-40B4-BE49-F238E27FC236}">
                <a16:creationId xmlns:a16="http://schemas.microsoft.com/office/drawing/2014/main" id="{807A3071-AD98-8C47-86CB-2D6FF09BDF4D}"/>
              </a:ext>
            </a:extLst>
          </p:cNvPr>
          <p:cNvGrpSpPr>
            <a:grpSpLocks/>
          </p:cNvGrpSpPr>
          <p:nvPr/>
        </p:nvGrpSpPr>
        <p:grpSpPr bwMode="auto">
          <a:xfrm>
            <a:off x="3345300" y="4186822"/>
            <a:ext cx="308533" cy="260185"/>
            <a:chOff x="4700588" y="3651658"/>
            <a:chExt cx="371475" cy="309563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8E3F2A5F-10BF-8B47-8073-45A563759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675" y="3675471"/>
              <a:ext cx="306388" cy="285750"/>
            </a:xfrm>
            <a:custGeom>
              <a:avLst/>
              <a:gdLst/>
              <a:ahLst/>
              <a:cxnLst>
                <a:cxn ang="0">
                  <a:pos x="188" y="175"/>
                </a:cxn>
                <a:cxn ang="0">
                  <a:pos x="188" y="175"/>
                </a:cxn>
                <a:cxn ang="0">
                  <a:pos x="180" y="156"/>
                </a:cxn>
                <a:cxn ang="0">
                  <a:pos x="169" y="137"/>
                </a:cxn>
                <a:cxn ang="0">
                  <a:pos x="152" y="111"/>
                </a:cxn>
                <a:cxn ang="0">
                  <a:pos x="126" y="83"/>
                </a:cxn>
                <a:cxn ang="0">
                  <a:pos x="111" y="68"/>
                </a:cxn>
                <a:cxn ang="0">
                  <a:pos x="94" y="53"/>
                </a:cxn>
                <a:cxn ang="0">
                  <a:pos x="75" y="38"/>
                </a:cxn>
                <a:cxn ang="0">
                  <a:pos x="51" y="25"/>
                </a:cxn>
                <a:cxn ang="0">
                  <a:pos x="28" y="10"/>
                </a:cxn>
                <a:cxn ang="0">
                  <a:pos x="0" y="0"/>
                </a:cxn>
              </a:cxnLst>
              <a:rect l="0" t="0" r="r" b="b"/>
              <a:pathLst>
                <a:path w="188" h="175">
                  <a:moveTo>
                    <a:pt x="188" y="175"/>
                  </a:moveTo>
                  <a:lnTo>
                    <a:pt x="188" y="175"/>
                  </a:lnTo>
                  <a:lnTo>
                    <a:pt x="180" y="156"/>
                  </a:lnTo>
                  <a:lnTo>
                    <a:pt x="169" y="137"/>
                  </a:lnTo>
                  <a:lnTo>
                    <a:pt x="152" y="111"/>
                  </a:lnTo>
                  <a:lnTo>
                    <a:pt x="126" y="83"/>
                  </a:lnTo>
                  <a:lnTo>
                    <a:pt x="111" y="68"/>
                  </a:lnTo>
                  <a:lnTo>
                    <a:pt x="94" y="53"/>
                  </a:lnTo>
                  <a:lnTo>
                    <a:pt x="75" y="38"/>
                  </a:lnTo>
                  <a:lnTo>
                    <a:pt x="51" y="25"/>
                  </a:lnTo>
                  <a:lnTo>
                    <a:pt x="28" y="10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B9859419-9796-FB4D-92FF-139FA51D9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588" y="3651658"/>
              <a:ext cx="101600" cy="682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0"/>
                </a:cxn>
                <a:cxn ang="0">
                  <a:pos x="41" y="15"/>
                </a:cxn>
                <a:cxn ang="0">
                  <a:pos x="45" y="42"/>
                </a:cxn>
                <a:cxn ang="0">
                  <a:pos x="0" y="0"/>
                </a:cxn>
              </a:cxnLst>
              <a:rect l="0" t="0" r="r" b="b"/>
              <a:pathLst>
                <a:path w="62" h="42">
                  <a:moveTo>
                    <a:pt x="0" y="0"/>
                  </a:moveTo>
                  <a:lnTo>
                    <a:pt x="62" y="0"/>
                  </a:lnTo>
                  <a:lnTo>
                    <a:pt x="41" y="15"/>
                  </a:lnTo>
                  <a:lnTo>
                    <a:pt x="45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</p:grpSp>
      <p:grpSp>
        <p:nvGrpSpPr>
          <p:cNvPr id="10" name="Group 50">
            <a:extLst>
              <a:ext uri="{FF2B5EF4-FFF2-40B4-BE49-F238E27FC236}">
                <a16:creationId xmlns:a16="http://schemas.microsoft.com/office/drawing/2014/main" id="{397F4737-3861-1B4C-8B1E-7541668D2078}"/>
              </a:ext>
            </a:extLst>
          </p:cNvPr>
          <p:cNvGrpSpPr>
            <a:grpSpLocks/>
          </p:cNvGrpSpPr>
          <p:nvPr/>
        </p:nvGrpSpPr>
        <p:grpSpPr bwMode="auto">
          <a:xfrm>
            <a:off x="2560782" y="4134785"/>
            <a:ext cx="317763" cy="406955"/>
            <a:chOff x="3756025" y="3589746"/>
            <a:chExt cx="382588" cy="484187"/>
          </a:xfrm>
        </p:grpSpPr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C03DB391-C56A-4141-AB15-7476283FC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188" y="3589746"/>
              <a:ext cx="352425" cy="420687"/>
            </a:xfrm>
            <a:custGeom>
              <a:avLst/>
              <a:gdLst/>
              <a:ahLst/>
              <a:cxnLst>
                <a:cxn ang="0">
                  <a:pos x="216" y="0"/>
                </a:cxn>
                <a:cxn ang="0">
                  <a:pos x="216" y="0"/>
                </a:cxn>
                <a:cxn ang="0">
                  <a:pos x="210" y="2"/>
                </a:cxn>
                <a:cxn ang="0">
                  <a:pos x="188" y="11"/>
                </a:cxn>
                <a:cxn ang="0">
                  <a:pos x="158" y="26"/>
                </a:cxn>
                <a:cxn ang="0">
                  <a:pos x="139" y="39"/>
                </a:cxn>
                <a:cxn ang="0">
                  <a:pos x="122" y="52"/>
                </a:cxn>
                <a:cxn ang="0">
                  <a:pos x="103" y="67"/>
                </a:cxn>
                <a:cxn ang="0">
                  <a:pos x="84" y="86"/>
                </a:cxn>
                <a:cxn ang="0">
                  <a:pos x="66" y="105"/>
                </a:cxn>
                <a:cxn ang="0">
                  <a:pos x="49" y="129"/>
                </a:cxn>
                <a:cxn ang="0">
                  <a:pos x="34" y="157"/>
                </a:cxn>
                <a:cxn ang="0">
                  <a:pos x="19" y="187"/>
                </a:cxn>
                <a:cxn ang="0">
                  <a:pos x="9" y="219"/>
                </a:cxn>
                <a:cxn ang="0">
                  <a:pos x="0" y="257"/>
                </a:cxn>
              </a:cxnLst>
              <a:rect l="0" t="0" r="r" b="b"/>
              <a:pathLst>
                <a:path w="216" h="257">
                  <a:moveTo>
                    <a:pt x="216" y="0"/>
                  </a:moveTo>
                  <a:lnTo>
                    <a:pt x="216" y="0"/>
                  </a:lnTo>
                  <a:lnTo>
                    <a:pt x="210" y="2"/>
                  </a:lnTo>
                  <a:lnTo>
                    <a:pt x="188" y="11"/>
                  </a:lnTo>
                  <a:lnTo>
                    <a:pt x="158" y="26"/>
                  </a:lnTo>
                  <a:lnTo>
                    <a:pt x="139" y="39"/>
                  </a:lnTo>
                  <a:lnTo>
                    <a:pt x="122" y="52"/>
                  </a:lnTo>
                  <a:lnTo>
                    <a:pt x="103" y="67"/>
                  </a:lnTo>
                  <a:lnTo>
                    <a:pt x="84" y="86"/>
                  </a:lnTo>
                  <a:lnTo>
                    <a:pt x="66" y="105"/>
                  </a:lnTo>
                  <a:lnTo>
                    <a:pt x="49" y="129"/>
                  </a:lnTo>
                  <a:lnTo>
                    <a:pt x="34" y="157"/>
                  </a:lnTo>
                  <a:lnTo>
                    <a:pt x="19" y="187"/>
                  </a:lnTo>
                  <a:lnTo>
                    <a:pt x="9" y="219"/>
                  </a:lnTo>
                  <a:lnTo>
                    <a:pt x="0" y="257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1ED4EFB5-AD31-6740-8464-FAE24F274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3977096"/>
              <a:ext cx="73025" cy="96837"/>
            </a:xfrm>
            <a:custGeom>
              <a:avLst/>
              <a:gdLst/>
              <a:ahLst/>
              <a:cxnLst>
                <a:cxn ang="0">
                  <a:pos x="13" y="60"/>
                </a:cxn>
                <a:cxn ang="0">
                  <a:pos x="0" y="0"/>
                </a:cxn>
                <a:cxn ang="0">
                  <a:pos x="21" y="17"/>
                </a:cxn>
                <a:cxn ang="0">
                  <a:pos x="45" y="8"/>
                </a:cxn>
                <a:cxn ang="0">
                  <a:pos x="13" y="60"/>
                </a:cxn>
              </a:cxnLst>
              <a:rect l="0" t="0" r="r" b="b"/>
              <a:pathLst>
                <a:path w="45" h="60">
                  <a:moveTo>
                    <a:pt x="13" y="60"/>
                  </a:moveTo>
                  <a:lnTo>
                    <a:pt x="0" y="0"/>
                  </a:lnTo>
                  <a:lnTo>
                    <a:pt x="21" y="17"/>
                  </a:lnTo>
                  <a:lnTo>
                    <a:pt x="45" y="8"/>
                  </a:lnTo>
                  <a:lnTo>
                    <a:pt x="13" y="6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</p:grpSp>
      <p:grpSp>
        <p:nvGrpSpPr>
          <p:cNvPr id="11" name="Group 48">
            <a:extLst>
              <a:ext uri="{FF2B5EF4-FFF2-40B4-BE49-F238E27FC236}">
                <a16:creationId xmlns:a16="http://schemas.microsoft.com/office/drawing/2014/main" id="{777A5DA1-842E-6847-9B70-09D9C45BA9CF}"/>
              </a:ext>
            </a:extLst>
          </p:cNvPr>
          <p:cNvGrpSpPr>
            <a:grpSpLocks/>
          </p:cNvGrpSpPr>
          <p:nvPr/>
        </p:nvGrpSpPr>
        <p:grpSpPr bwMode="auto">
          <a:xfrm>
            <a:off x="590918" y="3974672"/>
            <a:ext cx="669807" cy="302881"/>
            <a:chOff x="1384316" y="3398444"/>
            <a:chExt cx="806434" cy="361166"/>
          </a:xfrm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3329DB71-757F-9246-838D-00022158D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16" y="3414354"/>
              <a:ext cx="739760" cy="345256"/>
            </a:xfrm>
            <a:custGeom>
              <a:avLst/>
              <a:gdLst/>
              <a:ahLst/>
              <a:cxnLst>
                <a:cxn ang="0">
                  <a:pos x="0" y="197"/>
                </a:cxn>
                <a:cxn ang="0">
                  <a:pos x="0" y="197"/>
                </a:cxn>
                <a:cxn ang="0">
                  <a:pos x="9" y="182"/>
                </a:cxn>
                <a:cxn ang="0">
                  <a:pos x="24" y="152"/>
                </a:cxn>
                <a:cxn ang="0">
                  <a:pos x="35" y="133"/>
                </a:cxn>
                <a:cxn ang="0">
                  <a:pos x="50" y="112"/>
                </a:cxn>
                <a:cxn ang="0">
                  <a:pos x="67" y="92"/>
                </a:cxn>
                <a:cxn ang="0">
                  <a:pos x="88" y="73"/>
                </a:cxn>
                <a:cxn ang="0">
                  <a:pos x="114" y="54"/>
                </a:cxn>
                <a:cxn ang="0">
                  <a:pos x="142" y="37"/>
                </a:cxn>
                <a:cxn ang="0">
                  <a:pos x="176" y="22"/>
                </a:cxn>
                <a:cxn ang="0">
                  <a:pos x="195" y="15"/>
                </a:cxn>
                <a:cxn ang="0">
                  <a:pos x="215" y="9"/>
                </a:cxn>
                <a:cxn ang="0">
                  <a:pos x="236" y="7"/>
                </a:cxn>
                <a:cxn ang="0">
                  <a:pos x="257" y="2"/>
                </a:cxn>
                <a:cxn ang="0">
                  <a:pos x="281" y="0"/>
                </a:cxn>
                <a:cxn ang="0">
                  <a:pos x="307" y="0"/>
                </a:cxn>
                <a:cxn ang="0">
                  <a:pos x="335" y="2"/>
                </a:cxn>
                <a:cxn ang="0">
                  <a:pos x="362" y="5"/>
                </a:cxn>
                <a:cxn ang="0">
                  <a:pos x="392" y="9"/>
                </a:cxn>
                <a:cxn ang="0">
                  <a:pos x="422" y="15"/>
                </a:cxn>
              </a:cxnLst>
              <a:rect l="0" t="0" r="r" b="b"/>
              <a:pathLst>
                <a:path w="422" h="197">
                  <a:moveTo>
                    <a:pt x="0" y="197"/>
                  </a:moveTo>
                  <a:lnTo>
                    <a:pt x="0" y="197"/>
                  </a:lnTo>
                  <a:lnTo>
                    <a:pt x="9" y="182"/>
                  </a:lnTo>
                  <a:lnTo>
                    <a:pt x="24" y="152"/>
                  </a:lnTo>
                  <a:lnTo>
                    <a:pt x="35" y="133"/>
                  </a:lnTo>
                  <a:lnTo>
                    <a:pt x="50" y="112"/>
                  </a:lnTo>
                  <a:lnTo>
                    <a:pt x="67" y="92"/>
                  </a:lnTo>
                  <a:lnTo>
                    <a:pt x="88" y="73"/>
                  </a:lnTo>
                  <a:lnTo>
                    <a:pt x="114" y="54"/>
                  </a:lnTo>
                  <a:lnTo>
                    <a:pt x="142" y="37"/>
                  </a:lnTo>
                  <a:lnTo>
                    <a:pt x="176" y="22"/>
                  </a:lnTo>
                  <a:lnTo>
                    <a:pt x="195" y="15"/>
                  </a:lnTo>
                  <a:lnTo>
                    <a:pt x="215" y="9"/>
                  </a:lnTo>
                  <a:lnTo>
                    <a:pt x="236" y="7"/>
                  </a:lnTo>
                  <a:lnTo>
                    <a:pt x="257" y="2"/>
                  </a:lnTo>
                  <a:lnTo>
                    <a:pt x="281" y="0"/>
                  </a:lnTo>
                  <a:lnTo>
                    <a:pt x="307" y="0"/>
                  </a:lnTo>
                  <a:lnTo>
                    <a:pt x="335" y="2"/>
                  </a:lnTo>
                  <a:lnTo>
                    <a:pt x="362" y="5"/>
                  </a:lnTo>
                  <a:lnTo>
                    <a:pt x="392" y="9"/>
                  </a:lnTo>
                  <a:lnTo>
                    <a:pt x="422" y="1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39EE0701-72EF-404C-810A-E34A04201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802" y="3398444"/>
              <a:ext cx="107948" cy="77961"/>
            </a:xfrm>
            <a:custGeom>
              <a:avLst/>
              <a:gdLst/>
              <a:ahLst/>
              <a:cxnLst>
                <a:cxn ang="0">
                  <a:pos x="62" y="34"/>
                </a:cxn>
                <a:cxn ang="0">
                  <a:pos x="0" y="45"/>
                </a:cxn>
                <a:cxn ang="0">
                  <a:pos x="19" y="25"/>
                </a:cxn>
                <a:cxn ang="0">
                  <a:pos x="11" y="0"/>
                </a:cxn>
                <a:cxn ang="0">
                  <a:pos x="62" y="34"/>
                </a:cxn>
              </a:cxnLst>
              <a:rect l="0" t="0" r="r" b="b"/>
              <a:pathLst>
                <a:path w="62" h="45">
                  <a:moveTo>
                    <a:pt x="62" y="34"/>
                  </a:moveTo>
                  <a:lnTo>
                    <a:pt x="0" y="45"/>
                  </a:lnTo>
                  <a:lnTo>
                    <a:pt x="19" y="25"/>
                  </a:lnTo>
                  <a:lnTo>
                    <a:pt x="11" y="0"/>
                  </a:lnTo>
                  <a:lnTo>
                    <a:pt x="62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</p:grpSp>
      <p:grpSp>
        <p:nvGrpSpPr>
          <p:cNvPr id="12" name="Group 49">
            <a:extLst>
              <a:ext uri="{FF2B5EF4-FFF2-40B4-BE49-F238E27FC236}">
                <a16:creationId xmlns:a16="http://schemas.microsoft.com/office/drawing/2014/main" id="{BCD7B693-4141-F244-BA9C-A87435AC2D89}"/>
              </a:ext>
            </a:extLst>
          </p:cNvPr>
          <p:cNvGrpSpPr>
            <a:grpSpLocks/>
          </p:cNvGrpSpPr>
          <p:nvPr/>
        </p:nvGrpSpPr>
        <p:grpSpPr bwMode="auto">
          <a:xfrm>
            <a:off x="1476961" y="4122776"/>
            <a:ext cx="251837" cy="149439"/>
            <a:chOff x="2451100" y="3575458"/>
            <a:chExt cx="303213" cy="177800"/>
          </a:xfrm>
        </p:grpSpPr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55495A50-927A-6442-98DA-03043C5FB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100" y="3575458"/>
              <a:ext cx="250825" cy="138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42" y="17"/>
                </a:cxn>
                <a:cxn ang="0">
                  <a:pos x="66" y="27"/>
                </a:cxn>
                <a:cxn ang="0">
                  <a:pos x="92" y="42"/>
                </a:cxn>
                <a:cxn ang="0">
                  <a:pos x="122" y="62"/>
                </a:cxn>
                <a:cxn ang="0">
                  <a:pos x="154" y="85"/>
                </a:cxn>
              </a:cxnLst>
              <a:rect l="0" t="0" r="r" b="b"/>
              <a:pathLst>
                <a:path w="154" h="85">
                  <a:moveTo>
                    <a:pt x="0" y="0"/>
                  </a:moveTo>
                  <a:lnTo>
                    <a:pt x="0" y="0"/>
                  </a:lnTo>
                  <a:lnTo>
                    <a:pt x="12" y="4"/>
                  </a:lnTo>
                  <a:lnTo>
                    <a:pt x="42" y="17"/>
                  </a:lnTo>
                  <a:lnTo>
                    <a:pt x="66" y="27"/>
                  </a:lnTo>
                  <a:lnTo>
                    <a:pt x="92" y="42"/>
                  </a:lnTo>
                  <a:lnTo>
                    <a:pt x="122" y="62"/>
                  </a:lnTo>
                  <a:lnTo>
                    <a:pt x="154" y="8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1E96167F-D951-2143-AB91-97DC67E01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650" y="3667533"/>
              <a:ext cx="93663" cy="85725"/>
            </a:xfrm>
            <a:custGeom>
              <a:avLst/>
              <a:gdLst/>
              <a:ahLst/>
              <a:cxnLst>
                <a:cxn ang="0">
                  <a:pos x="58" y="52"/>
                </a:cxn>
                <a:cxn ang="0">
                  <a:pos x="0" y="37"/>
                </a:cxn>
                <a:cxn ang="0">
                  <a:pos x="24" y="26"/>
                </a:cxn>
                <a:cxn ang="0">
                  <a:pos x="28" y="0"/>
                </a:cxn>
                <a:cxn ang="0">
                  <a:pos x="58" y="52"/>
                </a:cxn>
              </a:cxnLst>
              <a:rect l="0" t="0" r="r" b="b"/>
              <a:pathLst>
                <a:path w="58" h="52">
                  <a:moveTo>
                    <a:pt x="58" y="52"/>
                  </a:moveTo>
                  <a:lnTo>
                    <a:pt x="0" y="37"/>
                  </a:lnTo>
                  <a:lnTo>
                    <a:pt x="24" y="26"/>
                  </a:lnTo>
                  <a:lnTo>
                    <a:pt x="28" y="0"/>
                  </a:lnTo>
                  <a:lnTo>
                    <a:pt x="58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</p:grpSp>
      <p:grpSp>
        <p:nvGrpSpPr>
          <p:cNvPr id="13" name="Group 47">
            <a:extLst>
              <a:ext uri="{FF2B5EF4-FFF2-40B4-BE49-F238E27FC236}">
                <a16:creationId xmlns:a16="http://schemas.microsoft.com/office/drawing/2014/main" id="{D97408B4-7CA3-1F46-98FD-F0CC1B8C29DF}"/>
              </a:ext>
            </a:extLst>
          </p:cNvPr>
          <p:cNvGrpSpPr>
            <a:grpSpLocks/>
          </p:cNvGrpSpPr>
          <p:nvPr/>
        </p:nvGrpSpPr>
        <p:grpSpPr bwMode="auto">
          <a:xfrm>
            <a:off x="1785494" y="2156049"/>
            <a:ext cx="1057451" cy="241505"/>
            <a:chOff x="2597150" y="1393825"/>
            <a:chExt cx="1312863" cy="295275"/>
          </a:xfrm>
        </p:grpSpPr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99B80161-738F-DC43-A8CE-0688F0BCF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0" y="1424821"/>
              <a:ext cx="1245747" cy="264279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0" y="79"/>
                </a:cxn>
                <a:cxn ang="0">
                  <a:pos x="43" y="98"/>
                </a:cxn>
                <a:cxn ang="0">
                  <a:pos x="86" y="116"/>
                </a:cxn>
                <a:cxn ang="0">
                  <a:pos x="129" y="131"/>
                </a:cxn>
                <a:cxn ang="0">
                  <a:pos x="174" y="143"/>
                </a:cxn>
                <a:cxn ang="0">
                  <a:pos x="219" y="152"/>
                </a:cxn>
                <a:cxn ang="0">
                  <a:pos x="242" y="154"/>
                </a:cxn>
                <a:cxn ang="0">
                  <a:pos x="264" y="156"/>
                </a:cxn>
                <a:cxn ang="0">
                  <a:pos x="287" y="154"/>
                </a:cxn>
                <a:cxn ang="0">
                  <a:pos x="311" y="154"/>
                </a:cxn>
                <a:cxn ang="0">
                  <a:pos x="334" y="150"/>
                </a:cxn>
                <a:cxn ang="0">
                  <a:pos x="360" y="146"/>
                </a:cxn>
                <a:cxn ang="0">
                  <a:pos x="360" y="146"/>
                </a:cxn>
                <a:cxn ang="0">
                  <a:pos x="405" y="131"/>
                </a:cxn>
                <a:cxn ang="0">
                  <a:pos x="450" y="116"/>
                </a:cxn>
                <a:cxn ang="0">
                  <a:pos x="495" y="96"/>
                </a:cxn>
                <a:cxn ang="0">
                  <a:pos x="542" y="75"/>
                </a:cxn>
                <a:cxn ang="0">
                  <a:pos x="589" y="56"/>
                </a:cxn>
                <a:cxn ang="0">
                  <a:pos x="638" y="34"/>
                </a:cxn>
                <a:cxn ang="0">
                  <a:pos x="690" y="15"/>
                </a:cxn>
                <a:cxn ang="0">
                  <a:pos x="741" y="0"/>
                </a:cxn>
              </a:cxnLst>
              <a:rect l="0" t="0" r="r" b="b"/>
              <a:pathLst>
                <a:path w="741" h="156">
                  <a:moveTo>
                    <a:pt x="0" y="79"/>
                  </a:moveTo>
                  <a:lnTo>
                    <a:pt x="0" y="79"/>
                  </a:lnTo>
                  <a:lnTo>
                    <a:pt x="43" y="98"/>
                  </a:lnTo>
                  <a:lnTo>
                    <a:pt x="86" y="116"/>
                  </a:lnTo>
                  <a:lnTo>
                    <a:pt x="129" y="131"/>
                  </a:lnTo>
                  <a:lnTo>
                    <a:pt x="174" y="143"/>
                  </a:lnTo>
                  <a:lnTo>
                    <a:pt x="219" y="152"/>
                  </a:lnTo>
                  <a:lnTo>
                    <a:pt x="242" y="154"/>
                  </a:lnTo>
                  <a:lnTo>
                    <a:pt x="264" y="156"/>
                  </a:lnTo>
                  <a:lnTo>
                    <a:pt x="287" y="154"/>
                  </a:lnTo>
                  <a:lnTo>
                    <a:pt x="311" y="154"/>
                  </a:lnTo>
                  <a:lnTo>
                    <a:pt x="334" y="150"/>
                  </a:lnTo>
                  <a:lnTo>
                    <a:pt x="360" y="146"/>
                  </a:lnTo>
                  <a:lnTo>
                    <a:pt x="360" y="146"/>
                  </a:lnTo>
                  <a:lnTo>
                    <a:pt x="405" y="131"/>
                  </a:lnTo>
                  <a:lnTo>
                    <a:pt x="450" y="116"/>
                  </a:lnTo>
                  <a:lnTo>
                    <a:pt x="495" y="96"/>
                  </a:lnTo>
                  <a:lnTo>
                    <a:pt x="542" y="75"/>
                  </a:lnTo>
                  <a:lnTo>
                    <a:pt x="589" y="56"/>
                  </a:lnTo>
                  <a:lnTo>
                    <a:pt x="638" y="34"/>
                  </a:lnTo>
                  <a:lnTo>
                    <a:pt x="690" y="15"/>
                  </a:lnTo>
                  <a:lnTo>
                    <a:pt x="741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473D4685-9342-144D-B7CB-927A1C09D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520" y="1393825"/>
              <a:ext cx="101493" cy="76674"/>
            </a:xfrm>
            <a:custGeom>
              <a:avLst/>
              <a:gdLst/>
              <a:ahLst/>
              <a:cxnLst>
                <a:cxn ang="0">
                  <a:pos x="60" y="8"/>
                </a:cxn>
                <a:cxn ang="0">
                  <a:pos x="13" y="45"/>
                </a:cxn>
                <a:cxn ang="0">
                  <a:pos x="19" y="19"/>
                </a:cxn>
                <a:cxn ang="0">
                  <a:pos x="0" y="0"/>
                </a:cxn>
                <a:cxn ang="0">
                  <a:pos x="60" y="8"/>
                </a:cxn>
              </a:cxnLst>
              <a:rect l="0" t="0" r="r" b="b"/>
              <a:pathLst>
                <a:path w="60" h="45">
                  <a:moveTo>
                    <a:pt x="60" y="8"/>
                  </a:moveTo>
                  <a:lnTo>
                    <a:pt x="13" y="45"/>
                  </a:lnTo>
                  <a:lnTo>
                    <a:pt x="19" y="19"/>
                  </a:lnTo>
                  <a:lnTo>
                    <a:pt x="0" y="0"/>
                  </a:lnTo>
                  <a:lnTo>
                    <a:pt x="6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sz="1800" b="1">
                <a:latin typeface="+mj-lt"/>
              </a:endParaRPr>
            </a:p>
          </p:txBody>
        </p:sp>
      </p:grpSp>
      <p:sp>
        <p:nvSpPr>
          <p:cNvPr id="17" name="TextBox 168">
            <a:extLst>
              <a:ext uri="{FF2B5EF4-FFF2-40B4-BE49-F238E27FC236}">
                <a16:creationId xmlns:a16="http://schemas.microsoft.com/office/drawing/2014/main" id="{26B22AAB-F1F4-1149-AB68-15F3259B6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25" y="1706397"/>
            <a:ext cx="1667703" cy="18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100" b="1" dirty="0"/>
              <a:t>Goblet cell (secretes mucus)</a:t>
            </a:r>
          </a:p>
        </p:txBody>
      </p:sp>
      <p:sp>
        <p:nvSpPr>
          <p:cNvPr id="18" name="TextBox 169">
            <a:extLst>
              <a:ext uri="{FF2B5EF4-FFF2-40B4-BE49-F238E27FC236}">
                <a16:creationId xmlns:a16="http://schemas.microsoft.com/office/drawing/2014/main" id="{E5710B2C-17BD-EC45-8891-11F69B54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887" y="1943899"/>
            <a:ext cx="913732" cy="17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100" b="1"/>
              <a:t>Layer of mucus</a:t>
            </a:r>
          </a:p>
        </p:txBody>
      </p:sp>
      <p:sp>
        <p:nvSpPr>
          <p:cNvPr id="19" name="TextBox 170">
            <a:extLst>
              <a:ext uri="{FF2B5EF4-FFF2-40B4-BE49-F238E27FC236}">
                <a16:creationId xmlns:a16="http://schemas.microsoft.com/office/drawing/2014/main" id="{655A8BD5-583F-3249-9ACE-87C4667C2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84" y="4936687"/>
            <a:ext cx="800340" cy="17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100" b="1" dirty="0"/>
              <a:t>Power Stroke</a:t>
            </a:r>
          </a:p>
        </p:txBody>
      </p:sp>
      <p:sp>
        <p:nvSpPr>
          <p:cNvPr id="20" name="TextBox 171">
            <a:extLst>
              <a:ext uri="{FF2B5EF4-FFF2-40B4-BE49-F238E27FC236}">
                <a16:creationId xmlns:a16="http://schemas.microsoft.com/office/drawing/2014/main" id="{B32DFD48-5219-B547-B60E-AEBA9C57D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5137" y="4936687"/>
            <a:ext cx="826710" cy="17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N" altLang="en-US" sz="1100" b="1" dirty="0"/>
              <a:t>Return Stroke</a:t>
            </a: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F37DE9CF-632C-2649-AEE0-34EF59AE3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969" y="1889193"/>
            <a:ext cx="1318" cy="776550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22" name="Line 17">
            <a:extLst>
              <a:ext uri="{FF2B5EF4-FFF2-40B4-BE49-F238E27FC236}">
                <a16:creationId xmlns:a16="http://schemas.microsoft.com/office/drawing/2014/main" id="{AA27B966-D7CB-BA4D-9002-6AEE7B4B3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042" y="2118689"/>
            <a:ext cx="1319" cy="229496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26" name="Line 16">
            <a:extLst>
              <a:ext uri="{FF2B5EF4-FFF2-40B4-BE49-F238E27FC236}">
                <a16:creationId xmlns:a16="http://schemas.microsoft.com/office/drawing/2014/main" id="{C12EC73D-4F19-5A43-AC50-06F30792E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969" y="1889193"/>
            <a:ext cx="1318" cy="77655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27" name="Line 17">
            <a:extLst>
              <a:ext uri="{FF2B5EF4-FFF2-40B4-BE49-F238E27FC236}">
                <a16:creationId xmlns:a16="http://schemas.microsoft.com/office/drawing/2014/main" id="{42A7A24D-1808-9547-87AF-F585EDA7A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042" y="2118689"/>
            <a:ext cx="1319" cy="22949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78B6807F-1F1E-204D-B4EE-5388A2045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6114" y="1645020"/>
            <a:ext cx="238652" cy="13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100" b="1" dirty="0">
                <a:solidFill>
                  <a:srgbClr val="000000"/>
                </a:solidFill>
                <a:latin typeface="+mj-lt"/>
              </a:rPr>
              <a:t>Cilia</a:t>
            </a:r>
            <a:endParaRPr lang="en-US" sz="1800" b="1" dirty="0">
              <a:latin typeface="+mj-lt"/>
            </a:endParaRPr>
          </a:p>
        </p:txBody>
      </p:sp>
      <p:sp>
        <p:nvSpPr>
          <p:cNvPr id="32" name="Line 21">
            <a:extLst>
              <a:ext uri="{FF2B5EF4-FFF2-40B4-BE49-F238E27FC236}">
                <a16:creationId xmlns:a16="http://schemas.microsoft.com/office/drawing/2014/main" id="{DD8FF6B1-AFAD-864E-AA83-7593367C7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943" y="1814473"/>
            <a:ext cx="63289" cy="559063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33" name="Line 20">
            <a:extLst>
              <a:ext uri="{FF2B5EF4-FFF2-40B4-BE49-F238E27FC236}">
                <a16:creationId xmlns:a16="http://schemas.microsoft.com/office/drawing/2014/main" id="{C9618CC0-A85C-DA45-BA40-5B05E3571D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79506" y="1819811"/>
            <a:ext cx="19778" cy="553726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34" name="Line 21">
            <a:extLst>
              <a:ext uri="{FF2B5EF4-FFF2-40B4-BE49-F238E27FC236}">
                <a16:creationId xmlns:a16="http://schemas.microsoft.com/office/drawing/2014/main" id="{C1F7842D-3165-9745-96E3-1F9769D47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943" y="1802465"/>
            <a:ext cx="72519" cy="57107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35" name="Line 20">
            <a:extLst>
              <a:ext uri="{FF2B5EF4-FFF2-40B4-BE49-F238E27FC236}">
                <a16:creationId xmlns:a16="http://schemas.microsoft.com/office/drawing/2014/main" id="{3DB20217-BEAE-364D-9B37-A514D8585F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83462" y="1798462"/>
            <a:ext cx="15822" cy="57507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46" name="Line 6">
            <a:extLst>
              <a:ext uri="{FF2B5EF4-FFF2-40B4-BE49-F238E27FC236}">
                <a16:creationId xmlns:a16="http://schemas.microsoft.com/office/drawing/2014/main" id="{63B720FB-7EE0-7A4B-8182-88C4C3ED5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07E10240-1AAC-7944-88F2-A0EF7336A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5408173"/>
            <a:ext cx="4429155" cy="95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400" b="1" kern="0" dirty="0">
                <a:latin typeface="+mj-lt"/>
              </a:rPr>
              <a:t>CILIA</a:t>
            </a:r>
            <a:r>
              <a:rPr lang="en-US" sz="2400" kern="0" dirty="0">
                <a:latin typeface="+mj-lt"/>
              </a:rPr>
              <a:t> = </a:t>
            </a:r>
            <a:r>
              <a:rPr lang="en-US" sz="2400" i="1" kern="0" dirty="0">
                <a:latin typeface="+mj-lt"/>
              </a:rPr>
              <a:t>Beating </a:t>
            </a:r>
            <a:r>
              <a:rPr lang="en-US" sz="2400" i="1" kern="0" dirty="0">
                <a:solidFill>
                  <a:srgbClr val="FF0000"/>
                </a:solidFill>
                <a:latin typeface="+mj-lt"/>
              </a:rPr>
              <a:t>movement</a:t>
            </a:r>
          </a:p>
        </p:txBody>
      </p:sp>
      <p:pic>
        <p:nvPicPr>
          <p:cNvPr id="51" name="Picture 47" descr="Flagella are modified forms of the cytoskeleton that produce directional movement, much like a tail.">
            <a:extLst>
              <a:ext uri="{FF2B5EF4-FFF2-40B4-BE49-F238E27FC236}">
                <a16:creationId xmlns:a16="http://schemas.microsoft.com/office/drawing/2014/main" id="{BEC757F1-493E-3249-A760-2CDF640A3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89" r="31617"/>
          <a:stretch/>
        </p:blipFill>
        <p:spPr bwMode="auto">
          <a:xfrm>
            <a:off x="4945947" y="1906544"/>
            <a:ext cx="4012315" cy="130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Rectangle 48">
            <a:extLst>
              <a:ext uri="{FF2B5EF4-FFF2-40B4-BE49-F238E27FC236}">
                <a16:creationId xmlns:a16="http://schemas.microsoft.com/office/drawing/2014/main" id="{AB04F74E-AB83-0343-B481-BED92B735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1484" y="3168772"/>
            <a:ext cx="530044" cy="13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100" b="1" dirty="0">
                <a:solidFill>
                  <a:srgbClr val="000000"/>
                </a:solidFill>
                <a:latin typeface="+mj-lt"/>
              </a:rPr>
              <a:t>Flagellum</a:t>
            </a:r>
            <a:endParaRPr lang="en-US" sz="1800" b="1" dirty="0">
              <a:latin typeface="+mj-lt"/>
            </a:endParaRPr>
          </a:p>
        </p:txBody>
      </p:sp>
      <p:sp>
        <p:nvSpPr>
          <p:cNvPr id="59" name="Rectangle 49">
            <a:extLst>
              <a:ext uri="{FF2B5EF4-FFF2-40B4-BE49-F238E27FC236}">
                <a16:creationId xmlns:a16="http://schemas.microsoft.com/office/drawing/2014/main" id="{5CBA05E3-A9C2-7346-9B3D-75DA713DE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113" y="2843207"/>
            <a:ext cx="593333" cy="13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100" b="1" dirty="0">
                <a:solidFill>
                  <a:srgbClr val="000000"/>
                </a:solidFill>
                <a:latin typeface="+mj-lt"/>
              </a:rPr>
              <a:t>SEM 6000x</a:t>
            </a:r>
            <a:endParaRPr lang="en-US" sz="1800" b="1" dirty="0">
              <a:latin typeface="+mj-lt"/>
            </a:endParaRPr>
          </a:p>
        </p:txBody>
      </p:sp>
      <p:sp>
        <p:nvSpPr>
          <p:cNvPr id="69" name="Line 27">
            <a:extLst>
              <a:ext uri="{FF2B5EF4-FFF2-40B4-BE49-F238E27FC236}">
                <a16:creationId xmlns:a16="http://schemas.microsoft.com/office/drawing/2014/main" id="{53C4EA35-493B-F84A-A7A1-8A7299CD7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5188" y="2563008"/>
            <a:ext cx="0" cy="596423"/>
          </a:xfrm>
          <a:prstGeom prst="line">
            <a:avLst/>
          </a:prstGeom>
          <a:noFill/>
          <a:ln w="28575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AD19DC5A-24C0-9F47-8C7E-A787C7B13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5187" y="2563008"/>
            <a:ext cx="0" cy="58041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IN" sz="1800" b="1">
              <a:latin typeface="+mj-lt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B36D9B8B-07E2-9846-933A-13377E8FC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511" y="3384459"/>
            <a:ext cx="4771320" cy="95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200" b="1" kern="0" dirty="0">
                <a:latin typeface="+mj-lt"/>
              </a:rPr>
              <a:t>FLAGELLA </a:t>
            </a:r>
            <a:r>
              <a:rPr lang="en-US" sz="2200" kern="0" dirty="0">
                <a:latin typeface="+mj-lt"/>
              </a:rPr>
              <a:t>= </a:t>
            </a:r>
            <a:r>
              <a:rPr lang="en-US" sz="2200" i="1" kern="0" dirty="0">
                <a:latin typeface="+mj-lt"/>
              </a:rPr>
              <a:t>Directional </a:t>
            </a:r>
            <a:r>
              <a:rPr lang="en-US" sz="2200" i="1" kern="0" dirty="0">
                <a:solidFill>
                  <a:srgbClr val="FF0000"/>
                </a:solidFill>
                <a:latin typeface="+mj-lt"/>
              </a:rPr>
              <a:t>movement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D0F2B76E-D491-414E-8CC4-E5789C08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ORGANELLES: CYTOSKELETON</a:t>
            </a:r>
            <a:endParaRPr lang="en-US" sz="4000" dirty="0"/>
          </a:p>
        </p:txBody>
      </p:sp>
      <p:pic>
        <p:nvPicPr>
          <p:cNvPr id="2" name="Picture 1" descr="Microovilli are modified cytoskeletal elements that increase the surface area of the cell.">
            <a:extLst>
              <a:ext uri="{FF2B5EF4-FFF2-40B4-BE49-F238E27FC236}">
                <a16:creationId xmlns:a16="http://schemas.microsoft.com/office/drawing/2014/main" id="{2939B99C-069A-D24F-8853-00773A43C3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75" t="21304" r="9959" b="16062"/>
          <a:stretch/>
        </p:blipFill>
        <p:spPr>
          <a:xfrm>
            <a:off x="5668744" y="4026555"/>
            <a:ext cx="2581913" cy="2145645"/>
          </a:xfrm>
          <a:prstGeom prst="rect">
            <a:avLst/>
          </a:prstGeom>
        </p:spPr>
      </p:pic>
      <p:sp>
        <p:nvSpPr>
          <p:cNvPr id="47" name="Rectangle 3">
            <a:extLst>
              <a:ext uri="{FF2B5EF4-FFF2-40B4-BE49-F238E27FC236}">
                <a16:creationId xmlns:a16="http://schemas.microsoft.com/office/drawing/2014/main" id="{7F3057C6-2287-4548-92E2-C6D4DABF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4766" y="6324600"/>
            <a:ext cx="5074684" cy="958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200" b="1" kern="0" dirty="0">
                <a:latin typeface="+mj-lt"/>
              </a:rPr>
              <a:t>MICROVILLI </a:t>
            </a:r>
            <a:r>
              <a:rPr lang="en-US" sz="2200" kern="0" dirty="0">
                <a:latin typeface="+mj-lt"/>
              </a:rPr>
              <a:t>= </a:t>
            </a:r>
            <a:r>
              <a:rPr lang="en-US" sz="2200" i="1" kern="0" dirty="0">
                <a:latin typeface="+mj-lt"/>
              </a:rPr>
              <a:t>Increase </a:t>
            </a:r>
            <a:r>
              <a:rPr lang="en-US" sz="2200" i="1" kern="0" dirty="0">
                <a:solidFill>
                  <a:srgbClr val="FF0000"/>
                </a:solidFill>
                <a:latin typeface="+mj-lt"/>
              </a:rPr>
              <a:t>surface area</a:t>
            </a:r>
          </a:p>
        </p:txBody>
      </p:sp>
    </p:spTree>
    <p:extLst>
      <p:ext uri="{BB962C8B-B14F-4D97-AF65-F5344CB8AC3E}">
        <p14:creationId xmlns:p14="http://schemas.microsoft.com/office/powerpoint/2010/main" val="3232727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pic>
        <p:nvPicPr>
          <p:cNvPr id="4" name="Picture 3" descr="A patient is sick with pneumoni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30" y="1066799"/>
            <a:ext cx="4393621" cy="5809343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2400" y="1219200"/>
            <a:ext cx="57912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Enrique has </a:t>
            </a:r>
            <a:r>
              <a:rPr lang="en-US" b="1" i="1" dirty="0" err="1">
                <a:latin typeface="+mj-ea"/>
                <a:ea typeface="+mj-ea"/>
              </a:rPr>
              <a:t>Situs</a:t>
            </a:r>
            <a:r>
              <a:rPr lang="en-US" b="1" i="1" dirty="0">
                <a:latin typeface="+mj-ea"/>
                <a:ea typeface="+mj-ea"/>
              </a:rPr>
              <a:t> </a:t>
            </a:r>
            <a:r>
              <a:rPr lang="en-US" b="1" i="1" dirty="0" err="1">
                <a:latin typeface="+mj-ea"/>
                <a:ea typeface="+mj-ea"/>
              </a:rPr>
              <a:t>Inversus</a:t>
            </a:r>
            <a:endParaRPr lang="en-US" b="1" i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Enrique is frequently sick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Runny nose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Cough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Ear infections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This time, Enrique is diagnosed with </a:t>
            </a:r>
            <a:r>
              <a:rPr lang="en-US" i="1" dirty="0">
                <a:latin typeface="+mj-ea"/>
                <a:ea typeface="+mj-ea"/>
              </a:rPr>
              <a:t>pneumonia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b="1" i="1" dirty="0">
                <a:latin typeface="+mj-ea"/>
                <a:ea typeface="+mj-ea"/>
              </a:rPr>
              <a:t>He does NOT have the plasma membrane disease, Cystic Fibrosis</a:t>
            </a:r>
          </a:p>
          <a:p>
            <a:pPr marL="0" indent="0" eaLnBrk="1" hangingPunct="1">
              <a:buNone/>
            </a:pPr>
            <a:endParaRPr lang="en-US" dirty="0">
              <a:latin typeface="+mj-ea"/>
              <a:ea typeface="+mj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5A6B48-F8FF-F14E-844E-CDA73D84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78" y="-76201"/>
            <a:ext cx="7313612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+mj-ea"/>
                <a:cs typeface="ＭＳ Ｐゴシック" charset="0"/>
              </a:rPr>
              <a:t>CASE STUDY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8120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219200"/>
            <a:ext cx="89916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Doctors now suspect Enrique may have </a:t>
            </a:r>
            <a:r>
              <a:rPr lang="en-US" b="1" u="sng" dirty="0">
                <a:latin typeface="+mj-lt"/>
              </a:rPr>
              <a:t>Primary </a:t>
            </a:r>
            <a:r>
              <a:rPr lang="en-US" b="1" u="sng" dirty="0" err="1">
                <a:latin typeface="+mj-lt"/>
              </a:rPr>
              <a:t>Ciliary</a:t>
            </a:r>
            <a:r>
              <a:rPr lang="en-US" b="1" u="sng" dirty="0">
                <a:latin typeface="+mj-lt"/>
              </a:rPr>
              <a:t> Dyskinesia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PCD = Cells make non-functional cilia</a:t>
            </a:r>
          </a:p>
          <a:p>
            <a:pPr marL="457200" lvl="1" indent="0" eaLnBrk="1" hangingPunct="1">
              <a:buNone/>
            </a:pPr>
            <a:endParaRPr lang="en-US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b="1" i="1" dirty="0">
                <a:latin typeface="+mj-lt"/>
              </a:rPr>
              <a:t>Discuss with your Neighbor: </a:t>
            </a:r>
            <a:r>
              <a:rPr lang="en-US" i="1" dirty="0">
                <a:latin typeface="+mj-lt"/>
              </a:rPr>
              <a:t>How could cilia problems cause runny nose, cough, and pneumonia?</a:t>
            </a:r>
          </a:p>
          <a:p>
            <a:pPr marL="0" indent="0" eaLnBrk="1" hangingPunct="1">
              <a:buNone/>
            </a:pPr>
            <a:endParaRPr lang="en-US" dirty="0">
              <a:latin typeface="+mj-lt"/>
            </a:endParaRPr>
          </a:p>
        </p:txBody>
      </p:sp>
      <p:pic>
        <p:nvPicPr>
          <p:cNvPr id="7" name="Picture 6" descr="Primary ciliary dyskinesia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4" t="5570" r="20267" b="24062"/>
          <a:stretch/>
        </p:blipFill>
        <p:spPr>
          <a:xfrm>
            <a:off x="2743200" y="4343400"/>
            <a:ext cx="3733800" cy="229772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45083E4-2603-9349-B443-C43471D0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78" y="-76201"/>
            <a:ext cx="7313612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+mj-ea"/>
                <a:cs typeface="ＭＳ Ｐゴシック" charset="0"/>
              </a:rPr>
              <a:t>CASE STUDY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58813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143000"/>
            <a:ext cx="89916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image on the left shows normal cilia on a sinus cell, the image on the right shows the cilia on Enrique’s upper respiratory cells</a:t>
            </a:r>
          </a:p>
        </p:txBody>
      </p:sp>
      <p:pic>
        <p:nvPicPr>
          <p:cNvPr id="3" name="Picture 2" descr="Primary ciliary dyskinesia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906" y="2743200"/>
            <a:ext cx="6061494" cy="2590800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828800" y="5257800"/>
            <a:ext cx="2438400" cy="685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2400" dirty="0">
                <a:latin typeface="+mj-lt"/>
              </a:rPr>
              <a:t>Normal cilia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029200" y="5257800"/>
            <a:ext cx="2438400" cy="685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2400" dirty="0">
                <a:latin typeface="+mj-lt"/>
              </a:rPr>
              <a:t>Enrique’s cilia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6096000"/>
            <a:ext cx="9144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  <a:defRPr/>
            </a:pPr>
            <a:r>
              <a:rPr lang="en-US" sz="3200" b="1" i="1" dirty="0">
                <a:solidFill>
                  <a:srgbClr val="000000"/>
                </a:solidFill>
                <a:latin typeface="+mj-lt"/>
              </a:rPr>
              <a:t>What is different about Enrique’s cilia?</a:t>
            </a:r>
          </a:p>
          <a:p>
            <a:pPr algn="ctr" eaLnBrk="1" hangingPunct="1">
              <a:buFont typeface="Wingdings" pitchFamily="2" charset="2"/>
              <a:buChar char="§"/>
            </a:pPr>
            <a:endParaRPr lang="en-US" sz="3200" b="1" dirty="0">
              <a:latin typeface="+mj-lt"/>
            </a:endParaRPr>
          </a:p>
          <a:p>
            <a:pPr algn="ctr" eaLnBrk="1" hangingPunct="1">
              <a:buFont typeface="Wingdings" pitchFamily="2" charset="2"/>
              <a:buChar char="§"/>
            </a:pPr>
            <a:endParaRPr lang="en-US" sz="3200" b="1" dirty="0">
              <a:latin typeface="+mj-lt"/>
            </a:endParaRPr>
          </a:p>
          <a:p>
            <a:pPr algn="ctr" eaLnBrk="1" hangingPunct="1">
              <a:buFont typeface="Wingdings" pitchFamily="2" charset="2"/>
              <a:buChar char="§"/>
            </a:pPr>
            <a:endParaRPr lang="en-US" sz="3200" b="1" dirty="0">
              <a:latin typeface="+mj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647A43-F445-6648-94F6-1568E8B1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78" y="-76201"/>
            <a:ext cx="7313612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+mj-ea"/>
                <a:cs typeface="ＭＳ Ｐゴシック" charset="0"/>
              </a:rPr>
              <a:t>CASE STUDY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16201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1219200"/>
            <a:ext cx="89916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i="1" dirty="0">
                <a:latin typeface="+mj-lt"/>
              </a:rPr>
              <a:t>Enrique can live with PCD, but will continue to suffer from frequent respiratory infections</a:t>
            </a:r>
          </a:p>
          <a:p>
            <a:pPr marL="0" indent="0" eaLnBrk="1" hangingPunct="1">
              <a:buNone/>
            </a:pPr>
            <a:endParaRPr lang="en-US" i="1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about </a:t>
            </a:r>
            <a:r>
              <a:rPr lang="en-US" dirty="0" err="1">
                <a:latin typeface="+mj-lt"/>
              </a:rPr>
              <a:t>Situs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Inversus</a:t>
            </a:r>
            <a:r>
              <a:rPr lang="en-US" dirty="0">
                <a:latin typeface="+mj-lt"/>
              </a:rPr>
              <a:t>?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Cilia play a role in organ placement during embryonic development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b="1" dirty="0">
                <a:latin typeface="+mj-lt"/>
              </a:rPr>
              <a:t>If cilia are non-functional, organ placement becomes random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People with Primary </a:t>
            </a:r>
            <a:r>
              <a:rPr lang="en-US" dirty="0" err="1">
                <a:latin typeface="+mj-lt"/>
              </a:rPr>
              <a:t>Ciliary</a:t>
            </a:r>
            <a:r>
              <a:rPr lang="en-US" dirty="0">
                <a:latin typeface="+mj-lt"/>
              </a:rPr>
              <a:t> Dyskinesia have a 50% chance of having </a:t>
            </a:r>
            <a:r>
              <a:rPr lang="en-US" i="1" dirty="0" err="1">
                <a:latin typeface="+mj-lt"/>
              </a:rPr>
              <a:t>Situs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Inversus</a:t>
            </a:r>
            <a:endParaRPr lang="en-US" i="1" dirty="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F6F2C0-D07F-FF4B-B76D-B93964EFE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78" y="-76201"/>
            <a:ext cx="7313612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+mj-ea"/>
                <a:cs typeface="ＭＳ Ｐゴシック" charset="0"/>
              </a:rPr>
              <a:t>CASE STUDY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05646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82562" y="1371600"/>
            <a:ext cx="8504237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b="1" u="sng" dirty="0">
                <a:latin typeface="+mj-lt"/>
              </a:rPr>
              <a:t>Function</a:t>
            </a:r>
            <a:r>
              <a:rPr lang="en-US" sz="2800" b="1" dirty="0">
                <a:latin typeface="+mj-lt"/>
              </a:rPr>
              <a:t> = Control protein synthesis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rgbClr val="000000"/>
                </a:solidFill>
                <a:latin typeface="+mj-lt"/>
              </a:rPr>
              <a:t>Controlling proteins means controlling the cell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The nucleus is like the 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brain</a:t>
            </a:r>
          </a:p>
          <a:p>
            <a:pPr marL="457200" lvl="1" indent="0" eaLnBrk="1" hangingPunct="1">
              <a:buNone/>
            </a:pPr>
            <a:endParaRPr lang="en-US" i="1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 descr="Nucleus cartoon."/>
          <p:cNvPicPr>
            <a:picLocks noChangeAspect="1"/>
          </p:cNvPicPr>
          <p:nvPr/>
        </p:nvPicPr>
        <p:blipFill rotWithShape="1">
          <a:blip r:embed="rId3"/>
          <a:srcRect t="9465"/>
          <a:stretch/>
        </p:blipFill>
        <p:spPr>
          <a:xfrm>
            <a:off x="5257800" y="3125768"/>
            <a:ext cx="3810000" cy="3732232"/>
          </a:xfrm>
          <a:prstGeom prst="rect">
            <a:avLst/>
          </a:prstGeom>
        </p:spPr>
      </p:pic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170370" y="3125768"/>
            <a:ext cx="480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Controls protein creation via genes – </a:t>
            </a:r>
            <a:r>
              <a:rPr lang="en-US" b="1" u="sng" dirty="0">
                <a:latin typeface="+mj-lt"/>
              </a:rPr>
              <a:t>DNA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DNA organized into units called </a:t>
            </a:r>
            <a:r>
              <a:rPr lang="en-US" b="1" dirty="0">
                <a:latin typeface="+mj-lt"/>
              </a:rPr>
              <a:t>chromosomes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B9AA6E8-336C-4F4B-B6AF-A673D9F63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563" y="-76200"/>
            <a:ext cx="87757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3345501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163" y="1295401"/>
            <a:ext cx="4655982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solidFill>
                  <a:srgbClr val="000000"/>
                </a:solidFill>
                <a:latin typeface="+mj-lt"/>
              </a:rPr>
              <a:t>Chromosomes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= Genetic information within the nucleus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Contains DNA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solidFill>
                  <a:srgbClr val="000000"/>
                </a:solidFill>
                <a:latin typeface="+mj-lt"/>
              </a:rPr>
              <a:t>Chromatin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= </a:t>
            </a:r>
            <a:r>
              <a:rPr lang="en-US" sz="2800" b="1" dirty="0">
                <a:solidFill>
                  <a:srgbClr val="000000"/>
                </a:solidFill>
                <a:latin typeface="+mj-lt"/>
              </a:rPr>
              <a:t>DNA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+ </a:t>
            </a:r>
            <a:r>
              <a:rPr lang="en-US" sz="2800" b="1" dirty="0">
                <a:solidFill>
                  <a:srgbClr val="000000"/>
                </a:solidFill>
                <a:latin typeface="+mj-lt"/>
              </a:rPr>
              <a:t>histones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that give chromosomes their </a:t>
            </a:r>
            <a:r>
              <a:rPr lang="en-US" sz="2800" i="1" dirty="0">
                <a:solidFill>
                  <a:srgbClr val="000000"/>
                </a:solidFill>
                <a:latin typeface="+mj-lt"/>
              </a:rPr>
              <a:t>shape</a:t>
            </a:r>
          </a:p>
          <a:p>
            <a:pPr marL="0" indent="0" eaLnBrk="1" hangingPunct="1">
              <a:buNone/>
            </a:pPr>
            <a:endParaRPr lang="en-US" sz="2800" i="1" dirty="0">
              <a:solidFill>
                <a:srgbClr val="000000"/>
              </a:solidFill>
              <a:latin typeface="+mj-lt"/>
            </a:endParaRPr>
          </a:p>
          <a:p>
            <a:pPr marL="0" indent="0" eaLnBrk="1" hangingPunct="1">
              <a:buNone/>
            </a:pPr>
            <a:endParaRPr lang="en-US" sz="2800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38" name="Group 37" descr="Histones tightly coil DNA so it can fit in the nucleus.">
            <a:extLst>
              <a:ext uri="{FF2B5EF4-FFF2-40B4-BE49-F238E27FC236}">
                <a16:creationId xmlns:a16="http://schemas.microsoft.com/office/drawing/2014/main" id="{22CC9D1A-E15E-914B-8E48-69CDD9BE9191}"/>
              </a:ext>
            </a:extLst>
          </p:cNvPr>
          <p:cNvGrpSpPr/>
          <p:nvPr/>
        </p:nvGrpSpPr>
        <p:grpSpPr>
          <a:xfrm>
            <a:off x="4724400" y="1219200"/>
            <a:ext cx="4008438" cy="5576497"/>
            <a:chOff x="3973512" y="311150"/>
            <a:chExt cx="4657726" cy="6453188"/>
          </a:xfrm>
        </p:grpSpPr>
        <p:pic>
          <p:nvPicPr>
            <p:cNvPr id="39" name="Picture 117" descr="V:\Graphics\Powerpoint\MH_DCM\MH_DCM-TEXTEDIT PROJECTS\MCKINLEY_HA_4e\Processed files\chapt02\chapt02_textedit\jpeg\mck25731_0218L.jpg">
              <a:extLst>
                <a:ext uri="{FF2B5EF4-FFF2-40B4-BE49-F238E27FC236}">
                  <a16:creationId xmlns:a16="http://schemas.microsoft.com/office/drawing/2014/main" id="{8F167EC6-A60B-174B-872A-30219C7152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32"/>
            <a:stretch/>
          </p:blipFill>
          <p:spPr bwMode="auto">
            <a:xfrm>
              <a:off x="3973512" y="311150"/>
              <a:ext cx="3660775" cy="645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Box 165">
              <a:extLst>
                <a:ext uri="{FF2B5EF4-FFF2-40B4-BE49-F238E27FC236}">
                  <a16:creationId xmlns:a16="http://schemas.microsoft.com/office/drawing/2014/main" id="{83CECE1B-D378-4840-8B02-B33F0990F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488" y="1009650"/>
              <a:ext cx="657225" cy="20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000" b="1"/>
                <a:t>Histones</a:t>
              </a:r>
            </a:p>
          </p:txBody>
        </p:sp>
        <p:sp>
          <p:nvSpPr>
            <p:cNvPr id="41" name="TextBox 176">
              <a:extLst>
                <a:ext uri="{FF2B5EF4-FFF2-40B4-BE49-F238E27FC236}">
                  <a16:creationId xmlns:a16="http://schemas.microsoft.com/office/drawing/2014/main" id="{C1869FF3-448D-FF4A-857B-255DE25EF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0388" y="3825875"/>
              <a:ext cx="1182687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000" b="1"/>
                <a:t>Coiled chromatin</a:t>
              </a:r>
            </a:p>
          </p:txBody>
        </p:sp>
        <p:sp>
          <p:nvSpPr>
            <p:cNvPr id="42" name="TextBox 177">
              <a:extLst>
                <a:ext uri="{FF2B5EF4-FFF2-40B4-BE49-F238E27FC236}">
                  <a16:creationId xmlns:a16="http://schemas.microsoft.com/office/drawing/2014/main" id="{5D2FA5AA-0D47-0E49-A953-70F6FAAEE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738" y="5900738"/>
              <a:ext cx="952500" cy="207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IN" altLang="en-US" sz="1000" b="1"/>
                <a:t>Chromosome</a:t>
              </a:r>
            </a:p>
          </p:txBody>
        </p:sp>
        <p:sp>
          <p:nvSpPr>
            <p:cNvPr id="43" name="Line 25">
              <a:extLst>
                <a:ext uri="{FF2B5EF4-FFF2-40B4-BE49-F238E27FC236}">
                  <a16:creationId xmlns:a16="http://schemas.microsoft.com/office/drawing/2014/main" id="{0803C82F-F5AB-F942-8189-8DDBD7DA5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2863" y="1168400"/>
              <a:ext cx="3175" cy="1666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4" name="Line 26">
              <a:extLst>
                <a:ext uri="{FF2B5EF4-FFF2-40B4-BE49-F238E27FC236}">
                  <a16:creationId xmlns:a16="http://schemas.microsoft.com/office/drawing/2014/main" id="{D281B6C6-9324-EF4F-98B8-F59509B4C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038" y="1909763"/>
              <a:ext cx="203200" cy="1952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7EFB3C8D-B184-2C4E-930E-6042807E7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8313" y="3903663"/>
              <a:ext cx="53975" cy="158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6" name="Line 34">
              <a:extLst>
                <a:ext uri="{FF2B5EF4-FFF2-40B4-BE49-F238E27FC236}">
                  <a16:creationId xmlns:a16="http://schemas.microsoft.com/office/drawing/2014/main" id="{C3C92132-34A8-054C-B021-FE00B7CA3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4263" y="1231900"/>
              <a:ext cx="225425" cy="6667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B32ADCD4-EA1F-FC42-A348-B0A7E21BE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063" y="3182938"/>
              <a:ext cx="1057275" cy="1709737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92" y="22"/>
                </a:cxn>
                <a:cxn ang="0">
                  <a:pos x="161" y="47"/>
                </a:cxn>
                <a:cxn ang="0">
                  <a:pos x="226" y="74"/>
                </a:cxn>
                <a:cxn ang="0">
                  <a:pos x="285" y="103"/>
                </a:cxn>
                <a:cxn ang="0">
                  <a:pos x="339" y="134"/>
                </a:cxn>
                <a:cxn ang="0">
                  <a:pos x="386" y="168"/>
                </a:cxn>
                <a:cxn ang="0">
                  <a:pos x="428" y="204"/>
                </a:cxn>
                <a:cxn ang="0">
                  <a:pos x="466" y="240"/>
                </a:cxn>
                <a:cxn ang="0">
                  <a:pos x="502" y="278"/>
                </a:cxn>
                <a:cxn ang="0">
                  <a:pos x="531" y="318"/>
                </a:cxn>
                <a:cxn ang="0">
                  <a:pos x="556" y="356"/>
                </a:cxn>
                <a:cxn ang="0">
                  <a:pos x="578" y="397"/>
                </a:cxn>
                <a:cxn ang="0">
                  <a:pos x="596" y="439"/>
                </a:cxn>
                <a:cxn ang="0">
                  <a:pos x="610" y="480"/>
                </a:cxn>
                <a:cxn ang="0">
                  <a:pos x="621" y="522"/>
                </a:cxn>
                <a:cxn ang="0">
                  <a:pos x="630" y="563"/>
                </a:cxn>
                <a:cxn ang="0">
                  <a:pos x="635" y="603"/>
                </a:cxn>
                <a:cxn ang="0">
                  <a:pos x="639" y="643"/>
                </a:cxn>
                <a:cxn ang="0">
                  <a:pos x="639" y="684"/>
                </a:cxn>
                <a:cxn ang="0">
                  <a:pos x="639" y="722"/>
                </a:cxn>
                <a:cxn ang="0">
                  <a:pos x="635" y="760"/>
                </a:cxn>
                <a:cxn ang="0">
                  <a:pos x="630" y="796"/>
                </a:cxn>
                <a:cxn ang="0">
                  <a:pos x="626" y="832"/>
                </a:cxn>
                <a:cxn ang="0">
                  <a:pos x="619" y="863"/>
                </a:cxn>
                <a:cxn ang="0">
                  <a:pos x="601" y="924"/>
                </a:cxn>
                <a:cxn ang="0">
                  <a:pos x="583" y="973"/>
                </a:cxn>
                <a:cxn ang="0">
                  <a:pos x="563" y="1011"/>
                </a:cxn>
                <a:cxn ang="0">
                  <a:pos x="554" y="1024"/>
                </a:cxn>
                <a:cxn ang="0">
                  <a:pos x="545" y="1036"/>
                </a:cxn>
                <a:cxn ang="0">
                  <a:pos x="509" y="1018"/>
                </a:cxn>
              </a:cxnLst>
              <a:rect l="0" t="0" r="r" b="b"/>
              <a:pathLst>
                <a:path w="639" h="1036">
                  <a:moveTo>
                    <a:pt x="0" y="42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92" y="22"/>
                  </a:lnTo>
                  <a:lnTo>
                    <a:pt x="161" y="47"/>
                  </a:lnTo>
                  <a:lnTo>
                    <a:pt x="226" y="74"/>
                  </a:lnTo>
                  <a:lnTo>
                    <a:pt x="285" y="103"/>
                  </a:lnTo>
                  <a:lnTo>
                    <a:pt x="339" y="134"/>
                  </a:lnTo>
                  <a:lnTo>
                    <a:pt x="386" y="168"/>
                  </a:lnTo>
                  <a:lnTo>
                    <a:pt x="428" y="204"/>
                  </a:lnTo>
                  <a:lnTo>
                    <a:pt x="466" y="240"/>
                  </a:lnTo>
                  <a:lnTo>
                    <a:pt x="502" y="278"/>
                  </a:lnTo>
                  <a:lnTo>
                    <a:pt x="531" y="318"/>
                  </a:lnTo>
                  <a:lnTo>
                    <a:pt x="556" y="356"/>
                  </a:lnTo>
                  <a:lnTo>
                    <a:pt x="578" y="397"/>
                  </a:lnTo>
                  <a:lnTo>
                    <a:pt x="596" y="439"/>
                  </a:lnTo>
                  <a:lnTo>
                    <a:pt x="610" y="480"/>
                  </a:lnTo>
                  <a:lnTo>
                    <a:pt x="621" y="522"/>
                  </a:lnTo>
                  <a:lnTo>
                    <a:pt x="630" y="563"/>
                  </a:lnTo>
                  <a:lnTo>
                    <a:pt x="635" y="603"/>
                  </a:lnTo>
                  <a:lnTo>
                    <a:pt x="639" y="643"/>
                  </a:lnTo>
                  <a:lnTo>
                    <a:pt x="639" y="684"/>
                  </a:lnTo>
                  <a:lnTo>
                    <a:pt x="639" y="722"/>
                  </a:lnTo>
                  <a:lnTo>
                    <a:pt x="635" y="760"/>
                  </a:lnTo>
                  <a:lnTo>
                    <a:pt x="630" y="796"/>
                  </a:lnTo>
                  <a:lnTo>
                    <a:pt x="626" y="832"/>
                  </a:lnTo>
                  <a:lnTo>
                    <a:pt x="619" y="863"/>
                  </a:lnTo>
                  <a:lnTo>
                    <a:pt x="601" y="924"/>
                  </a:lnTo>
                  <a:lnTo>
                    <a:pt x="583" y="973"/>
                  </a:lnTo>
                  <a:lnTo>
                    <a:pt x="563" y="1011"/>
                  </a:lnTo>
                  <a:lnTo>
                    <a:pt x="554" y="1024"/>
                  </a:lnTo>
                  <a:lnTo>
                    <a:pt x="545" y="1036"/>
                  </a:lnTo>
                  <a:lnTo>
                    <a:pt x="509" y="1018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BB32B7A9-372A-6748-8206-848A1E8AA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5513388"/>
              <a:ext cx="638175" cy="938212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34" y="0"/>
                </a:cxn>
                <a:cxn ang="0">
                  <a:pos x="388" y="543"/>
                </a:cxn>
                <a:cxn ang="0">
                  <a:pos x="355" y="568"/>
                </a:cxn>
              </a:cxnLst>
              <a:rect l="0" t="0" r="r" b="b"/>
              <a:pathLst>
                <a:path w="388" h="568">
                  <a:moveTo>
                    <a:pt x="0" y="23"/>
                  </a:moveTo>
                  <a:lnTo>
                    <a:pt x="34" y="0"/>
                  </a:lnTo>
                  <a:lnTo>
                    <a:pt x="388" y="543"/>
                  </a:lnTo>
                  <a:lnTo>
                    <a:pt x="355" y="568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49" name="Line 37">
              <a:extLst>
                <a:ext uri="{FF2B5EF4-FFF2-40B4-BE49-F238E27FC236}">
                  <a16:creationId xmlns:a16="http://schemas.microsoft.com/office/drawing/2014/main" id="{ED9F33B9-C8E1-4948-830A-E913F6AAE0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7563" y="5981700"/>
              <a:ext cx="473075" cy="15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0" name="Line 25">
              <a:extLst>
                <a:ext uri="{FF2B5EF4-FFF2-40B4-BE49-F238E27FC236}">
                  <a16:creationId xmlns:a16="http://schemas.microsoft.com/office/drawing/2014/main" id="{37FDA4EF-1C59-2C4B-94CE-4D7038CFD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2863" y="1168400"/>
              <a:ext cx="3175" cy="166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1" name="Line 26">
              <a:extLst>
                <a:ext uri="{FF2B5EF4-FFF2-40B4-BE49-F238E27FC236}">
                  <a16:creationId xmlns:a16="http://schemas.microsoft.com/office/drawing/2014/main" id="{C32309F7-E7D9-B948-BAB9-6614FCA76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038" y="1909763"/>
              <a:ext cx="203200" cy="1952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30E64552-60B2-FF46-9ADC-A0F27CEAC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8313" y="3903663"/>
              <a:ext cx="53975" cy="15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3" name="Line 34">
              <a:extLst>
                <a:ext uri="{FF2B5EF4-FFF2-40B4-BE49-F238E27FC236}">
                  <a16:creationId xmlns:a16="http://schemas.microsoft.com/office/drawing/2014/main" id="{1C5387EC-F9AF-D542-9D8F-2BB225AE6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4263" y="1231900"/>
              <a:ext cx="225425" cy="666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4" name="Freeform 35">
              <a:extLst>
                <a:ext uri="{FF2B5EF4-FFF2-40B4-BE49-F238E27FC236}">
                  <a16:creationId xmlns:a16="http://schemas.microsoft.com/office/drawing/2014/main" id="{5931DA1B-D405-FD43-A96D-7EA77DAC6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063" y="3182938"/>
              <a:ext cx="1057275" cy="1709737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92" y="22"/>
                </a:cxn>
                <a:cxn ang="0">
                  <a:pos x="161" y="47"/>
                </a:cxn>
                <a:cxn ang="0">
                  <a:pos x="226" y="74"/>
                </a:cxn>
                <a:cxn ang="0">
                  <a:pos x="285" y="103"/>
                </a:cxn>
                <a:cxn ang="0">
                  <a:pos x="339" y="134"/>
                </a:cxn>
                <a:cxn ang="0">
                  <a:pos x="386" y="168"/>
                </a:cxn>
                <a:cxn ang="0">
                  <a:pos x="428" y="204"/>
                </a:cxn>
                <a:cxn ang="0">
                  <a:pos x="466" y="240"/>
                </a:cxn>
                <a:cxn ang="0">
                  <a:pos x="502" y="278"/>
                </a:cxn>
                <a:cxn ang="0">
                  <a:pos x="531" y="318"/>
                </a:cxn>
                <a:cxn ang="0">
                  <a:pos x="556" y="356"/>
                </a:cxn>
                <a:cxn ang="0">
                  <a:pos x="578" y="397"/>
                </a:cxn>
                <a:cxn ang="0">
                  <a:pos x="596" y="439"/>
                </a:cxn>
                <a:cxn ang="0">
                  <a:pos x="610" y="480"/>
                </a:cxn>
                <a:cxn ang="0">
                  <a:pos x="621" y="522"/>
                </a:cxn>
                <a:cxn ang="0">
                  <a:pos x="630" y="563"/>
                </a:cxn>
                <a:cxn ang="0">
                  <a:pos x="635" y="603"/>
                </a:cxn>
                <a:cxn ang="0">
                  <a:pos x="639" y="643"/>
                </a:cxn>
                <a:cxn ang="0">
                  <a:pos x="639" y="684"/>
                </a:cxn>
                <a:cxn ang="0">
                  <a:pos x="639" y="722"/>
                </a:cxn>
                <a:cxn ang="0">
                  <a:pos x="635" y="760"/>
                </a:cxn>
                <a:cxn ang="0">
                  <a:pos x="630" y="796"/>
                </a:cxn>
                <a:cxn ang="0">
                  <a:pos x="626" y="832"/>
                </a:cxn>
                <a:cxn ang="0">
                  <a:pos x="619" y="863"/>
                </a:cxn>
                <a:cxn ang="0">
                  <a:pos x="601" y="924"/>
                </a:cxn>
                <a:cxn ang="0">
                  <a:pos x="583" y="973"/>
                </a:cxn>
                <a:cxn ang="0">
                  <a:pos x="563" y="1011"/>
                </a:cxn>
                <a:cxn ang="0">
                  <a:pos x="554" y="1024"/>
                </a:cxn>
                <a:cxn ang="0">
                  <a:pos x="545" y="1036"/>
                </a:cxn>
                <a:cxn ang="0">
                  <a:pos x="509" y="1018"/>
                </a:cxn>
              </a:cxnLst>
              <a:rect l="0" t="0" r="r" b="b"/>
              <a:pathLst>
                <a:path w="639" h="1036">
                  <a:moveTo>
                    <a:pt x="0" y="42"/>
                  </a:moveTo>
                  <a:lnTo>
                    <a:pt x="16" y="0"/>
                  </a:lnTo>
                  <a:lnTo>
                    <a:pt x="16" y="0"/>
                  </a:lnTo>
                  <a:lnTo>
                    <a:pt x="92" y="22"/>
                  </a:lnTo>
                  <a:lnTo>
                    <a:pt x="161" y="47"/>
                  </a:lnTo>
                  <a:lnTo>
                    <a:pt x="226" y="74"/>
                  </a:lnTo>
                  <a:lnTo>
                    <a:pt x="285" y="103"/>
                  </a:lnTo>
                  <a:lnTo>
                    <a:pt x="339" y="134"/>
                  </a:lnTo>
                  <a:lnTo>
                    <a:pt x="386" y="168"/>
                  </a:lnTo>
                  <a:lnTo>
                    <a:pt x="428" y="204"/>
                  </a:lnTo>
                  <a:lnTo>
                    <a:pt x="466" y="240"/>
                  </a:lnTo>
                  <a:lnTo>
                    <a:pt x="502" y="278"/>
                  </a:lnTo>
                  <a:lnTo>
                    <a:pt x="531" y="318"/>
                  </a:lnTo>
                  <a:lnTo>
                    <a:pt x="556" y="356"/>
                  </a:lnTo>
                  <a:lnTo>
                    <a:pt x="578" y="397"/>
                  </a:lnTo>
                  <a:lnTo>
                    <a:pt x="596" y="439"/>
                  </a:lnTo>
                  <a:lnTo>
                    <a:pt x="610" y="480"/>
                  </a:lnTo>
                  <a:lnTo>
                    <a:pt x="621" y="522"/>
                  </a:lnTo>
                  <a:lnTo>
                    <a:pt x="630" y="563"/>
                  </a:lnTo>
                  <a:lnTo>
                    <a:pt x="635" y="603"/>
                  </a:lnTo>
                  <a:lnTo>
                    <a:pt x="639" y="643"/>
                  </a:lnTo>
                  <a:lnTo>
                    <a:pt x="639" y="684"/>
                  </a:lnTo>
                  <a:lnTo>
                    <a:pt x="639" y="722"/>
                  </a:lnTo>
                  <a:lnTo>
                    <a:pt x="635" y="760"/>
                  </a:lnTo>
                  <a:lnTo>
                    <a:pt x="630" y="796"/>
                  </a:lnTo>
                  <a:lnTo>
                    <a:pt x="626" y="832"/>
                  </a:lnTo>
                  <a:lnTo>
                    <a:pt x="619" y="863"/>
                  </a:lnTo>
                  <a:lnTo>
                    <a:pt x="601" y="924"/>
                  </a:lnTo>
                  <a:lnTo>
                    <a:pt x="583" y="973"/>
                  </a:lnTo>
                  <a:lnTo>
                    <a:pt x="563" y="1011"/>
                  </a:lnTo>
                  <a:lnTo>
                    <a:pt x="554" y="1024"/>
                  </a:lnTo>
                  <a:lnTo>
                    <a:pt x="545" y="1036"/>
                  </a:lnTo>
                  <a:lnTo>
                    <a:pt x="509" y="101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5" name="Freeform 36">
              <a:extLst>
                <a:ext uri="{FF2B5EF4-FFF2-40B4-BE49-F238E27FC236}">
                  <a16:creationId xmlns:a16="http://schemas.microsoft.com/office/drawing/2014/main" id="{97398F1B-3CC8-CA46-9F03-9D48E6362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5513388"/>
              <a:ext cx="638175" cy="938212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34" y="0"/>
                </a:cxn>
                <a:cxn ang="0">
                  <a:pos x="388" y="543"/>
                </a:cxn>
                <a:cxn ang="0">
                  <a:pos x="355" y="568"/>
                </a:cxn>
              </a:cxnLst>
              <a:rect l="0" t="0" r="r" b="b"/>
              <a:pathLst>
                <a:path w="388" h="568">
                  <a:moveTo>
                    <a:pt x="0" y="23"/>
                  </a:moveTo>
                  <a:lnTo>
                    <a:pt x="34" y="0"/>
                  </a:lnTo>
                  <a:lnTo>
                    <a:pt x="388" y="543"/>
                  </a:lnTo>
                  <a:lnTo>
                    <a:pt x="355" y="5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6" name="Line 37">
              <a:extLst>
                <a:ext uri="{FF2B5EF4-FFF2-40B4-BE49-F238E27FC236}">
                  <a16:creationId xmlns:a16="http://schemas.microsoft.com/office/drawing/2014/main" id="{217F5ACA-1AE3-B44C-ABE6-4F9250548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7563" y="5981700"/>
              <a:ext cx="473075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IN" b="1">
                <a:latin typeface="+mj-lt"/>
              </a:endParaRPr>
            </a:p>
          </p:txBody>
        </p:sp>
        <p:sp>
          <p:nvSpPr>
            <p:cNvPr id="57" name="Rectangle 89">
              <a:extLst>
                <a:ext uri="{FF2B5EF4-FFF2-40B4-BE49-F238E27FC236}">
                  <a16:creationId xmlns:a16="http://schemas.microsoft.com/office/drawing/2014/main" id="{02B2FD6A-80BA-D34C-A137-710E9613C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638" y="2089150"/>
              <a:ext cx="279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000" b="1" dirty="0">
                  <a:solidFill>
                    <a:srgbClr val="000000"/>
                  </a:solidFill>
                  <a:latin typeface="+mj-lt"/>
                </a:rPr>
                <a:t>DNA</a:t>
              </a:r>
              <a:endParaRPr lang="en-US" b="1" dirty="0">
                <a:latin typeface="+mj-lt"/>
              </a:endParaRP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7C6832FF-542B-EE43-82CD-F0DE8C052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563" y="-76200"/>
            <a:ext cx="87757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818591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163" y="1295401"/>
            <a:ext cx="4008437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solidFill>
                  <a:srgbClr val="000000"/>
                </a:solidFill>
                <a:latin typeface="+mj-lt"/>
              </a:rPr>
              <a:t>Chromosomes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= Genetic information within the nucleus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Contains DNA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sz="2800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latin typeface="+mj-lt"/>
              </a:rPr>
              <a:t>Chromatin</a:t>
            </a:r>
            <a:r>
              <a:rPr lang="en-US" sz="2800" dirty="0">
                <a:latin typeface="+mj-lt"/>
              </a:rPr>
              <a:t> = </a:t>
            </a:r>
            <a:r>
              <a:rPr lang="en-US" sz="2800" b="1" dirty="0">
                <a:latin typeface="+mj-lt"/>
              </a:rPr>
              <a:t>DNA</a:t>
            </a:r>
            <a:r>
              <a:rPr lang="en-US" sz="2800" dirty="0">
                <a:latin typeface="+mj-lt"/>
              </a:rPr>
              <a:t> + </a:t>
            </a:r>
            <a:r>
              <a:rPr lang="en-US" sz="2800" b="1" dirty="0">
                <a:latin typeface="+mj-lt"/>
              </a:rPr>
              <a:t>histones</a:t>
            </a:r>
            <a:r>
              <a:rPr lang="en-US" sz="2800" dirty="0">
                <a:latin typeface="+mj-lt"/>
              </a:rPr>
              <a:t> that give chromosomes their </a:t>
            </a:r>
            <a:r>
              <a:rPr lang="en-US" sz="2800" i="1" dirty="0">
                <a:latin typeface="+mj-lt"/>
              </a:rPr>
              <a:t>shape</a:t>
            </a:r>
          </a:p>
          <a:p>
            <a:pPr marL="0" indent="0" eaLnBrk="1" hangingPunct="1">
              <a:buNone/>
            </a:pPr>
            <a:endParaRPr lang="en-US" sz="2800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latin typeface="+mj-lt"/>
              </a:rPr>
              <a:t>Nucleolus</a:t>
            </a:r>
            <a:r>
              <a:rPr lang="en-US" sz="2800" dirty="0">
                <a:latin typeface="+mj-lt"/>
              </a:rPr>
              <a:t> = Makes </a:t>
            </a:r>
            <a:r>
              <a:rPr lang="en-US" sz="2800" b="1" dirty="0">
                <a:latin typeface="+mj-lt"/>
              </a:rPr>
              <a:t>ribosomes</a:t>
            </a:r>
          </a:p>
          <a:p>
            <a:pPr marL="0" indent="0" eaLnBrk="1" hangingPunct="1">
              <a:buNone/>
            </a:pPr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solidFill>
                  <a:srgbClr val="000000"/>
                </a:solidFill>
                <a:latin typeface="+mj-lt"/>
              </a:rPr>
              <a:t>Nuclear Envelope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= Specialized plasma membrane with pores that allow </a:t>
            </a:r>
            <a:r>
              <a:rPr lang="en-US" sz="2800" b="1" dirty="0">
                <a:solidFill>
                  <a:srgbClr val="000000"/>
                </a:solidFill>
                <a:latin typeface="+mj-lt"/>
              </a:rPr>
              <a:t>mRNA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 to </a:t>
            </a:r>
            <a:r>
              <a:rPr lang="en-US" sz="2800" i="1" dirty="0">
                <a:solidFill>
                  <a:srgbClr val="000000"/>
                </a:solidFill>
                <a:latin typeface="+mj-lt"/>
              </a:rPr>
              <a:t>exit</a:t>
            </a:r>
            <a:endParaRPr lang="en-US" i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14" name="Group 13" descr="The nucleus has a unique membrane called the nuclear envelope, which includes pores for the movement of mRNA.  The nucleus is also associated with the rough endoplasmic reticulum.">
            <a:extLst>
              <a:ext uri="{FF2B5EF4-FFF2-40B4-BE49-F238E27FC236}">
                <a16:creationId xmlns:a16="http://schemas.microsoft.com/office/drawing/2014/main" id="{B4CB4D51-F54B-D249-8D1C-2D25DC095D79}"/>
              </a:ext>
            </a:extLst>
          </p:cNvPr>
          <p:cNvGrpSpPr/>
          <p:nvPr/>
        </p:nvGrpSpPr>
        <p:grpSpPr>
          <a:xfrm>
            <a:off x="3809999" y="1355934"/>
            <a:ext cx="5148263" cy="5425866"/>
            <a:chOff x="234950" y="1301750"/>
            <a:chExt cx="3933383" cy="4113213"/>
          </a:xfrm>
        </p:grpSpPr>
        <p:pic>
          <p:nvPicPr>
            <p:cNvPr id="15" name="Picture 44" descr="W:\08VOL4\Graphics\Powerpoint\MH_DCM\MH_DCM-TEXTEDIT PROJECTS\McKINLEY_5e\Processed files\chapt02\chapt00_textedit\mck85278_02_17.jpg">
              <a:extLst>
                <a:ext uri="{FF2B5EF4-FFF2-40B4-BE49-F238E27FC236}">
                  <a16:creationId xmlns:a16="http://schemas.microsoft.com/office/drawing/2014/main" id="{2D9FD759-A4E2-7949-9A17-A664A5C11C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5201"/>
            <a:stretch/>
          </p:blipFill>
          <p:spPr bwMode="auto">
            <a:xfrm>
              <a:off x="234950" y="1301750"/>
              <a:ext cx="2965450" cy="411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49">
              <a:extLst>
                <a:ext uri="{FF2B5EF4-FFF2-40B4-BE49-F238E27FC236}">
                  <a16:creationId xmlns:a16="http://schemas.microsoft.com/office/drawing/2014/main" id="{DF814920-2C71-E347-8338-CF66F3827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588" y="2503488"/>
              <a:ext cx="610745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000" b="1" dirty="0">
                  <a:solidFill>
                    <a:srgbClr val="000000"/>
                  </a:solidFill>
                  <a:latin typeface="+mj-lt"/>
                </a:rPr>
                <a:t>Nucleolus</a:t>
              </a:r>
              <a:endParaRPr lang="en-US" sz="1000" b="1" dirty="0">
                <a:latin typeface="+mj-lt"/>
              </a:endParaRPr>
            </a:p>
          </p:txBody>
        </p:sp>
        <p:sp>
          <p:nvSpPr>
            <p:cNvPr id="17" name="Rectangle 55">
              <a:extLst>
                <a:ext uri="{FF2B5EF4-FFF2-40B4-BE49-F238E27FC236}">
                  <a16:creationId xmlns:a16="http://schemas.microsoft.com/office/drawing/2014/main" id="{0D6CA0A3-BAB1-3647-9FE4-D6D066781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138" y="1304925"/>
              <a:ext cx="427037" cy="13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850" b="1" dirty="0">
                  <a:solidFill>
                    <a:srgbClr val="000000"/>
                  </a:solidFill>
                  <a:latin typeface="+mj-lt"/>
                </a:rPr>
                <a:t>Nucleus</a:t>
              </a:r>
              <a:endParaRPr lang="en-US" sz="850" b="1" dirty="0">
                <a:latin typeface="+mj-lt"/>
              </a:endParaRPr>
            </a:p>
          </p:txBody>
        </p:sp>
        <p:sp>
          <p:nvSpPr>
            <p:cNvPr id="18" name="TextBox 113">
              <a:extLst>
                <a:ext uri="{FF2B5EF4-FFF2-40B4-BE49-F238E27FC236}">
                  <a16:creationId xmlns:a16="http://schemas.microsoft.com/office/drawing/2014/main" id="{42755702-DB28-7F41-A035-3677D31C1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475" y="2005013"/>
              <a:ext cx="493713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850" b="1"/>
                <a:t>Nuclear</a:t>
              </a:r>
            </a:p>
            <a:p>
              <a:pPr>
                <a:defRPr/>
              </a:pPr>
              <a:r>
                <a:rPr lang="en-IN" sz="850" b="1"/>
                <a:t>pores</a:t>
              </a:r>
            </a:p>
          </p:txBody>
        </p:sp>
        <p:sp>
          <p:nvSpPr>
            <p:cNvPr id="19" name="TextBox 114">
              <a:extLst>
                <a:ext uri="{FF2B5EF4-FFF2-40B4-BE49-F238E27FC236}">
                  <a16:creationId xmlns:a16="http://schemas.microsoft.com/office/drawing/2014/main" id="{9000850B-4EB8-9549-A062-991A347C8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050" y="2178050"/>
              <a:ext cx="5683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algn="ctr">
                <a:defRPr/>
              </a:pPr>
              <a:r>
                <a:rPr lang="en-IN" sz="850" b="1"/>
                <a:t>Nuclear</a:t>
              </a:r>
            </a:p>
            <a:p>
              <a:pPr algn="ctr">
                <a:defRPr/>
              </a:pPr>
              <a:r>
                <a:rPr lang="en-IN" sz="850" b="1" dirty="0"/>
                <a:t>envelope</a:t>
              </a:r>
            </a:p>
          </p:txBody>
        </p:sp>
        <p:sp>
          <p:nvSpPr>
            <p:cNvPr id="20" name="TextBox 115">
              <a:extLst>
                <a:ext uri="{FF2B5EF4-FFF2-40B4-BE49-F238E27FC236}">
                  <a16:creationId xmlns:a16="http://schemas.microsoft.com/office/drawing/2014/main" id="{EB1A75AA-4AAF-1042-93DA-14607BCEA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013" y="2736850"/>
              <a:ext cx="638175" cy="176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850" b="1"/>
                <a:t>Chromatin</a:t>
              </a:r>
            </a:p>
          </p:txBody>
        </p:sp>
        <p:sp>
          <p:nvSpPr>
            <p:cNvPr id="21" name="TextBox 116">
              <a:extLst>
                <a:ext uri="{FF2B5EF4-FFF2-40B4-BE49-F238E27FC236}">
                  <a16:creationId xmlns:a16="http://schemas.microsoft.com/office/drawing/2014/main" id="{5F222856-D0E3-634A-80A5-4609E82F6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3675" y="3678238"/>
              <a:ext cx="1141413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>
                <a:defRPr/>
              </a:pPr>
              <a:r>
                <a:rPr lang="en-IN" sz="850" b="1" dirty="0"/>
                <a:t>Rough endoplasmic</a:t>
              </a:r>
            </a:p>
            <a:p>
              <a:pPr>
                <a:defRPr/>
              </a:pPr>
              <a:r>
                <a:rPr lang="en-IN" sz="850" b="1" dirty="0"/>
                <a:t>reticulum</a:t>
              </a:r>
            </a:p>
          </p:txBody>
        </p:sp>
        <p:sp>
          <p:nvSpPr>
            <p:cNvPr id="22" name="Line 49">
              <a:extLst>
                <a:ext uri="{FF2B5EF4-FFF2-40B4-BE49-F238E27FC236}">
                  <a16:creationId xmlns:a16="http://schemas.microsoft.com/office/drawing/2014/main" id="{7DAFB8AB-916A-7E43-9558-27D7F779D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188" y="2287588"/>
              <a:ext cx="9001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52">
              <a:extLst>
                <a:ext uri="{FF2B5EF4-FFF2-40B4-BE49-F238E27FC236}">
                  <a16:creationId xmlns:a16="http://schemas.microsoft.com/office/drawing/2014/main" id="{B243724B-0843-A146-B7E0-108E9BA84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0425" y="2568575"/>
              <a:ext cx="138430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53">
              <a:extLst>
                <a:ext uri="{FF2B5EF4-FFF2-40B4-BE49-F238E27FC236}">
                  <a16:creationId xmlns:a16="http://schemas.microsoft.com/office/drawing/2014/main" id="{7571A04A-CA0A-6E4A-807B-C933F2BE0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713" y="2801938"/>
              <a:ext cx="1069975" cy="158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E49B7E76-E29D-5046-99FF-4F77BC37F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713" y="2073275"/>
              <a:ext cx="349250" cy="511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56">
              <a:extLst>
                <a:ext uri="{FF2B5EF4-FFF2-40B4-BE49-F238E27FC236}">
                  <a16:creationId xmlns:a16="http://schemas.microsoft.com/office/drawing/2014/main" id="{518806C8-1607-EF48-9306-D1A3A544C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750" y="2070100"/>
              <a:ext cx="43656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59">
              <a:extLst>
                <a:ext uri="{FF2B5EF4-FFF2-40B4-BE49-F238E27FC236}">
                  <a16:creationId xmlns:a16="http://schemas.microsoft.com/office/drawing/2014/main" id="{0A1782BA-5F71-3642-80B1-84E6018BA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325" y="3740150"/>
              <a:ext cx="23177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359A9410-D6AF-DF4A-97FC-7A1890173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1350" y="1457325"/>
              <a:ext cx="0" cy="539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61">
              <a:extLst>
                <a:ext uri="{FF2B5EF4-FFF2-40B4-BE49-F238E27FC236}">
                  <a16:creationId xmlns:a16="http://schemas.microsoft.com/office/drawing/2014/main" id="{0249571F-49DD-0840-ABEF-87DC1FD1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8" y="1512888"/>
              <a:ext cx="2311400" cy="71437"/>
            </a:xfrm>
            <a:custGeom>
              <a:avLst/>
              <a:gdLst>
                <a:gd name="T0" fmla="*/ 0 w 1456"/>
                <a:gd name="T1" fmla="*/ 2147483647 h 45"/>
                <a:gd name="T2" fmla="*/ 0 w 1456"/>
                <a:gd name="T3" fmla="*/ 0 h 45"/>
                <a:gd name="T4" fmla="*/ 2147483647 w 1456"/>
                <a:gd name="T5" fmla="*/ 0 h 45"/>
                <a:gd name="T6" fmla="*/ 2147483647 w 1456"/>
                <a:gd name="T7" fmla="*/ 2147483647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6"/>
                <a:gd name="T13" fmla="*/ 0 h 45"/>
                <a:gd name="T14" fmla="*/ 1456 w 1456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6" h="45">
                  <a:moveTo>
                    <a:pt x="0" y="45"/>
                  </a:moveTo>
                  <a:lnTo>
                    <a:pt x="0" y="0"/>
                  </a:lnTo>
                  <a:lnTo>
                    <a:pt x="1456" y="0"/>
                  </a:lnTo>
                  <a:lnTo>
                    <a:pt x="1456" y="45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49">
              <a:extLst>
                <a:ext uri="{FF2B5EF4-FFF2-40B4-BE49-F238E27FC236}">
                  <a16:creationId xmlns:a16="http://schemas.microsoft.com/office/drawing/2014/main" id="{71E0437E-D6A8-BE44-AA71-2C2BF51F0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188" y="2287588"/>
              <a:ext cx="900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2">
              <a:extLst>
                <a:ext uri="{FF2B5EF4-FFF2-40B4-BE49-F238E27FC236}">
                  <a16:creationId xmlns:a16="http://schemas.microsoft.com/office/drawing/2014/main" id="{2D76556A-A067-544B-87AF-2D2E275B0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0425" y="2568575"/>
              <a:ext cx="1384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3">
              <a:extLst>
                <a:ext uri="{FF2B5EF4-FFF2-40B4-BE49-F238E27FC236}">
                  <a16:creationId xmlns:a16="http://schemas.microsoft.com/office/drawing/2014/main" id="{FE41F06E-D3EA-2848-8D09-2D2742B84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713" y="2801938"/>
              <a:ext cx="1069975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55">
              <a:extLst>
                <a:ext uri="{FF2B5EF4-FFF2-40B4-BE49-F238E27FC236}">
                  <a16:creationId xmlns:a16="http://schemas.microsoft.com/office/drawing/2014/main" id="{7BA11DE1-C613-BF4D-8145-A6FC6A594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713" y="2073275"/>
              <a:ext cx="349250" cy="511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6">
              <a:extLst>
                <a:ext uri="{FF2B5EF4-FFF2-40B4-BE49-F238E27FC236}">
                  <a16:creationId xmlns:a16="http://schemas.microsoft.com/office/drawing/2014/main" id="{59BE1347-06CA-294C-8BC7-E052195CA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750" y="2070100"/>
              <a:ext cx="4365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9">
              <a:extLst>
                <a:ext uri="{FF2B5EF4-FFF2-40B4-BE49-F238E27FC236}">
                  <a16:creationId xmlns:a16="http://schemas.microsoft.com/office/drawing/2014/main" id="{AE6AD7AE-94AB-E244-BAFF-1B08F91B5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325" y="3740150"/>
              <a:ext cx="2317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60">
              <a:extLst>
                <a:ext uri="{FF2B5EF4-FFF2-40B4-BE49-F238E27FC236}">
                  <a16:creationId xmlns:a16="http://schemas.microsoft.com/office/drawing/2014/main" id="{AE4DB3BF-B5CC-DF4B-B793-00AD9460B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1350" y="1457325"/>
              <a:ext cx="0" cy="539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41189FAB-5928-8440-8CD3-3891E4E5C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8" y="1512888"/>
              <a:ext cx="2311400" cy="71437"/>
            </a:xfrm>
            <a:custGeom>
              <a:avLst/>
              <a:gdLst>
                <a:gd name="T0" fmla="*/ 0 w 1456"/>
                <a:gd name="T1" fmla="*/ 2147483647 h 45"/>
                <a:gd name="T2" fmla="*/ 0 w 1456"/>
                <a:gd name="T3" fmla="*/ 0 h 45"/>
                <a:gd name="T4" fmla="*/ 2147483647 w 1456"/>
                <a:gd name="T5" fmla="*/ 0 h 45"/>
                <a:gd name="T6" fmla="*/ 2147483647 w 1456"/>
                <a:gd name="T7" fmla="*/ 2147483647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6"/>
                <a:gd name="T13" fmla="*/ 0 h 45"/>
                <a:gd name="T14" fmla="*/ 1456 w 1456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6" h="45">
                  <a:moveTo>
                    <a:pt x="0" y="45"/>
                  </a:moveTo>
                  <a:lnTo>
                    <a:pt x="0" y="0"/>
                  </a:lnTo>
                  <a:lnTo>
                    <a:pt x="1456" y="0"/>
                  </a:lnTo>
                  <a:lnTo>
                    <a:pt x="1456" y="4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A925D18F-AF2F-1245-A39A-586FC94169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563" y="-76200"/>
            <a:ext cx="87757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1728214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6">
            <a:extLst>
              <a:ext uri="{FF2B5EF4-FFF2-40B4-BE49-F238E27FC236}">
                <a16:creationId xmlns:a16="http://schemas.microsoft.com/office/drawing/2014/main" id="{08D89CF6-332C-F343-9C23-6DF5DF240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8372" name="Picture 12" descr="The central dogma states DNA forms messenger RNA in a process called Transcription.  Messenger RNA is read by a ribosome during Translation to produce a protein.  This is true of all life forms.">
            <a:extLst>
              <a:ext uri="{FF2B5EF4-FFF2-40B4-BE49-F238E27FC236}">
                <a16:creationId xmlns:a16="http://schemas.microsoft.com/office/drawing/2014/main" id="{99A35394-B828-CD45-BFE7-416B9254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66713" y="4000500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Text Box 31">
            <a:extLst>
              <a:ext uri="{FF2B5EF4-FFF2-40B4-BE49-F238E27FC236}">
                <a16:creationId xmlns:a16="http://schemas.microsoft.com/office/drawing/2014/main" id="{BB1208A8-F844-ED42-B85F-32B04D698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4275137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DNA</a:t>
            </a:r>
          </a:p>
        </p:txBody>
      </p:sp>
      <p:sp>
        <p:nvSpPr>
          <p:cNvPr id="58374" name="Text Box 31">
            <a:extLst>
              <a:ext uri="{FF2B5EF4-FFF2-40B4-BE49-F238E27FC236}">
                <a16:creationId xmlns:a16="http://schemas.microsoft.com/office/drawing/2014/main" id="{6A65A3B3-E03D-C24A-B71C-EA2A816C8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0" y="4267200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RNA</a:t>
            </a:r>
          </a:p>
        </p:txBody>
      </p:sp>
      <p:sp>
        <p:nvSpPr>
          <p:cNvPr id="58375" name="Text Box 31">
            <a:extLst>
              <a:ext uri="{FF2B5EF4-FFF2-40B4-BE49-F238E27FC236}">
                <a16:creationId xmlns:a16="http://schemas.microsoft.com/office/drawing/2014/main" id="{6B326996-371A-6843-8E3D-8FE8E9905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4265612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Protein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7490878-231A-7B4D-8080-725675DE2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40ED880-07DE-1841-BEC1-EAC18221CB0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1"/>
            <a:ext cx="9144000" cy="160019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b="1" u="sng" kern="0" dirty="0">
                <a:latin typeface="+mj-lt"/>
              </a:rPr>
              <a:t>How DNA </a:t>
            </a:r>
            <a:r>
              <a:rPr lang="en-US" sz="2800" b="1" u="sng" kern="0" dirty="0">
                <a:latin typeface="+mj-lt"/>
                <a:sym typeface="Wingdings" pitchFamily="2" charset="2"/>
              </a:rPr>
              <a:t>makes Protein</a:t>
            </a:r>
            <a:endParaRPr lang="en-US" sz="2800" b="1" kern="0" dirty="0">
              <a:latin typeface="+mj-lt"/>
            </a:endParaRP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kern="0" dirty="0">
                <a:latin typeface="+mj-lt"/>
              </a:rPr>
              <a:t>DNA in the nucleus holds genetic information in genes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kern="0" dirty="0">
                <a:latin typeface="+mj-lt"/>
              </a:rPr>
              <a:t>mRNA is a copy of nuclear DNA that can leave the nucleus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kern="0" dirty="0">
                <a:latin typeface="+mj-lt"/>
              </a:rPr>
              <a:t>mRNA finds a ribosome in the cytoplasm or RER</a:t>
            </a:r>
          </a:p>
          <a:p>
            <a:pPr lvl="1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kern="0" dirty="0">
                <a:latin typeface="+mj-lt"/>
              </a:rPr>
              <a:t>Ribosome reads mRNA to produce a protein</a:t>
            </a:r>
          </a:p>
          <a:p>
            <a:pPr marL="457200" lvl="1" indent="0" eaLnBrk="1" hangingPunct="1">
              <a:buFont typeface="Wingdings" pitchFamily="2" charset="2"/>
              <a:buNone/>
            </a:pPr>
            <a:endParaRPr lang="en-US" i="1" kern="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itchFamily="2" charset="2"/>
              <a:buNone/>
            </a:pPr>
            <a:endParaRPr lang="en-US" kern="0" dirty="0">
              <a:latin typeface="+mj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CEE7147-EA5A-3A4A-9CDA-DE4BED3ACFEC}"/>
              </a:ext>
            </a:extLst>
          </p:cNvPr>
          <p:cNvSpPr txBox="1">
            <a:spLocks noChangeArrowheads="1"/>
          </p:cNvSpPr>
          <p:nvPr/>
        </p:nvSpPr>
        <p:spPr>
          <a:xfrm>
            <a:off x="2094309" y="3994149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89E93CD-8C4F-C242-9491-C88C43D55111}"/>
              </a:ext>
            </a:extLst>
          </p:cNvPr>
          <p:cNvSpPr txBox="1">
            <a:spLocks noChangeArrowheads="1"/>
          </p:cNvSpPr>
          <p:nvPr/>
        </p:nvSpPr>
        <p:spPr>
          <a:xfrm>
            <a:off x="5555456" y="3984624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D42567-AB56-6448-8791-E52C5CF92669}"/>
              </a:ext>
            </a:extLst>
          </p:cNvPr>
          <p:cNvSpPr txBox="1">
            <a:spLocks noChangeArrowheads="1"/>
          </p:cNvSpPr>
          <p:nvPr/>
        </p:nvSpPr>
        <p:spPr>
          <a:xfrm>
            <a:off x="95094" y="5542430"/>
            <a:ext cx="9091924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3200" i="1" dirty="0">
                <a:latin typeface="+mj-ea"/>
                <a:ea typeface="+mj-ea"/>
              </a:rPr>
              <a:t>What are examples of proteins in the cell?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A5C2729-734F-3D45-8D2D-EAB863EE6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563" y="-76200"/>
            <a:ext cx="8732837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2892147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6">
            <a:extLst>
              <a:ext uri="{FF2B5EF4-FFF2-40B4-BE49-F238E27FC236}">
                <a16:creationId xmlns:a16="http://schemas.microsoft.com/office/drawing/2014/main" id="{08D89CF6-332C-F343-9C23-6DF5DF240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7490878-231A-7B4D-8080-725675DE2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D42567-AB56-6448-8791-E52C5CF92669}"/>
              </a:ext>
            </a:extLst>
          </p:cNvPr>
          <p:cNvSpPr txBox="1">
            <a:spLocks noChangeArrowheads="1"/>
          </p:cNvSpPr>
          <p:nvPr/>
        </p:nvSpPr>
        <p:spPr>
          <a:xfrm>
            <a:off x="172570" y="1143000"/>
            <a:ext cx="41708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Hair color and texture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8D4FBD1-17FB-9447-9E3A-C4045243C01E}"/>
              </a:ext>
            </a:extLst>
          </p:cNvPr>
          <p:cNvSpPr txBox="1">
            <a:spLocks noChangeArrowheads="1"/>
          </p:cNvSpPr>
          <p:nvPr/>
        </p:nvSpPr>
        <p:spPr>
          <a:xfrm>
            <a:off x="162577" y="4114800"/>
            <a:ext cx="85904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Insulin receptors – Type II Diabetes?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98F552E-61C6-2A47-87C4-1BBC5C0E43EC}"/>
              </a:ext>
            </a:extLst>
          </p:cNvPr>
          <p:cNvSpPr txBox="1">
            <a:spLocks noChangeArrowheads="1"/>
          </p:cNvSpPr>
          <p:nvPr/>
        </p:nvSpPr>
        <p:spPr>
          <a:xfrm>
            <a:off x="162577" y="4800600"/>
            <a:ext cx="85904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CFTR channels – Cystic Fibrosis?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E0138F1-3E57-6F4A-8BB2-423673204040}"/>
              </a:ext>
            </a:extLst>
          </p:cNvPr>
          <p:cNvSpPr txBox="1">
            <a:spLocks noChangeArrowheads="1"/>
          </p:cNvSpPr>
          <p:nvPr/>
        </p:nvSpPr>
        <p:spPr>
          <a:xfrm>
            <a:off x="147587" y="5430250"/>
            <a:ext cx="85904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endParaRPr lang="en-US" sz="2800" dirty="0">
              <a:latin typeface="+mj-lt"/>
              <a:ea typeface="+mj-ea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6CB23A-0ED1-FD45-9408-E4843EB33099}"/>
              </a:ext>
            </a:extLst>
          </p:cNvPr>
          <p:cNvSpPr txBox="1">
            <a:spLocks noChangeArrowheads="1"/>
          </p:cNvSpPr>
          <p:nvPr/>
        </p:nvSpPr>
        <p:spPr>
          <a:xfrm>
            <a:off x="162577" y="5486400"/>
            <a:ext cx="85904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Cholesterol (LDL) receptors – high cholesterol?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F217274-75EB-3442-84A1-AA40B902B8DD}"/>
              </a:ext>
            </a:extLst>
          </p:cNvPr>
          <p:cNvSpPr txBox="1">
            <a:spLocks noChangeArrowheads="1"/>
          </p:cNvSpPr>
          <p:nvPr/>
        </p:nvSpPr>
        <p:spPr>
          <a:xfrm>
            <a:off x="172570" y="6172200"/>
            <a:ext cx="85904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Hemoglobin production – Sickle Cell Anemia?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9E876C3-A2D2-CA4A-BBD1-0DCF81B4619E}"/>
              </a:ext>
            </a:extLst>
          </p:cNvPr>
          <p:cNvSpPr txBox="1">
            <a:spLocks noChangeArrowheads="1"/>
          </p:cNvSpPr>
          <p:nvPr/>
        </p:nvSpPr>
        <p:spPr>
          <a:xfrm>
            <a:off x="162577" y="1676400"/>
            <a:ext cx="2342030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Eye color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9C2A0479-6F82-3D4A-9288-115434F80477}"/>
              </a:ext>
            </a:extLst>
          </p:cNvPr>
          <p:cNvSpPr txBox="1">
            <a:spLocks noChangeArrowheads="1"/>
          </p:cNvSpPr>
          <p:nvPr/>
        </p:nvSpPr>
        <p:spPr>
          <a:xfrm>
            <a:off x="140092" y="2286000"/>
            <a:ext cx="2984108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Histone proteins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9B52757E-B39F-A445-9FAA-237A0564FE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2895600"/>
            <a:ext cx="8198187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All enzymes in your lysosomes and peroxisomes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E1828204-86F9-9243-AE1D-EB3CD9388AF8}"/>
              </a:ext>
            </a:extLst>
          </p:cNvPr>
          <p:cNvSpPr txBox="1">
            <a:spLocks noChangeArrowheads="1"/>
          </p:cNvSpPr>
          <p:nvPr/>
        </p:nvSpPr>
        <p:spPr>
          <a:xfrm>
            <a:off x="140092" y="3505200"/>
            <a:ext cx="8198187" cy="53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2800" dirty="0">
                <a:latin typeface="+mj-lt"/>
                <a:ea typeface="+mj-ea"/>
              </a:rPr>
              <a:t>All enzymes digestive tract – Lactose Intolerant?</a:t>
            </a:r>
          </a:p>
        </p:txBody>
      </p:sp>
      <p:pic>
        <p:nvPicPr>
          <p:cNvPr id="2" name="Picture 1" descr="Protein functions are virtually infinite.">
            <a:extLst>
              <a:ext uri="{FF2B5EF4-FFF2-40B4-BE49-F238E27FC236}">
                <a16:creationId xmlns:a16="http://schemas.microsoft.com/office/drawing/2014/main" id="{A924E98C-FFDC-7C4A-989A-AE3F11962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184" y="832501"/>
            <a:ext cx="3505200" cy="228600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5F799B6-D62B-294D-8A2F-3F2814675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-76200"/>
            <a:ext cx="8738796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32770264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anscription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4" b="23928"/>
          <a:stretch/>
        </p:blipFill>
        <p:spPr>
          <a:xfrm>
            <a:off x="1066800" y="1287261"/>
            <a:ext cx="7010400" cy="2875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5257800" y="2354061"/>
            <a:ext cx="533400" cy="114300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6" name="Picture 5" descr="Translation.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7" r="5421" b="37574"/>
          <a:stretch/>
        </p:blipFill>
        <p:spPr>
          <a:xfrm>
            <a:off x="1079351" y="4285261"/>
            <a:ext cx="6997849" cy="25727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 rot="20261574">
            <a:off x="7151107" y="1284890"/>
            <a:ext cx="516867" cy="1967228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276600" y="6120653"/>
            <a:ext cx="1981200" cy="45720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363FC69-2CFC-3B4E-8E10-6E02673B6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563" y="-76200"/>
            <a:ext cx="8732837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A353959-15EF-2F4C-A4AF-27B28BC7AAE0}"/>
              </a:ext>
            </a:extLst>
          </p:cNvPr>
          <p:cNvSpPr txBox="1">
            <a:spLocks noChangeArrowheads="1"/>
          </p:cNvSpPr>
          <p:nvPr/>
        </p:nvSpPr>
        <p:spPr>
          <a:xfrm rot="16200000">
            <a:off x="-635373" y="2146985"/>
            <a:ext cx="2721768" cy="707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800" b="1" i="1" kern="0" dirty="0">
                <a:latin typeface="+mj-lt"/>
              </a:rPr>
              <a:t>Transcription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4CDD04B-56F0-7042-87F3-56E9EAC39B25}"/>
              </a:ext>
            </a:extLst>
          </p:cNvPr>
          <p:cNvSpPr txBox="1">
            <a:spLocks noChangeArrowheads="1"/>
          </p:cNvSpPr>
          <p:nvPr/>
        </p:nvSpPr>
        <p:spPr>
          <a:xfrm rot="16200000">
            <a:off x="-635373" y="4970169"/>
            <a:ext cx="2721768" cy="707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800" b="1" i="1" kern="0" dirty="0">
                <a:latin typeface="+mj-lt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876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ncer cells are defined by the their abnormal nuclei."/>
          <p:cNvPicPr>
            <a:picLocks noChangeAspect="1"/>
          </p:cNvPicPr>
          <p:nvPr/>
        </p:nvPicPr>
        <p:blipFill rotWithShape="1">
          <a:blip r:embed="rId3"/>
          <a:srcRect l="6250" t="3867" r="4782" b="5885"/>
          <a:stretch/>
        </p:blipFill>
        <p:spPr>
          <a:xfrm>
            <a:off x="15240" y="54130"/>
            <a:ext cx="9144000" cy="6839430"/>
          </a:xfrm>
          <a:prstGeom prst="rect">
            <a:avLst/>
          </a:prstGeom>
          <a:ln w="63500">
            <a:solidFill>
              <a:schemeClr val="tx1"/>
            </a:solidFill>
          </a:ln>
        </p:spPr>
      </p:pic>
      <p:sp>
        <p:nvSpPr>
          <p:cNvPr id="7" name="Title 1" hidden="1">
            <a:extLst>
              <a:ext uri="{FF2B5EF4-FFF2-40B4-BE49-F238E27FC236}">
                <a16:creationId xmlns:a16="http://schemas.microsoft.com/office/drawing/2014/main" id="{B39D03D7-DCA3-E244-B570-582502D30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63471"/>
            <a:ext cx="91440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4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357203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6">
            <a:extLst>
              <a:ext uri="{FF2B5EF4-FFF2-40B4-BE49-F238E27FC236}">
                <a16:creationId xmlns:a16="http://schemas.microsoft.com/office/drawing/2014/main" id="{08D89CF6-332C-F343-9C23-6DF5DF240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8372" name="Picture 12" descr="The central dogma states DNA forms messenger RNA in a process called Transcription.  Messenger RNA is read by a ribosome during Translation to produce a protein.  This means the source of all genetic diseases come from faulty DNA in the nucleus.">
            <a:extLst>
              <a:ext uri="{FF2B5EF4-FFF2-40B4-BE49-F238E27FC236}">
                <a16:creationId xmlns:a16="http://schemas.microsoft.com/office/drawing/2014/main" id="{99A35394-B828-CD45-BFE7-416B9254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66713" y="4587876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Text Box 31">
            <a:extLst>
              <a:ext uri="{FF2B5EF4-FFF2-40B4-BE49-F238E27FC236}">
                <a16:creationId xmlns:a16="http://schemas.microsoft.com/office/drawing/2014/main" id="{BB1208A8-F844-ED42-B85F-32B04D698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4862513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DNA</a:t>
            </a:r>
          </a:p>
        </p:txBody>
      </p:sp>
      <p:sp>
        <p:nvSpPr>
          <p:cNvPr id="58374" name="Text Box 31">
            <a:extLst>
              <a:ext uri="{FF2B5EF4-FFF2-40B4-BE49-F238E27FC236}">
                <a16:creationId xmlns:a16="http://schemas.microsoft.com/office/drawing/2014/main" id="{6A65A3B3-E03D-C24A-B71C-EA2A816C8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0" y="4854576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RNA</a:t>
            </a:r>
          </a:p>
        </p:txBody>
      </p:sp>
      <p:sp>
        <p:nvSpPr>
          <p:cNvPr id="58375" name="Text Box 31">
            <a:extLst>
              <a:ext uri="{FF2B5EF4-FFF2-40B4-BE49-F238E27FC236}">
                <a16:creationId xmlns:a16="http://schemas.microsoft.com/office/drawing/2014/main" id="{6B326996-371A-6843-8E3D-8FE8E9905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4852988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Protein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7490878-231A-7B4D-8080-725675DE2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40ED880-07DE-1841-BEC1-EAC18221CB0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43001"/>
            <a:ext cx="9144000" cy="160019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kern="0" dirty="0">
                <a:latin typeface="+mj-lt"/>
              </a:rPr>
              <a:t>Genetic diseases, like Cystic Fibrosis or Sickle Cell Anemia, occur because the body is making abnormal </a:t>
            </a:r>
            <a:r>
              <a:rPr lang="en-US" sz="2800" u="sng" kern="0" dirty="0">
                <a:latin typeface="+mj-lt"/>
              </a:rPr>
              <a:t>proteins</a:t>
            </a:r>
          </a:p>
          <a:p>
            <a:pPr marL="0" indent="0" eaLnBrk="1" hangingPunct="1">
              <a:buNone/>
            </a:pPr>
            <a:endParaRPr lang="en-US" sz="2400" b="1" u="sng" kern="0" dirty="0">
              <a:latin typeface="+mj-lt"/>
            </a:endParaRPr>
          </a:p>
          <a:p>
            <a:pPr algn="ctr" eaLnBrk="1" hangingPunct="1">
              <a:buFont typeface="Wingdings" panose="05000000000000000000" pitchFamily="2" charset="2"/>
              <a:buChar char="§"/>
            </a:pPr>
            <a:r>
              <a:rPr lang="en-US" sz="2800" b="1" i="1" kern="0" dirty="0">
                <a:latin typeface="+mj-lt"/>
              </a:rPr>
              <a:t>Which component of the Central Dogma is the source of a genetic disease?</a:t>
            </a:r>
            <a:endParaRPr lang="en-US" i="1" kern="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buFont typeface="Wingdings" pitchFamily="2" charset="2"/>
              <a:buNone/>
            </a:pPr>
            <a:endParaRPr lang="en-US" kern="0" dirty="0">
              <a:latin typeface="+mj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CEE7147-EA5A-3A4A-9CDA-DE4BED3ACFEC}"/>
              </a:ext>
            </a:extLst>
          </p:cNvPr>
          <p:cNvSpPr txBox="1">
            <a:spLocks noChangeArrowheads="1"/>
          </p:cNvSpPr>
          <p:nvPr/>
        </p:nvSpPr>
        <p:spPr>
          <a:xfrm>
            <a:off x="2094309" y="4581525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89E93CD-8C4F-C242-9491-C88C43D55111}"/>
              </a:ext>
            </a:extLst>
          </p:cNvPr>
          <p:cNvSpPr txBox="1">
            <a:spLocks noChangeArrowheads="1"/>
          </p:cNvSpPr>
          <p:nvPr/>
        </p:nvSpPr>
        <p:spPr>
          <a:xfrm>
            <a:off x="5555456" y="4572000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F9DE09-C7F5-6C45-AF87-B27FDC261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7" y="228600"/>
            <a:ext cx="8370492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0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</p:spTree>
    <p:extLst>
      <p:ext uri="{BB962C8B-B14F-4D97-AF65-F5344CB8AC3E}">
        <p14:creationId xmlns:p14="http://schemas.microsoft.com/office/powerpoint/2010/main" val="24646538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Picture 12" descr="The central dogma states DNA forms messenger RNA in a process called Transcription.  Messenger RNA is read by a ribosome during Translation to produce a protein.  This is true of all life forms.">
            <a:extLst>
              <a:ext uri="{FF2B5EF4-FFF2-40B4-BE49-F238E27FC236}">
                <a16:creationId xmlns:a16="http://schemas.microsoft.com/office/drawing/2014/main" id="{99A35394-B828-CD45-BFE7-416B9254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35280" y="1469558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Text Box 31">
            <a:extLst>
              <a:ext uri="{FF2B5EF4-FFF2-40B4-BE49-F238E27FC236}">
                <a16:creationId xmlns:a16="http://schemas.microsoft.com/office/drawing/2014/main" id="{BB1208A8-F844-ED42-B85F-32B04D698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467" y="1744195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DNA</a:t>
            </a:r>
          </a:p>
        </p:txBody>
      </p:sp>
      <p:sp>
        <p:nvSpPr>
          <p:cNvPr id="58374" name="Text Box 31">
            <a:extLst>
              <a:ext uri="{FF2B5EF4-FFF2-40B4-BE49-F238E27FC236}">
                <a16:creationId xmlns:a16="http://schemas.microsoft.com/office/drawing/2014/main" id="{6A65A3B3-E03D-C24A-B71C-EA2A816C8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567" y="1736258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RNA</a:t>
            </a:r>
          </a:p>
        </p:txBody>
      </p:sp>
      <p:sp>
        <p:nvSpPr>
          <p:cNvPr id="58375" name="Text Box 31">
            <a:extLst>
              <a:ext uri="{FF2B5EF4-FFF2-40B4-BE49-F238E27FC236}">
                <a16:creationId xmlns:a16="http://schemas.microsoft.com/office/drawing/2014/main" id="{6B326996-371A-6843-8E3D-8FE8E9905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992" y="1734670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Protein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CEE7147-EA5A-3A4A-9CDA-DE4BED3ACFEC}"/>
              </a:ext>
            </a:extLst>
          </p:cNvPr>
          <p:cNvSpPr txBox="1">
            <a:spLocks noChangeArrowheads="1"/>
          </p:cNvSpPr>
          <p:nvPr/>
        </p:nvSpPr>
        <p:spPr>
          <a:xfrm>
            <a:off x="5364480" y="1393515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89E93CD-8C4F-C242-9491-C88C43D55111}"/>
              </a:ext>
            </a:extLst>
          </p:cNvPr>
          <p:cNvSpPr txBox="1">
            <a:spLocks noChangeArrowheads="1"/>
          </p:cNvSpPr>
          <p:nvPr/>
        </p:nvSpPr>
        <p:spPr>
          <a:xfrm>
            <a:off x="2159714" y="1453682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  <p:pic>
        <p:nvPicPr>
          <p:cNvPr id="17" name="Picture 12" descr="The central dogma states DNA forms messenger RNA in a process called Transcription.  Messenger RNA is read by a ribosome during Translation to produce a protein.  This is true of all life forms.">
            <a:extLst>
              <a:ext uri="{FF2B5EF4-FFF2-40B4-BE49-F238E27FC236}">
                <a16:creationId xmlns:a16="http://schemas.microsoft.com/office/drawing/2014/main" id="{B1A73134-A719-F549-AA17-D4EA75D27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65760" y="4435476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31">
            <a:extLst>
              <a:ext uri="{FF2B5EF4-FFF2-40B4-BE49-F238E27FC236}">
                <a16:creationId xmlns:a16="http://schemas.microsoft.com/office/drawing/2014/main" id="{88E4E6F7-0214-1041-AB58-D6AF3E3C8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947" y="4710113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DNA</a:t>
            </a:r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4E7F65A6-5F37-B44B-B3FE-0271D1DFC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047" y="4702176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/>
              <a:t>RNA</a:t>
            </a:r>
          </a:p>
        </p:txBody>
      </p:sp>
      <p:sp>
        <p:nvSpPr>
          <p:cNvPr id="21" name="Text Box 31">
            <a:extLst>
              <a:ext uri="{FF2B5EF4-FFF2-40B4-BE49-F238E27FC236}">
                <a16:creationId xmlns:a16="http://schemas.microsoft.com/office/drawing/2014/main" id="{F266DE7E-773D-004E-9CCE-0696E3447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472" y="4700588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Protein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B70F7FD-EB91-F742-8717-303312491FC8}"/>
              </a:ext>
            </a:extLst>
          </p:cNvPr>
          <p:cNvSpPr txBox="1">
            <a:spLocks noChangeArrowheads="1"/>
          </p:cNvSpPr>
          <p:nvPr/>
        </p:nvSpPr>
        <p:spPr>
          <a:xfrm>
            <a:off x="2093356" y="4429125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E20C9E3-5E5F-B44C-97F3-9A31B3438DC8}"/>
              </a:ext>
            </a:extLst>
          </p:cNvPr>
          <p:cNvSpPr txBox="1">
            <a:spLocks noChangeArrowheads="1"/>
          </p:cNvSpPr>
          <p:nvPr/>
        </p:nvSpPr>
        <p:spPr>
          <a:xfrm>
            <a:off x="5554503" y="4419600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  <p:pic>
        <p:nvPicPr>
          <p:cNvPr id="24" name="Picture 12" descr="The central dogma states DNA forms messenger RNA in a process called Transcription.  Messenger RNA is read by a ribosome during Translation to produce a protein.  This is true of all life forms.">
            <a:extLst>
              <a:ext uri="{FF2B5EF4-FFF2-40B4-BE49-F238E27FC236}">
                <a16:creationId xmlns:a16="http://schemas.microsoft.com/office/drawing/2014/main" id="{8528D284-2311-D44F-ADDA-BBA59D1DF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04800" y="3009422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 Box 31">
            <a:extLst>
              <a:ext uri="{FF2B5EF4-FFF2-40B4-BE49-F238E27FC236}">
                <a16:creationId xmlns:a16="http://schemas.microsoft.com/office/drawing/2014/main" id="{DF1F5346-25A6-6749-BEB6-315FB584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696" y="3221592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DNA</a:t>
            </a:r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016DEC3A-5EA4-924E-93CD-A52BA8406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77" y="3264126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RNA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F0C8EE26-BD84-E348-8A8C-A65879C2A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2" y="3274534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Protein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1F16968-3A4D-E14A-A718-66777DF04C9D}"/>
              </a:ext>
            </a:extLst>
          </p:cNvPr>
          <p:cNvSpPr txBox="1">
            <a:spLocks noChangeArrowheads="1"/>
          </p:cNvSpPr>
          <p:nvPr/>
        </p:nvSpPr>
        <p:spPr>
          <a:xfrm>
            <a:off x="2032396" y="3003071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79D55A4F-57C1-5340-A259-D1ACCB0231E2}"/>
              </a:ext>
            </a:extLst>
          </p:cNvPr>
          <p:cNvSpPr txBox="1">
            <a:spLocks noChangeArrowheads="1"/>
          </p:cNvSpPr>
          <p:nvPr/>
        </p:nvSpPr>
        <p:spPr>
          <a:xfrm>
            <a:off x="5493543" y="2993546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  <p:sp>
        <p:nvSpPr>
          <p:cNvPr id="30" name="Title 1" hidden="1">
            <a:extLst>
              <a:ext uri="{FF2B5EF4-FFF2-40B4-BE49-F238E27FC236}">
                <a16:creationId xmlns:a16="http://schemas.microsoft.com/office/drawing/2014/main" id="{2D88F2C1-500F-BD4E-8DC6-300E689E5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196" y="-76200"/>
            <a:ext cx="8737203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en-US" sz="5400" b="1" kern="0" dirty="0">
                <a:solidFill>
                  <a:schemeClr val="tx1"/>
                </a:solidFill>
                <a:latin typeface="Arial" panose="020B0604020202020204" pitchFamily="34" charset="0"/>
              </a:rPr>
              <a:t>ORGANELLES: NUCLEUS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DAA76CDD-057D-A04B-A686-5E0C0A47E20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3994"/>
            <a:ext cx="9127068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en-US" sz="3200" b="1" i="1" dirty="0">
                <a:latin typeface="+mj-ea"/>
                <a:ea typeface="+mj-ea"/>
              </a:rPr>
              <a:t>Which image accurately shows protein production?</a:t>
            </a:r>
          </a:p>
          <a:p>
            <a:pPr marL="0" indent="0" algn="ctr" eaLnBrk="1" hangingPunct="1">
              <a:buNone/>
            </a:pPr>
            <a:endParaRPr lang="en-US" sz="3200" dirty="0">
              <a:latin typeface="+mj-ea"/>
              <a:ea typeface="+mj-ea"/>
            </a:endParaRPr>
          </a:p>
        </p:txBody>
      </p:sp>
      <p:pic>
        <p:nvPicPr>
          <p:cNvPr id="32" name="Picture 12" descr="The central dogma states DNA forms messenger RNA in a process called Transcription.  Messenger RNA is read by a ribosome during Translation to produce a protein.  This is true of all life forms.">
            <a:extLst>
              <a:ext uri="{FF2B5EF4-FFF2-40B4-BE49-F238E27FC236}">
                <a16:creationId xmlns:a16="http://schemas.microsoft.com/office/drawing/2014/main" id="{8E9A1BA0-A4F0-624A-A2A8-D8288483B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8"/>
          <a:stretch>
            <a:fillRect/>
          </a:stretch>
        </p:blipFill>
        <p:spPr bwMode="auto">
          <a:xfrm>
            <a:off x="365760" y="5888989"/>
            <a:ext cx="8548687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31">
            <a:extLst>
              <a:ext uri="{FF2B5EF4-FFF2-40B4-BE49-F238E27FC236}">
                <a16:creationId xmlns:a16="http://schemas.microsoft.com/office/drawing/2014/main" id="{29792AF1-4952-994E-A406-D65170A9A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466" y="6166801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DNA</a:t>
            </a: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8243171A-4204-E442-83A7-1C6A3BF5D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1271" y="6154100"/>
            <a:ext cx="7286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RNA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B705254C-AF27-0C43-81F5-B25E5CBF8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168" y="6154101"/>
            <a:ext cx="10842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b="1" dirty="0"/>
              <a:t>Protein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8BD4DA1D-59EA-9B49-9718-D2C390893009}"/>
              </a:ext>
            </a:extLst>
          </p:cNvPr>
          <p:cNvSpPr txBox="1">
            <a:spLocks noChangeArrowheads="1"/>
          </p:cNvSpPr>
          <p:nvPr/>
        </p:nvSpPr>
        <p:spPr>
          <a:xfrm>
            <a:off x="2093356" y="5882638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Transcription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36A02F9A-B40A-5D4D-A951-6A6C4C0C4539}"/>
              </a:ext>
            </a:extLst>
          </p:cNvPr>
          <p:cNvSpPr txBox="1">
            <a:spLocks noChangeArrowheads="1"/>
          </p:cNvSpPr>
          <p:nvPr/>
        </p:nvSpPr>
        <p:spPr>
          <a:xfrm>
            <a:off x="5554503" y="5873113"/>
            <a:ext cx="1835944" cy="280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sz="2000" i="1" kern="0" dirty="0">
                <a:latin typeface="+mj-lt"/>
              </a:rPr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3136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cell's life is a cyc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086658"/>
            <a:ext cx="3581400" cy="3581400"/>
          </a:xfrm>
          <a:prstGeom prst="rect">
            <a:avLst/>
          </a:prstGeom>
        </p:spPr>
      </p:pic>
      <p:sp>
        <p:nvSpPr>
          <p:cNvPr id="3075" name="Rectangle 1027"/>
          <p:cNvSpPr>
            <a:spLocks noGrp="1" noChangeArrowheads="1"/>
          </p:cNvSpPr>
          <p:nvPr>
            <p:ph idx="1"/>
          </p:nvPr>
        </p:nvSpPr>
        <p:spPr>
          <a:xfrm>
            <a:off x="76200" y="1143000"/>
            <a:ext cx="9067800" cy="393192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The Cell Cycle </a:t>
            </a:r>
            <a:r>
              <a:rPr lang="en-US" sz="2800" dirty="0">
                <a:solidFill>
                  <a:schemeClr val="tx1"/>
                </a:solidFill>
                <a:latin typeface="+mj-lt"/>
              </a:rPr>
              <a:t>= The </a:t>
            </a:r>
            <a:r>
              <a:rPr lang="en-US" sz="2800" b="1" u="sng" dirty="0">
                <a:solidFill>
                  <a:schemeClr val="tx1"/>
                </a:solidFill>
                <a:latin typeface="+mj-lt"/>
              </a:rPr>
              <a:t>life</a:t>
            </a:r>
            <a:r>
              <a:rPr lang="en-US" sz="2800" dirty="0">
                <a:solidFill>
                  <a:schemeClr val="tx1"/>
                </a:solidFill>
                <a:latin typeface="+mj-lt"/>
              </a:rPr>
              <a:t> of a cell</a:t>
            </a:r>
          </a:p>
          <a:p>
            <a:pPr marL="1049338" lvl="1" indent="-812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+mj-lt"/>
              </a:rPr>
              <a:t>Includes cellular </a:t>
            </a:r>
            <a:r>
              <a:rPr lang="en-US" sz="2600" i="1" dirty="0">
                <a:solidFill>
                  <a:schemeClr val="tx1"/>
                </a:solidFill>
                <a:latin typeface="+mj-lt"/>
              </a:rPr>
              <a:t>activity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sz="2600" i="1" dirty="0">
                <a:solidFill>
                  <a:schemeClr val="tx1"/>
                </a:solidFill>
                <a:latin typeface="+mj-lt"/>
              </a:rPr>
              <a:t>growth</a:t>
            </a:r>
            <a:r>
              <a:rPr lang="en-US" sz="2600" dirty="0">
                <a:solidFill>
                  <a:schemeClr val="tx1"/>
                </a:solidFill>
                <a:latin typeface="+mj-lt"/>
              </a:rPr>
              <a:t>, and </a:t>
            </a:r>
            <a:r>
              <a:rPr lang="en-US" sz="2600" i="1" dirty="0">
                <a:solidFill>
                  <a:schemeClr val="tx1"/>
                </a:solidFill>
                <a:latin typeface="+mj-lt"/>
              </a:rPr>
              <a:t>reproduction</a:t>
            </a:r>
            <a:endParaRPr lang="en-US" sz="1600" i="1" dirty="0">
              <a:solidFill>
                <a:schemeClr val="tx1"/>
              </a:solidFill>
              <a:latin typeface="+mj-lt"/>
            </a:endParaRPr>
          </a:p>
          <a:p>
            <a:pPr marL="236538" lvl="1" indent="0">
              <a:buClr>
                <a:schemeClr val="tx1"/>
              </a:buClr>
              <a:buNone/>
            </a:pPr>
            <a:endParaRPr lang="en-US" sz="1400" i="1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Consists of 2 BIG stages:</a:t>
            </a:r>
          </a:p>
          <a:p>
            <a:pPr marL="1212850" lvl="1" indent="-81280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Interphase</a:t>
            </a:r>
          </a:p>
          <a:p>
            <a:pPr marL="1212850" lvl="1" indent="-812800" eaLnBrk="1" hangingPunct="1">
              <a:buClr>
                <a:schemeClr val="tx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Mitosis</a:t>
            </a: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97617E8D-16B8-6E4D-8616-D358E1562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5DC3AA-5490-6F40-AA5E-7C524788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THE CELL CYCLE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09828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All cells divide"/>
          <p:cNvPicPr>
            <a:picLocks noChangeAspect="1" noChangeArrowheads="1"/>
          </p:cNvPicPr>
          <p:nvPr/>
        </p:nvPicPr>
        <p:blipFill>
          <a:blip r:embed="rId3"/>
          <a:srcRect t="12500" b="18750"/>
          <a:stretch>
            <a:fillRect/>
          </a:stretch>
        </p:blipFill>
        <p:spPr bwMode="auto">
          <a:xfrm>
            <a:off x="533400" y="1734441"/>
            <a:ext cx="8229600" cy="2266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 descr="Even prokaryotes div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4000500"/>
            <a:ext cx="4572000" cy="2857500"/>
          </a:xfrm>
          <a:prstGeom prst="rect">
            <a:avLst/>
          </a:prstGeom>
        </p:spPr>
      </p:pic>
      <p:sp>
        <p:nvSpPr>
          <p:cNvPr id="8" name="Rectangle 1027">
            <a:extLst>
              <a:ext uri="{FF2B5EF4-FFF2-40B4-BE49-F238E27FC236}">
                <a16:creationId xmlns:a16="http://schemas.microsoft.com/office/drawing/2014/main" id="{6A9A1C94-C7C0-EC42-82CC-DCD6A2AF2C8A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1143000"/>
            <a:ext cx="9067800" cy="39319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9438" indent="-22860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6638" indent="-22860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65238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85900" indent="-228600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712913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947863" indent="-228600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74875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12800" fontAlgn="auto"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ALL cells divide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5D9297AF-D9CC-424A-BAF4-A445C6BB8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FDF048-B0B5-4E48-B266-CFCD04E00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THE CELL CYCLE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112496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0678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+mj-lt"/>
              </a:rPr>
              <a:t>Chromosomes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= Linear sequences of </a:t>
            </a:r>
            <a:r>
              <a:rPr lang="en-US" u="sng" dirty="0">
                <a:solidFill>
                  <a:schemeClr val="tx1"/>
                </a:solidFill>
                <a:latin typeface="+mj-lt"/>
              </a:rPr>
              <a:t>genes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made of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DNA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histones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Histones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are proteins that tightly coil DNA so it fits in a nucleus</a:t>
            </a:r>
          </a:p>
          <a:p>
            <a:pPr marL="457200" lvl="1" indent="0">
              <a:lnSpc>
                <a:spcPct val="114000"/>
              </a:lnSpc>
              <a:buClr>
                <a:schemeClr val="tx1"/>
              </a:buClr>
              <a:buNone/>
            </a:pPr>
            <a:endParaRPr lang="en-US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Every species has a characteristic number of chromosomes in every cell nucleus – </a:t>
            </a:r>
            <a:r>
              <a:rPr lang="en-US" u="sng" dirty="0">
                <a:solidFill>
                  <a:schemeClr val="tx1"/>
                </a:solidFill>
                <a:latin typeface="+mj-lt"/>
              </a:rPr>
              <a:t>2 non-identical copies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of each called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Homologous Chromosomes</a:t>
            </a:r>
          </a:p>
          <a:p>
            <a:pPr lvl="1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Humans = 46</a:t>
            </a:r>
          </a:p>
          <a:p>
            <a:pPr lvl="1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Dogs = 78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F8646528-EB59-634F-B151-A8AF82549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0EA4559-3A96-0C4E-83AB-D40884EB8FE3}"/>
              </a:ext>
            </a:extLst>
          </p:cNvPr>
          <p:cNvSpPr txBox="1">
            <a:spLocks/>
          </p:cNvSpPr>
          <p:nvPr/>
        </p:nvSpPr>
        <p:spPr bwMode="auto">
          <a:xfrm>
            <a:off x="83116" y="-152400"/>
            <a:ext cx="730828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sz="5400" b="1" kern="0">
                <a:solidFill>
                  <a:schemeClr val="tx1"/>
                </a:solidFill>
                <a:ea typeface="ＭＳ Ｐゴシック" charset="0"/>
              </a:rPr>
              <a:t>THE CELL CYCLE</a:t>
            </a:r>
            <a:endParaRPr lang="en-US" sz="5400" kern="0" dirty="0"/>
          </a:p>
        </p:txBody>
      </p:sp>
    </p:spTree>
    <p:extLst>
      <p:ext uri="{BB962C8B-B14F-4D97-AF65-F5344CB8AC3E}">
        <p14:creationId xmlns:p14="http://schemas.microsoft.com/office/powerpoint/2010/main" val="29510118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ologous chromoso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752600"/>
            <a:ext cx="5562600" cy="4204291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 rot="16200000">
            <a:off x="2095500" y="5295900"/>
            <a:ext cx="533400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27"/>
          <p:cNvSpPr>
            <a:spLocks noGrp="1" noChangeArrowheads="1"/>
          </p:cNvSpPr>
          <p:nvPr>
            <p:ph idx="1"/>
          </p:nvPr>
        </p:nvSpPr>
        <p:spPr>
          <a:xfrm>
            <a:off x="1371600" y="5943600"/>
            <a:ext cx="2133600" cy="457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1800" b="1" dirty="0">
                <a:solidFill>
                  <a:srgbClr val="FF0000"/>
                </a:solidFill>
              </a:rPr>
              <a:t>Homologous Pair</a:t>
            </a:r>
          </a:p>
          <a:p>
            <a:pPr marL="609600" indent="-609600" eaLnBrk="1" hangingPunct="1">
              <a:buFontTx/>
              <a:buNone/>
            </a:pPr>
            <a:endParaRPr lang="en-US" baseline="-25000" dirty="0"/>
          </a:p>
        </p:txBody>
      </p:sp>
      <p:sp>
        <p:nvSpPr>
          <p:cNvPr id="3" name="Rectangle 2"/>
          <p:cNvSpPr/>
          <p:nvPr/>
        </p:nvSpPr>
        <p:spPr>
          <a:xfrm>
            <a:off x="3886200" y="4191000"/>
            <a:ext cx="8382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CF3EBC68-6918-C841-B968-93B874E5C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B57A29F-BDAF-7E4C-B6CF-1886BCB1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CHROMOSOMES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8856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6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1066800"/>
            <a:ext cx="8610600" cy="133985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Homologous Pairs vs. Sisters</a:t>
            </a:r>
          </a:p>
        </p:txBody>
      </p:sp>
      <p:pic>
        <p:nvPicPr>
          <p:cNvPr id="4" name="Picture 3" descr="Homologous pairs versus sister chromatid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622440"/>
            <a:ext cx="6781800" cy="4083160"/>
          </a:xfrm>
          <a:prstGeom prst="rect">
            <a:avLst/>
          </a:prstGeom>
        </p:spPr>
      </p:pic>
      <p:sp>
        <p:nvSpPr>
          <p:cNvPr id="7" name="Line 6">
            <a:extLst>
              <a:ext uri="{FF2B5EF4-FFF2-40B4-BE49-F238E27FC236}">
                <a16:creationId xmlns:a16="http://schemas.microsoft.com/office/drawing/2014/main" id="{47B612CC-BBF7-EE4C-8BF5-4469CED2E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DF8153-C4CE-A044-9085-73B56A8AAD8F}"/>
              </a:ext>
            </a:extLst>
          </p:cNvPr>
          <p:cNvSpPr txBox="1">
            <a:spLocks/>
          </p:cNvSpPr>
          <p:nvPr/>
        </p:nvSpPr>
        <p:spPr bwMode="auto">
          <a:xfrm>
            <a:off x="83116" y="-152400"/>
            <a:ext cx="738448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sz="5400" b="1" kern="0" dirty="0">
                <a:solidFill>
                  <a:schemeClr val="tx1"/>
                </a:solidFill>
                <a:ea typeface="ＭＳ Ｐゴシック" charset="0"/>
              </a:rPr>
              <a:t>CHROMOSOMES</a:t>
            </a:r>
            <a:endParaRPr lang="en-US" sz="5400" kern="0" dirty="0"/>
          </a:p>
        </p:txBody>
      </p:sp>
    </p:spTree>
    <p:extLst>
      <p:ext uri="{BB962C8B-B14F-4D97-AF65-F5344CB8AC3E}">
        <p14:creationId xmlns:p14="http://schemas.microsoft.com/office/powerpoint/2010/main" val="38369481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27"/>
          <p:cNvSpPr>
            <a:spLocks noGrp="1" noChangeArrowheads="1"/>
          </p:cNvSpPr>
          <p:nvPr>
            <p:ph idx="1"/>
          </p:nvPr>
        </p:nvSpPr>
        <p:spPr>
          <a:xfrm>
            <a:off x="148034" y="1298552"/>
            <a:ext cx="5689011" cy="5330848"/>
          </a:xfrm>
        </p:spPr>
        <p:txBody>
          <a:bodyPr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Stage of cell cycle during which DNA synthesis occurs and the nucleus is </a:t>
            </a:r>
            <a:r>
              <a:rPr lang="en-US" u="sng" dirty="0">
                <a:solidFill>
                  <a:schemeClr val="tx1"/>
                </a:solidFill>
                <a:latin typeface="+mj-lt"/>
              </a:rPr>
              <a:t>not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actively dividing </a:t>
            </a:r>
          </a:p>
          <a:p>
            <a:pPr marL="0" indent="0" eaLnBrk="1" hangingPunct="1">
              <a:buNone/>
            </a:pPr>
            <a:endParaRPr lang="en-US" sz="10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Cells are carrying out their normal cellular activities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tx1"/>
                </a:solidFill>
                <a:latin typeface="+mj-lt"/>
              </a:rPr>
              <a:t>3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steps of Interphase:</a:t>
            </a:r>
          </a:p>
          <a:p>
            <a:pPr lvl="1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baseline="-25000" dirty="0">
                <a:solidFill>
                  <a:schemeClr val="tx1"/>
                </a:solidFill>
                <a:latin typeface="+mj-lt"/>
              </a:rPr>
              <a:t>1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lvl="1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 – DNA replicates, </a:t>
            </a:r>
            <a:r>
              <a:rPr lang="en-US" b="1" dirty="0">
                <a:solidFill>
                  <a:schemeClr val="tx1"/>
                </a:solidFill>
                <a:latin typeface="+mj-lt"/>
              </a:rPr>
              <a:t>sister chromatids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formed</a:t>
            </a:r>
          </a:p>
          <a:p>
            <a:pPr lvl="1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baseline="-25000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grpSp>
        <p:nvGrpSpPr>
          <p:cNvPr id="4" name="Group 3" descr="Interphase">
            <a:extLst>
              <a:ext uri="{FF2B5EF4-FFF2-40B4-BE49-F238E27FC236}">
                <a16:creationId xmlns:a16="http://schemas.microsoft.com/office/drawing/2014/main" id="{FD6C2FD3-2A3F-6243-B17F-001333936ADE}"/>
              </a:ext>
            </a:extLst>
          </p:cNvPr>
          <p:cNvGrpSpPr/>
          <p:nvPr/>
        </p:nvGrpSpPr>
        <p:grpSpPr>
          <a:xfrm>
            <a:off x="5885288" y="1905000"/>
            <a:ext cx="3639712" cy="4432617"/>
            <a:chOff x="2012950" y="1216025"/>
            <a:chExt cx="3206301" cy="3900487"/>
          </a:xfrm>
        </p:grpSpPr>
        <p:pic>
          <p:nvPicPr>
            <p:cNvPr id="5" name="Picture 138" descr="W:\08VOL4\Graphics\Powerpoint\MH_DCM\MH_DCM-TEXTEDIT PROJECTS\McKINLEY_5e\Processed files\chapt02\chapt00_textedit\mck85278_02_20a.jpg">
              <a:extLst>
                <a:ext uri="{FF2B5EF4-FFF2-40B4-BE49-F238E27FC236}">
                  <a16:creationId xmlns:a16="http://schemas.microsoft.com/office/drawing/2014/main" id="{9B9CB687-C00B-FA4D-A8EF-92002B6500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55" r="54218"/>
            <a:stretch/>
          </p:blipFill>
          <p:spPr bwMode="auto">
            <a:xfrm>
              <a:off x="2012950" y="1501775"/>
              <a:ext cx="2343150" cy="3614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143">
              <a:extLst>
                <a:ext uri="{FF2B5EF4-FFF2-40B4-BE49-F238E27FC236}">
                  <a16:creationId xmlns:a16="http://schemas.microsoft.com/office/drawing/2014/main" id="{482C8F1E-3C8C-684A-9BDD-D777A87EB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763" y="1436688"/>
              <a:ext cx="538162" cy="412750"/>
            </a:xfrm>
            <a:custGeom>
              <a:avLst/>
              <a:gdLst>
                <a:gd name="T0" fmla="*/ 931248743 w 311"/>
                <a:gd name="T1" fmla="*/ 712814103 h 239"/>
                <a:gd name="T2" fmla="*/ 461132191 w 311"/>
                <a:gd name="T3" fmla="*/ 0 h 239"/>
                <a:gd name="T4" fmla="*/ 461132191 w 311"/>
                <a:gd name="T5" fmla="*/ 0 h 239"/>
                <a:gd name="T6" fmla="*/ 0 w 311"/>
                <a:gd name="T7" fmla="*/ 492110344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1"/>
                <a:gd name="T13" fmla="*/ 0 h 239"/>
                <a:gd name="T14" fmla="*/ 311 w 311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1" h="239">
                  <a:moveTo>
                    <a:pt x="311" y="239"/>
                  </a:moveTo>
                  <a:lnTo>
                    <a:pt x="154" y="0"/>
                  </a:lnTo>
                  <a:lnTo>
                    <a:pt x="0" y="16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Line 144">
              <a:extLst>
                <a:ext uri="{FF2B5EF4-FFF2-40B4-BE49-F238E27FC236}">
                  <a16:creationId xmlns:a16="http://schemas.microsoft.com/office/drawing/2014/main" id="{A520CC90-BE65-6945-ACDA-96B45A8C3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8463" y="1347788"/>
              <a:ext cx="0" cy="88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Line 145">
              <a:extLst>
                <a:ext uri="{FF2B5EF4-FFF2-40B4-BE49-F238E27FC236}">
                  <a16:creationId xmlns:a16="http://schemas.microsoft.com/office/drawing/2014/main" id="{564A917F-350E-8F40-8D24-B608B7BB3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713" y="2178050"/>
              <a:ext cx="9858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 146">
              <a:extLst>
                <a:ext uri="{FF2B5EF4-FFF2-40B4-BE49-F238E27FC236}">
                  <a16:creationId xmlns:a16="http://schemas.microsoft.com/office/drawing/2014/main" id="{4634E3E1-BC1F-3A42-8DA8-05F3E4406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825" y="2039938"/>
              <a:ext cx="857250" cy="71437"/>
            </a:xfrm>
            <a:custGeom>
              <a:avLst/>
              <a:gdLst>
                <a:gd name="T0" fmla="*/ 0 w 495"/>
                <a:gd name="T1" fmla="*/ 124469398 h 41"/>
                <a:gd name="T2" fmla="*/ 170954712 w 495"/>
                <a:gd name="T3" fmla="*/ 0 h 41"/>
                <a:gd name="T4" fmla="*/ 1484601203 w 495"/>
                <a:gd name="T5" fmla="*/ 0 h 41"/>
                <a:gd name="T6" fmla="*/ 0 60000 65536"/>
                <a:gd name="T7" fmla="*/ 0 60000 65536"/>
                <a:gd name="T8" fmla="*/ 0 60000 65536"/>
                <a:gd name="T9" fmla="*/ 0 w 495"/>
                <a:gd name="T10" fmla="*/ 0 h 41"/>
                <a:gd name="T11" fmla="*/ 495 w 495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5" h="41">
                  <a:moveTo>
                    <a:pt x="0" y="41"/>
                  </a:moveTo>
                  <a:lnTo>
                    <a:pt x="57" y="0"/>
                  </a:lnTo>
                  <a:lnTo>
                    <a:pt x="4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Line 147">
              <a:extLst>
                <a:ext uri="{FF2B5EF4-FFF2-40B4-BE49-F238E27FC236}">
                  <a16:creationId xmlns:a16="http://schemas.microsoft.com/office/drawing/2014/main" id="{C251EF58-27DD-6444-AD8B-7069F2F86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288" y="2649538"/>
              <a:ext cx="582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148">
              <a:extLst>
                <a:ext uri="{FF2B5EF4-FFF2-40B4-BE49-F238E27FC236}">
                  <a16:creationId xmlns:a16="http://schemas.microsoft.com/office/drawing/2014/main" id="{B8D50CE5-5FEC-674F-8D01-704F4035B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2382838"/>
              <a:ext cx="771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59">
              <a:extLst>
                <a:ext uri="{FF2B5EF4-FFF2-40B4-BE49-F238E27FC236}">
                  <a16:creationId xmlns:a16="http://schemas.microsoft.com/office/drawing/2014/main" id="{2C2C32DE-9EBE-9B4F-A2A1-8C98F9426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0375" y="3200400"/>
              <a:ext cx="50800" cy="854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223">
              <a:extLst>
                <a:ext uri="{FF2B5EF4-FFF2-40B4-BE49-F238E27FC236}">
                  <a16:creationId xmlns:a16="http://schemas.microsoft.com/office/drawing/2014/main" id="{68FA88E8-DF2A-2A46-9DB0-38F746313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710" y="2993722"/>
              <a:ext cx="1486297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algn="ctr" eaLnBrk="1" hangingPunct="1">
                <a:defRPr/>
              </a:pPr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Nucleus with chromatin</a:t>
              </a:r>
            </a:p>
          </p:txBody>
        </p:sp>
        <p:sp>
          <p:nvSpPr>
            <p:cNvPr id="14" name="TextBox 224">
              <a:extLst>
                <a:ext uri="{FF2B5EF4-FFF2-40B4-BE49-F238E27FC236}">
                  <a16:creationId xmlns:a16="http://schemas.microsoft.com/office/drawing/2014/main" id="{C7636F3C-B8E9-6046-BC0E-599E44600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299" y="2587626"/>
              <a:ext cx="1421952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Plasma membrane</a:t>
              </a:r>
            </a:p>
          </p:txBody>
        </p:sp>
        <p:sp>
          <p:nvSpPr>
            <p:cNvPr id="15" name="TextBox 225">
              <a:extLst>
                <a:ext uri="{FF2B5EF4-FFF2-40B4-BE49-F238E27FC236}">
                  <a16:creationId xmlns:a16="http://schemas.microsoft.com/office/drawing/2014/main" id="{80DF7E25-BE06-364C-97A1-27C6CE17B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299" y="2320925"/>
              <a:ext cx="1162499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Nuclear envelope</a:t>
              </a:r>
            </a:p>
          </p:txBody>
        </p:sp>
        <p:sp>
          <p:nvSpPr>
            <p:cNvPr id="16" name="TextBox 226">
              <a:extLst>
                <a:ext uri="{FF2B5EF4-FFF2-40B4-BE49-F238E27FC236}">
                  <a16:creationId xmlns:a16="http://schemas.microsoft.com/office/drawing/2014/main" id="{7388EEFB-8961-424B-A188-CD6A23779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300" y="2117725"/>
              <a:ext cx="647599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050" b="1">
                  <a:latin typeface="Arial" panose="020B0604020202020204" pitchFamily="34" charset="0"/>
                  <a:cs typeface="Arial" panose="020B0604020202020204" pitchFamily="34" charset="0"/>
                </a:rPr>
                <a:t>Nucleolus</a:t>
              </a:r>
            </a:p>
          </p:txBody>
        </p:sp>
        <p:sp>
          <p:nvSpPr>
            <p:cNvPr id="17" name="TextBox 227">
              <a:extLst>
                <a:ext uri="{FF2B5EF4-FFF2-40B4-BE49-F238E27FC236}">
                  <a16:creationId xmlns:a16="http://schemas.microsoft.com/office/drawing/2014/main" id="{4FB66B12-EC17-9B43-92FB-E2131EA63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300" y="1978025"/>
              <a:ext cx="674428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050" b="1">
                  <a:latin typeface="Arial" panose="020B0604020202020204" pitchFamily="34" charset="0"/>
                  <a:cs typeface="Arial" panose="020B0604020202020204" pitchFamily="34" charset="0"/>
                </a:rPr>
                <a:t>Chromatin</a:t>
              </a:r>
            </a:p>
          </p:txBody>
        </p:sp>
        <p:sp>
          <p:nvSpPr>
            <p:cNvPr id="18" name="TextBox 233">
              <a:extLst>
                <a:ext uri="{FF2B5EF4-FFF2-40B4-BE49-F238E27FC236}">
                  <a16:creationId xmlns:a16="http://schemas.microsoft.com/office/drawing/2014/main" id="{CD94C174-FED5-D740-B112-67AA29EC5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1216025"/>
              <a:ext cx="841059" cy="182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Centrosomes</a:t>
              </a:r>
            </a:p>
          </p:txBody>
        </p:sp>
      </p:grpSp>
      <p:sp>
        <p:nvSpPr>
          <p:cNvPr id="24" name="Line 6">
            <a:extLst>
              <a:ext uri="{FF2B5EF4-FFF2-40B4-BE49-F238E27FC236}">
                <a16:creationId xmlns:a16="http://schemas.microsoft.com/office/drawing/2014/main" id="{D898BD24-35B3-E544-A48D-51F0E0BC7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D9D0BD2-40DF-904D-974B-70C52C45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THE CELL CYCLE: INTERPHASE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52573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 descr="The cell cycle is mostly interphase in the average cell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1295400"/>
            <a:ext cx="6324600" cy="527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Line 6">
            <a:extLst>
              <a:ext uri="{FF2B5EF4-FFF2-40B4-BE49-F238E27FC236}">
                <a16:creationId xmlns:a16="http://schemas.microsoft.com/office/drawing/2014/main" id="{7ABC0688-33B5-6948-AF9F-9DC740949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636DAB-ACE5-E348-AFBE-70855B56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THE CELL CYCLE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342413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027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410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The multistep process that results in cell division with the separation of the </a:t>
            </a:r>
            <a:r>
              <a:rPr lang="en-US" sz="3200" u="sng" dirty="0">
                <a:solidFill>
                  <a:schemeClr val="tx1"/>
                </a:solidFill>
                <a:latin typeface="+mj-lt"/>
              </a:rPr>
              <a:t>sister chromatids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100" u="sng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Occurs during growth, healing, and maintenance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200" b="1" u="sng" dirty="0">
                <a:solidFill>
                  <a:schemeClr val="tx1"/>
                </a:solidFill>
                <a:latin typeface="+mj-lt"/>
              </a:rPr>
              <a:t>4</a:t>
            </a:r>
            <a:r>
              <a:rPr lang="en-US" sz="3200" dirty="0">
                <a:solidFill>
                  <a:schemeClr val="tx1"/>
                </a:solidFill>
                <a:latin typeface="+mj-lt"/>
              </a:rPr>
              <a:t> Steps of Mitosis:</a:t>
            </a:r>
          </a:p>
          <a:p>
            <a:pPr marL="990600" lvl="1" indent="-533400" eaLnBrk="1" hangingPunct="1">
              <a:lnSpc>
                <a:spcPct val="114000"/>
              </a:lnSpc>
              <a:buClr>
                <a:schemeClr val="tx1"/>
              </a:buClr>
              <a:buFontTx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Prophase</a:t>
            </a:r>
          </a:p>
          <a:p>
            <a:pPr marL="990600" lvl="1" indent="-533400" eaLnBrk="1" hangingPunct="1">
              <a:lnSpc>
                <a:spcPct val="114000"/>
              </a:lnSpc>
              <a:buClr>
                <a:schemeClr val="tx1"/>
              </a:buClr>
              <a:buFontTx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Metaphase</a:t>
            </a:r>
          </a:p>
          <a:p>
            <a:pPr marL="990600" lvl="1" indent="-533400" eaLnBrk="1" hangingPunct="1">
              <a:lnSpc>
                <a:spcPct val="114000"/>
              </a:lnSpc>
              <a:buClr>
                <a:schemeClr val="tx1"/>
              </a:buClr>
              <a:buFontTx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Anaphase</a:t>
            </a:r>
          </a:p>
          <a:p>
            <a:pPr marL="990600" lvl="1" indent="-533400" eaLnBrk="1" hangingPunct="1">
              <a:lnSpc>
                <a:spcPct val="114000"/>
              </a:lnSpc>
              <a:buClr>
                <a:schemeClr val="tx1"/>
              </a:buClr>
              <a:buFontTx/>
              <a:buAutoNum type="arabicParenR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Telophase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en-US" sz="2800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D8521FFC-A967-8F42-A126-7532D612C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088378F-27AC-3145-AF1C-5008E4FF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a typeface="ＭＳ Ｐゴシック" charset="0"/>
              </a:rPr>
              <a:t>THE CELL CYCLE: MITOSIS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7536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Cells in various phases of the cell cycle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026" hidden="1">
            <a:extLst>
              <a:ext uri="{FF2B5EF4-FFF2-40B4-BE49-F238E27FC236}">
                <a16:creationId xmlns:a16="http://schemas.microsoft.com/office/drawing/2014/main" id="{23519AD0-F2A7-AB49-80CD-604E1AE60C4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0" y="-152400"/>
            <a:ext cx="7345362" cy="133985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CELL CYCLE: Mitosis</a:t>
            </a:r>
          </a:p>
        </p:txBody>
      </p:sp>
    </p:spTree>
    <p:extLst>
      <p:ext uri="{BB962C8B-B14F-4D97-AF65-F5344CB8AC3E}">
        <p14:creationId xmlns:p14="http://schemas.microsoft.com/office/powerpoint/2010/main" val="2014329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65224"/>
            <a:ext cx="8991600" cy="5692776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1</a:t>
            </a:r>
            <a:r>
              <a:rPr lang="en-US" sz="3600" baseline="30000" dirty="0">
                <a:solidFill>
                  <a:schemeClr val="tx1"/>
                </a:solidFill>
                <a:latin typeface="+mj-lt"/>
              </a:rPr>
              <a:t>st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 phase of Mitosis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Chromosomes condense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Nuclear membrane disappears</a:t>
            </a:r>
          </a:p>
          <a:p>
            <a:pPr lvl="1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Chromosomes are now accessible</a:t>
            </a:r>
          </a:p>
          <a:p>
            <a:pPr marL="522288" lvl="1" indent="-1714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  <a:latin typeface="+mj-lt"/>
              </a:rPr>
              <a:t>Mitotic spindle 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begins to form</a:t>
            </a:r>
          </a:p>
          <a:p>
            <a:pPr eaLnBrk="1" hangingPunct="1">
              <a:buFontTx/>
              <a:buNone/>
            </a:pPr>
            <a:endParaRPr lang="en-US" sz="2800" dirty="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8F5599BE-FD22-2E4D-B788-60A26D862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F189EF-2B0F-7340-BD4D-3E7A6619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PROPHASE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1135191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 descr="Prophase">
            <a:extLst>
              <a:ext uri="{FF2B5EF4-FFF2-40B4-BE49-F238E27FC236}">
                <a16:creationId xmlns:a16="http://schemas.microsoft.com/office/drawing/2014/main" id="{C56AAADB-1556-064D-8220-BADD5D3ED52D}"/>
              </a:ext>
            </a:extLst>
          </p:cNvPr>
          <p:cNvGrpSpPr/>
          <p:nvPr/>
        </p:nvGrpSpPr>
        <p:grpSpPr>
          <a:xfrm>
            <a:off x="5181600" y="280368"/>
            <a:ext cx="3429000" cy="5791200"/>
            <a:chOff x="4521200" y="1000125"/>
            <a:chExt cx="2489200" cy="4116388"/>
          </a:xfrm>
        </p:grpSpPr>
        <p:pic>
          <p:nvPicPr>
            <p:cNvPr id="29" name="Picture 138" descr="W:\08VOL4\Graphics\Powerpoint\MH_DCM\MH_DCM-TEXTEDIT PROJECTS\McKINLEY_5e\Processed files\chapt02\chapt00_textedit\mck85278_02_20a.jpg">
              <a:extLst>
                <a:ext uri="{FF2B5EF4-FFF2-40B4-BE49-F238E27FC236}">
                  <a16:creationId xmlns:a16="http://schemas.microsoft.com/office/drawing/2014/main" id="{338AEF01-24C5-A54B-AD45-9217F9C515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008" t="15884" r="2357"/>
            <a:stretch/>
          </p:blipFill>
          <p:spPr bwMode="auto">
            <a:xfrm>
              <a:off x="4521200" y="1274763"/>
              <a:ext cx="2489200" cy="384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149">
              <a:extLst>
                <a:ext uri="{FF2B5EF4-FFF2-40B4-BE49-F238E27FC236}">
                  <a16:creationId xmlns:a16="http://schemas.microsoft.com/office/drawing/2014/main" id="{07E3D931-35EC-1941-85F3-DB5EDB17E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825" y="1246188"/>
              <a:ext cx="193675" cy="153987"/>
            </a:xfrm>
            <a:custGeom>
              <a:avLst/>
              <a:gdLst>
                <a:gd name="T0" fmla="*/ 334910781 w 112"/>
                <a:gd name="T1" fmla="*/ 266426940 h 89"/>
                <a:gd name="T2" fmla="*/ 176425826 w 112"/>
                <a:gd name="T3" fmla="*/ 0 h 89"/>
                <a:gd name="T4" fmla="*/ 0 w 112"/>
                <a:gd name="T5" fmla="*/ 239484415 h 89"/>
                <a:gd name="T6" fmla="*/ 0 60000 65536"/>
                <a:gd name="T7" fmla="*/ 0 60000 65536"/>
                <a:gd name="T8" fmla="*/ 0 60000 65536"/>
                <a:gd name="T9" fmla="*/ 0 w 112"/>
                <a:gd name="T10" fmla="*/ 0 h 89"/>
                <a:gd name="T11" fmla="*/ 112 w 112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89">
                  <a:moveTo>
                    <a:pt x="112" y="89"/>
                  </a:moveTo>
                  <a:lnTo>
                    <a:pt x="59" y="0"/>
                  </a:lnTo>
                  <a:lnTo>
                    <a:pt x="0" y="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152">
              <a:extLst>
                <a:ext uri="{FF2B5EF4-FFF2-40B4-BE49-F238E27FC236}">
                  <a16:creationId xmlns:a16="http://schemas.microsoft.com/office/drawing/2014/main" id="{DB0F8622-C0BB-214D-87B4-0FADFA2A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3375" y="1246188"/>
              <a:ext cx="57150" cy="393700"/>
            </a:xfrm>
            <a:custGeom>
              <a:avLst/>
              <a:gdLst>
                <a:gd name="T0" fmla="*/ 98973390 w 33"/>
                <a:gd name="T1" fmla="*/ 566518823 h 228"/>
                <a:gd name="T2" fmla="*/ 8996795 w 33"/>
                <a:gd name="T3" fmla="*/ 0 h 228"/>
                <a:gd name="T4" fmla="*/ 0 w 33"/>
                <a:gd name="T5" fmla="*/ 679823236 h 228"/>
                <a:gd name="T6" fmla="*/ 0 60000 65536"/>
                <a:gd name="T7" fmla="*/ 0 60000 65536"/>
                <a:gd name="T8" fmla="*/ 0 60000 65536"/>
                <a:gd name="T9" fmla="*/ 0 w 33"/>
                <a:gd name="T10" fmla="*/ 0 h 228"/>
                <a:gd name="T11" fmla="*/ 33 w 33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228">
                  <a:moveTo>
                    <a:pt x="33" y="190"/>
                  </a:moveTo>
                  <a:lnTo>
                    <a:pt x="3" y="0"/>
                  </a:lnTo>
                  <a:lnTo>
                    <a:pt x="0" y="2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157">
              <a:extLst>
                <a:ext uri="{FF2B5EF4-FFF2-40B4-BE49-F238E27FC236}">
                  <a16:creationId xmlns:a16="http://schemas.microsoft.com/office/drawing/2014/main" id="{68643883-97C3-F346-8E4E-5178AA30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0238" y="2286000"/>
              <a:ext cx="450850" cy="358775"/>
            </a:xfrm>
            <a:custGeom>
              <a:avLst/>
              <a:gdLst>
                <a:gd name="T0" fmla="*/ 781791090 w 260"/>
                <a:gd name="T1" fmla="*/ 621833370 h 207"/>
                <a:gd name="T2" fmla="*/ 649487486 w 260"/>
                <a:gd name="T3" fmla="*/ 621833370 h 207"/>
                <a:gd name="T4" fmla="*/ 0 w 260"/>
                <a:gd name="T5" fmla="*/ 0 h 207"/>
                <a:gd name="T6" fmla="*/ 0 60000 65536"/>
                <a:gd name="T7" fmla="*/ 0 60000 65536"/>
                <a:gd name="T8" fmla="*/ 0 60000 65536"/>
                <a:gd name="T9" fmla="*/ 0 w 260"/>
                <a:gd name="T10" fmla="*/ 0 h 207"/>
                <a:gd name="T11" fmla="*/ 260 w 260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0" h="207">
                  <a:moveTo>
                    <a:pt x="260" y="207"/>
                  </a:moveTo>
                  <a:lnTo>
                    <a:pt x="216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Line 160">
              <a:extLst>
                <a:ext uri="{FF2B5EF4-FFF2-40B4-BE49-F238E27FC236}">
                  <a16:creationId xmlns:a16="http://schemas.microsoft.com/office/drawing/2014/main" id="{443BC4F0-0EB9-124D-B855-0E0F346CC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7225" y="3306762"/>
              <a:ext cx="0" cy="808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221">
              <a:extLst>
                <a:ext uri="{FF2B5EF4-FFF2-40B4-BE49-F238E27FC236}">
                  <a16:creationId xmlns:a16="http://schemas.microsoft.com/office/drawing/2014/main" id="{30B81967-4914-994D-B7FF-35340A7A6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234" y="2968625"/>
              <a:ext cx="1790410" cy="273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algn="ctr"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Nucleus with</a:t>
              </a:r>
            </a:p>
            <a:p>
              <a:pPr algn="ctr"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dispersed replicated chromosomes</a:t>
              </a:r>
            </a:p>
          </p:txBody>
        </p:sp>
        <p:sp>
          <p:nvSpPr>
            <p:cNvPr id="39" name="TextBox 222">
              <a:extLst>
                <a:ext uri="{FF2B5EF4-FFF2-40B4-BE49-F238E27FC236}">
                  <a16:creationId xmlns:a16="http://schemas.microsoft.com/office/drawing/2014/main" id="{6D400387-4CD9-D14F-8AA4-AA76F05F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7600" y="2587625"/>
              <a:ext cx="619767" cy="273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Developing</a:t>
              </a:r>
            </a:p>
            <a:p>
              <a:pPr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spindle</a:t>
              </a:r>
            </a:p>
          </p:txBody>
        </p:sp>
        <p:sp>
          <p:nvSpPr>
            <p:cNvPr id="40" name="TextBox 228">
              <a:extLst>
                <a:ext uri="{FF2B5EF4-FFF2-40B4-BE49-F238E27FC236}">
                  <a16:creationId xmlns:a16="http://schemas.microsoft.com/office/drawing/2014/main" id="{FBCF1096-B9FF-C949-9506-16808F066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0018" y="1107847"/>
              <a:ext cx="1361019" cy="153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algn="ctr"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Identical sister chromatids</a:t>
              </a:r>
            </a:p>
          </p:txBody>
        </p:sp>
        <p:sp>
          <p:nvSpPr>
            <p:cNvPr id="41" name="TextBox 229">
              <a:extLst>
                <a:ext uri="{FF2B5EF4-FFF2-40B4-BE49-F238E27FC236}">
                  <a16:creationId xmlns:a16="http://schemas.microsoft.com/office/drawing/2014/main" id="{1DD69792-ED13-D047-AE08-878DAED34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8032" y="1000125"/>
              <a:ext cx="618602" cy="273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algn="ctr"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Sister</a:t>
              </a:r>
            </a:p>
            <a:p>
              <a:pPr algn="ctr"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chromatids</a:t>
              </a:r>
            </a:p>
          </p:txBody>
        </p:sp>
      </p:grpSp>
      <p:grpSp>
        <p:nvGrpSpPr>
          <p:cNvPr id="43" name="Group 42" descr="G2 of Interphase">
            <a:extLst>
              <a:ext uri="{FF2B5EF4-FFF2-40B4-BE49-F238E27FC236}">
                <a16:creationId xmlns:a16="http://schemas.microsoft.com/office/drawing/2014/main" id="{4FD549E4-7F84-A14C-B117-4B4F675FDC4A}"/>
              </a:ext>
            </a:extLst>
          </p:cNvPr>
          <p:cNvGrpSpPr/>
          <p:nvPr/>
        </p:nvGrpSpPr>
        <p:grpSpPr>
          <a:xfrm>
            <a:off x="572351" y="497160"/>
            <a:ext cx="4533049" cy="5598840"/>
            <a:chOff x="2012950" y="1216025"/>
            <a:chExt cx="3206301" cy="3900487"/>
          </a:xfrm>
        </p:grpSpPr>
        <p:pic>
          <p:nvPicPr>
            <p:cNvPr id="44" name="Picture 138" descr="W:\08VOL4\Graphics\Powerpoint\MH_DCM\MH_DCM-TEXTEDIT PROJECTS\McKINLEY_5e\Processed files\chapt02\chapt00_textedit\mck85278_02_20a.jpg">
              <a:extLst>
                <a:ext uri="{FF2B5EF4-FFF2-40B4-BE49-F238E27FC236}">
                  <a16:creationId xmlns:a16="http://schemas.microsoft.com/office/drawing/2014/main" id="{E8B2ABAE-098F-194F-945D-714CD05BE3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55" r="54218"/>
            <a:stretch/>
          </p:blipFill>
          <p:spPr bwMode="auto">
            <a:xfrm>
              <a:off x="2012950" y="1501775"/>
              <a:ext cx="2343150" cy="3614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143">
              <a:extLst>
                <a:ext uri="{FF2B5EF4-FFF2-40B4-BE49-F238E27FC236}">
                  <a16:creationId xmlns:a16="http://schemas.microsoft.com/office/drawing/2014/main" id="{97DDD305-7B37-9F43-B500-EF289F49C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763" y="1436688"/>
              <a:ext cx="538162" cy="412750"/>
            </a:xfrm>
            <a:custGeom>
              <a:avLst/>
              <a:gdLst>
                <a:gd name="T0" fmla="*/ 931248743 w 311"/>
                <a:gd name="T1" fmla="*/ 712814103 h 239"/>
                <a:gd name="T2" fmla="*/ 461132191 w 311"/>
                <a:gd name="T3" fmla="*/ 0 h 239"/>
                <a:gd name="T4" fmla="*/ 461132191 w 311"/>
                <a:gd name="T5" fmla="*/ 0 h 239"/>
                <a:gd name="T6" fmla="*/ 0 w 311"/>
                <a:gd name="T7" fmla="*/ 492110344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1"/>
                <a:gd name="T13" fmla="*/ 0 h 239"/>
                <a:gd name="T14" fmla="*/ 311 w 311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1" h="239">
                  <a:moveTo>
                    <a:pt x="311" y="239"/>
                  </a:moveTo>
                  <a:lnTo>
                    <a:pt x="154" y="0"/>
                  </a:lnTo>
                  <a:lnTo>
                    <a:pt x="0" y="16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144">
              <a:extLst>
                <a:ext uri="{FF2B5EF4-FFF2-40B4-BE49-F238E27FC236}">
                  <a16:creationId xmlns:a16="http://schemas.microsoft.com/office/drawing/2014/main" id="{86FADE33-4892-5E4E-A539-F6806517CC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8463" y="1347788"/>
              <a:ext cx="0" cy="88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145">
              <a:extLst>
                <a:ext uri="{FF2B5EF4-FFF2-40B4-BE49-F238E27FC236}">
                  <a16:creationId xmlns:a16="http://schemas.microsoft.com/office/drawing/2014/main" id="{ADB95651-41B6-1243-A4E1-77BE83C75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713" y="2178050"/>
              <a:ext cx="9858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146">
              <a:extLst>
                <a:ext uri="{FF2B5EF4-FFF2-40B4-BE49-F238E27FC236}">
                  <a16:creationId xmlns:a16="http://schemas.microsoft.com/office/drawing/2014/main" id="{46DC245B-ECDC-5C43-A527-913A7C7BE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825" y="2039938"/>
              <a:ext cx="857250" cy="71437"/>
            </a:xfrm>
            <a:custGeom>
              <a:avLst/>
              <a:gdLst>
                <a:gd name="T0" fmla="*/ 0 w 495"/>
                <a:gd name="T1" fmla="*/ 124469398 h 41"/>
                <a:gd name="T2" fmla="*/ 170954712 w 495"/>
                <a:gd name="T3" fmla="*/ 0 h 41"/>
                <a:gd name="T4" fmla="*/ 1484601203 w 495"/>
                <a:gd name="T5" fmla="*/ 0 h 41"/>
                <a:gd name="T6" fmla="*/ 0 60000 65536"/>
                <a:gd name="T7" fmla="*/ 0 60000 65536"/>
                <a:gd name="T8" fmla="*/ 0 60000 65536"/>
                <a:gd name="T9" fmla="*/ 0 w 495"/>
                <a:gd name="T10" fmla="*/ 0 h 41"/>
                <a:gd name="T11" fmla="*/ 495 w 495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5" h="41">
                  <a:moveTo>
                    <a:pt x="0" y="41"/>
                  </a:moveTo>
                  <a:lnTo>
                    <a:pt x="57" y="0"/>
                  </a:lnTo>
                  <a:lnTo>
                    <a:pt x="4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Line 147">
              <a:extLst>
                <a:ext uri="{FF2B5EF4-FFF2-40B4-BE49-F238E27FC236}">
                  <a16:creationId xmlns:a16="http://schemas.microsoft.com/office/drawing/2014/main" id="{A51D6A10-27AE-A84C-9F4C-8BF8B1C70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288" y="2649538"/>
              <a:ext cx="582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Line 148">
              <a:extLst>
                <a:ext uri="{FF2B5EF4-FFF2-40B4-BE49-F238E27FC236}">
                  <a16:creationId xmlns:a16="http://schemas.microsoft.com/office/drawing/2014/main" id="{23FBE458-FD38-BC45-BF8B-4EAC66817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75" y="2382838"/>
              <a:ext cx="771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159">
              <a:extLst>
                <a:ext uri="{FF2B5EF4-FFF2-40B4-BE49-F238E27FC236}">
                  <a16:creationId xmlns:a16="http://schemas.microsoft.com/office/drawing/2014/main" id="{B3559360-4276-5B47-A2FD-EB57C551A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0375" y="3200400"/>
              <a:ext cx="50800" cy="854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223">
              <a:extLst>
                <a:ext uri="{FF2B5EF4-FFF2-40B4-BE49-F238E27FC236}">
                  <a16:creationId xmlns:a16="http://schemas.microsoft.com/office/drawing/2014/main" id="{6CFBBA35-00C6-A640-A4B3-B902AD2C9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710" y="2993722"/>
              <a:ext cx="1486297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algn="ctr"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Nucleus with chromatin</a:t>
              </a:r>
            </a:p>
          </p:txBody>
        </p:sp>
        <p:sp>
          <p:nvSpPr>
            <p:cNvPr id="53" name="TextBox 224">
              <a:extLst>
                <a:ext uri="{FF2B5EF4-FFF2-40B4-BE49-F238E27FC236}">
                  <a16:creationId xmlns:a16="http://schemas.microsoft.com/office/drawing/2014/main" id="{32842235-7E22-0544-96B0-91BBCC5CD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299" y="2587626"/>
              <a:ext cx="1421952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Plasma membrane</a:t>
              </a:r>
            </a:p>
          </p:txBody>
        </p:sp>
        <p:sp>
          <p:nvSpPr>
            <p:cNvPr id="54" name="TextBox 225">
              <a:extLst>
                <a:ext uri="{FF2B5EF4-FFF2-40B4-BE49-F238E27FC236}">
                  <a16:creationId xmlns:a16="http://schemas.microsoft.com/office/drawing/2014/main" id="{0A4A3131-B5A7-DC4C-AD10-27D2CA0B1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299" y="2320925"/>
              <a:ext cx="1162499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Nuclear envelope</a:t>
              </a:r>
            </a:p>
          </p:txBody>
        </p:sp>
        <p:sp>
          <p:nvSpPr>
            <p:cNvPr id="55" name="TextBox 226">
              <a:extLst>
                <a:ext uri="{FF2B5EF4-FFF2-40B4-BE49-F238E27FC236}">
                  <a16:creationId xmlns:a16="http://schemas.microsoft.com/office/drawing/2014/main" id="{D371EF74-A148-424B-85A0-822011B9C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300" y="2117725"/>
              <a:ext cx="675841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Nucleolus</a:t>
              </a:r>
            </a:p>
          </p:txBody>
        </p:sp>
        <p:sp>
          <p:nvSpPr>
            <p:cNvPr id="56" name="TextBox 227">
              <a:extLst>
                <a:ext uri="{FF2B5EF4-FFF2-40B4-BE49-F238E27FC236}">
                  <a16:creationId xmlns:a16="http://schemas.microsoft.com/office/drawing/2014/main" id="{E24AED00-66E9-1342-AB9A-62D2DA8F8C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300" y="1978025"/>
              <a:ext cx="702671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>
                  <a:latin typeface="Arial" panose="020B0604020202020204" pitchFamily="34" charset="0"/>
                  <a:cs typeface="Arial" panose="020B0604020202020204" pitchFamily="34" charset="0"/>
                </a:rPr>
                <a:t>Chromatin</a:t>
              </a:r>
            </a:p>
          </p:txBody>
        </p:sp>
        <p:sp>
          <p:nvSpPr>
            <p:cNvPr id="57" name="TextBox 233">
              <a:extLst>
                <a:ext uri="{FF2B5EF4-FFF2-40B4-BE49-F238E27FC236}">
                  <a16:creationId xmlns:a16="http://schemas.microsoft.com/office/drawing/2014/main" id="{2221A36B-2C10-B447-96C8-50B974B66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1216025"/>
              <a:ext cx="876362" cy="189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>
              <a:spAutoFit/>
            </a:bodyPr>
            <a:lstStyle/>
            <a:p>
              <a:pPr eaLnBrk="1" hangingPunct="1">
                <a:defRPr/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Centrosomes</a:t>
              </a:r>
            </a:p>
          </p:txBody>
        </p:sp>
      </p:grpSp>
      <p:sp>
        <p:nvSpPr>
          <p:cNvPr id="58" name="Text Box 31">
            <a:extLst>
              <a:ext uri="{FF2B5EF4-FFF2-40B4-BE49-F238E27FC236}">
                <a16:creationId xmlns:a16="http://schemas.microsoft.com/office/drawing/2014/main" id="{56CA21BB-267D-DB4D-B63F-C8B4235FF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52" y="5943600"/>
            <a:ext cx="3161448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>
                <a:ea typeface="ＭＳ Ｐゴシック" charset="-128"/>
                <a:cs typeface="ＭＳ Ｐゴシック" charset="-128"/>
              </a:rPr>
              <a:t>G</a:t>
            </a:r>
            <a:r>
              <a:rPr lang="en-US" b="1" baseline="-25000" dirty="0">
                <a:ea typeface="ＭＳ Ｐゴシック" charset="-128"/>
                <a:cs typeface="ＭＳ Ｐゴシック" charset="-128"/>
              </a:rPr>
              <a:t>2</a:t>
            </a:r>
            <a:r>
              <a:rPr lang="en-US" b="1" dirty="0">
                <a:ea typeface="ＭＳ Ｐゴシック" charset="-128"/>
                <a:cs typeface="ＭＳ Ｐゴシック" charset="-128"/>
              </a:rPr>
              <a:t> of Interphase</a:t>
            </a: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0D65BFB7-0273-254F-AC36-6FFCAACA5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902" y="5943600"/>
            <a:ext cx="3226572" cy="372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>
                <a:ea typeface="ＭＳ Ｐゴシック" charset="-128"/>
                <a:cs typeface="ＭＳ Ｐゴシック" charset="-128"/>
              </a:rPr>
              <a:t>Prophase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D575D9B-8CE1-FA4E-94AB-67CC33B647B4}"/>
              </a:ext>
            </a:extLst>
          </p:cNvPr>
          <p:cNvSpPr/>
          <p:nvPr/>
        </p:nvSpPr>
        <p:spPr>
          <a:xfrm rot="520837">
            <a:off x="1103097" y="1108194"/>
            <a:ext cx="1652153" cy="5884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2450B15-5833-0F4B-9CF3-7919DA04367C}"/>
              </a:ext>
            </a:extLst>
          </p:cNvPr>
          <p:cNvSpPr/>
          <p:nvPr/>
        </p:nvSpPr>
        <p:spPr>
          <a:xfrm>
            <a:off x="5385004" y="1158383"/>
            <a:ext cx="645914" cy="5942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ABF558-8DAF-7349-B683-D07187FE6185}"/>
              </a:ext>
            </a:extLst>
          </p:cNvPr>
          <p:cNvSpPr/>
          <p:nvPr/>
        </p:nvSpPr>
        <p:spPr>
          <a:xfrm>
            <a:off x="6743335" y="1614146"/>
            <a:ext cx="645914" cy="5942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FAAE793-84AB-A141-AFBA-DE1204EAEDA8}"/>
              </a:ext>
            </a:extLst>
          </p:cNvPr>
          <p:cNvCxnSpPr>
            <a:cxnSpLocks/>
          </p:cNvCxnSpPr>
          <p:nvPr/>
        </p:nvCxnSpPr>
        <p:spPr>
          <a:xfrm flipH="1" flipV="1">
            <a:off x="6667135" y="2117725"/>
            <a:ext cx="722114" cy="6203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1026" hidden="1">
            <a:extLst>
              <a:ext uri="{FF2B5EF4-FFF2-40B4-BE49-F238E27FC236}">
                <a16:creationId xmlns:a16="http://schemas.microsoft.com/office/drawing/2014/main" id="{7FC218D9-3B54-4142-9DD5-1A2CA9C99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288" y="-174625"/>
            <a:ext cx="8197312" cy="1339850"/>
          </a:xfrm>
        </p:spPr>
        <p:txBody>
          <a:bodyPr>
            <a:normAutofit/>
          </a:bodyPr>
          <a:lstStyle/>
          <a:p>
            <a:pPr algn="l" fontAlgn="auto"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MITOSIS: Prophase</a:t>
            </a:r>
          </a:p>
        </p:txBody>
      </p:sp>
    </p:spTree>
    <p:extLst>
      <p:ext uri="{BB962C8B-B14F-4D97-AF65-F5344CB8AC3E}">
        <p14:creationId xmlns:p14="http://schemas.microsoft.com/office/powerpoint/2010/main" val="25014718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An actual cell in prophas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Arrow Connector 3"/>
          <p:cNvCxnSpPr/>
          <p:nvPr/>
        </p:nvCxnSpPr>
        <p:spPr>
          <a:xfrm rot="10800000">
            <a:off x="6705600" y="4038600"/>
            <a:ext cx="609600" cy="381000"/>
          </a:xfrm>
          <a:prstGeom prst="straightConnector1">
            <a:avLst/>
          </a:prstGeom>
          <a:ln w="38100">
            <a:solidFill>
              <a:srgbClr val="AD13C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057399" y="3352800"/>
            <a:ext cx="762001" cy="152401"/>
          </a:xfrm>
          <a:prstGeom prst="straightConnector1">
            <a:avLst/>
          </a:prstGeom>
          <a:ln w="38100">
            <a:solidFill>
              <a:srgbClr val="AD13C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026" hidden="1">
            <a:extLst>
              <a:ext uri="{FF2B5EF4-FFF2-40B4-BE49-F238E27FC236}">
                <a16:creationId xmlns:a16="http://schemas.microsoft.com/office/drawing/2014/main" id="{81CB88A4-E300-DE41-AE05-EA5DA28D9A0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0" y="-36786"/>
            <a:ext cx="7345362" cy="13398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MITOSIS: Prophase</a:t>
            </a:r>
          </a:p>
        </p:txBody>
      </p:sp>
    </p:spTree>
    <p:extLst>
      <p:ext uri="{BB962C8B-B14F-4D97-AF65-F5344CB8AC3E}">
        <p14:creationId xmlns:p14="http://schemas.microsoft.com/office/powerpoint/2010/main" val="2500165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246680"/>
            <a:ext cx="8991600" cy="5306520"/>
          </a:xfrm>
        </p:spPr>
        <p:txBody>
          <a:bodyPr>
            <a:no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+mj-lt"/>
              </a:rPr>
              <a:t>Mitotic Spindle </a:t>
            </a:r>
            <a:r>
              <a:rPr lang="en-US" sz="3200" dirty="0">
                <a:solidFill>
                  <a:schemeClr val="tx1"/>
                </a:solidFill>
                <a:latin typeface="+mj-lt"/>
              </a:rPr>
              <a:t>= The structure that pulls the sister chromatids apart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Spindle microtubules attach to each side of the chromosome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179D01D8-1F7F-8340-A6FF-059A0D374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03F619-5DA6-6E4B-ADCF-5E2CC17B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PROPHASE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971492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equator is like the metaphase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908" y="4188994"/>
            <a:ext cx="2511738" cy="2500000"/>
          </a:xfrm>
          <a:prstGeom prst="rect">
            <a:avLst/>
          </a:prstGeom>
        </p:spPr>
      </p:pic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1021" y="1295400"/>
            <a:ext cx="9035512" cy="39319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2</a:t>
            </a:r>
            <a:r>
              <a:rPr lang="en-US" sz="3600" baseline="30000" dirty="0">
                <a:solidFill>
                  <a:schemeClr val="tx1"/>
                </a:solidFill>
                <a:latin typeface="+mj-lt"/>
              </a:rPr>
              <a:t>nd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 phase of Mitosis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The mitotic spindle lines chromosomes up along the 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metaphase plate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  <a:latin typeface="+mj-lt"/>
              </a:rPr>
              <a:t>Metaphase plate 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is like the “equator” of the cell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FE22ACC-3A29-584B-8BD3-F1551F0C4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66C8CF3-257B-4F4F-B5A8-07B5972F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METAPHASE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52203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Metaphase">
            <a:extLst>
              <a:ext uri="{FF2B5EF4-FFF2-40B4-BE49-F238E27FC236}">
                <a16:creationId xmlns:a16="http://schemas.microsoft.com/office/drawing/2014/main" id="{AA8D1CA8-E160-2F4D-B2FF-B608D408172C}"/>
              </a:ext>
            </a:extLst>
          </p:cNvPr>
          <p:cNvGrpSpPr/>
          <p:nvPr/>
        </p:nvGrpSpPr>
        <p:grpSpPr>
          <a:xfrm>
            <a:off x="2971800" y="1429292"/>
            <a:ext cx="3419530" cy="5090495"/>
            <a:chOff x="725488" y="1266825"/>
            <a:chExt cx="2445745" cy="3856037"/>
          </a:xfrm>
        </p:grpSpPr>
        <p:pic>
          <p:nvPicPr>
            <p:cNvPr id="3" name="Picture 2" descr="W:\08VOL4\Graphics\Powerpoint\MH_DCM\MH_DCM-TEXTEDIT PROJECTS\McKINLEY_5e\Processed files\chapt02\chapt00_textedit\mck85278_02_20b.jpg">
              <a:extLst>
                <a:ext uri="{FF2B5EF4-FFF2-40B4-BE49-F238E27FC236}">
                  <a16:creationId xmlns:a16="http://schemas.microsoft.com/office/drawing/2014/main" id="{7B09CA2A-5982-454B-9B96-DE92C39881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950" r="67497"/>
            <a:stretch/>
          </p:blipFill>
          <p:spPr bwMode="auto">
            <a:xfrm>
              <a:off x="725488" y="1422399"/>
              <a:ext cx="2445745" cy="370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 187">
              <a:extLst>
                <a:ext uri="{FF2B5EF4-FFF2-40B4-BE49-F238E27FC236}">
                  <a16:creationId xmlns:a16="http://schemas.microsoft.com/office/drawing/2014/main" id="{4790FCEF-F6D1-294A-8096-C2D81E7E4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288" y="1514475"/>
              <a:ext cx="341312" cy="311150"/>
            </a:xfrm>
            <a:custGeom>
              <a:avLst/>
              <a:gdLst>
                <a:gd name="T0" fmla="*/ 2147483646 w 215"/>
                <a:gd name="T1" fmla="*/ 2147483646 h 196"/>
                <a:gd name="T2" fmla="*/ 2147483646 w 215"/>
                <a:gd name="T3" fmla="*/ 0 h 196"/>
                <a:gd name="T4" fmla="*/ 0 w 215"/>
                <a:gd name="T5" fmla="*/ 2147483646 h 196"/>
                <a:gd name="T6" fmla="*/ 0 60000 65536"/>
                <a:gd name="T7" fmla="*/ 0 60000 65536"/>
                <a:gd name="T8" fmla="*/ 0 60000 65536"/>
                <a:gd name="T9" fmla="*/ 0 w 215"/>
                <a:gd name="T10" fmla="*/ 0 h 196"/>
                <a:gd name="T11" fmla="*/ 215 w 215"/>
                <a:gd name="T12" fmla="*/ 196 h 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" h="196">
                  <a:moveTo>
                    <a:pt x="26" y="196"/>
                  </a:moveTo>
                  <a:lnTo>
                    <a:pt x="215" y="0"/>
                  </a:lnTo>
                  <a:lnTo>
                    <a:pt x="0" y="125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Freeform 194">
              <a:extLst>
                <a:ext uri="{FF2B5EF4-FFF2-40B4-BE49-F238E27FC236}">
                  <a16:creationId xmlns:a16="http://schemas.microsoft.com/office/drawing/2014/main" id="{095D8248-79C4-3940-88C6-26A74A5A7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13" y="3194050"/>
              <a:ext cx="642937" cy="984250"/>
            </a:xfrm>
            <a:custGeom>
              <a:avLst/>
              <a:gdLst>
                <a:gd name="T0" fmla="*/ 0 w 405"/>
                <a:gd name="T1" fmla="*/ 0 h 620"/>
                <a:gd name="T2" fmla="*/ 0 w 405"/>
                <a:gd name="T3" fmla="*/ 2147483646 h 620"/>
                <a:gd name="T4" fmla="*/ 2147483646 w 405"/>
                <a:gd name="T5" fmla="*/ 2147483646 h 620"/>
                <a:gd name="T6" fmla="*/ 0 60000 65536"/>
                <a:gd name="T7" fmla="*/ 0 60000 65536"/>
                <a:gd name="T8" fmla="*/ 0 60000 65536"/>
                <a:gd name="T9" fmla="*/ 0 w 405"/>
                <a:gd name="T10" fmla="*/ 0 h 620"/>
                <a:gd name="T11" fmla="*/ 405 w 405"/>
                <a:gd name="T12" fmla="*/ 620 h 6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" h="620">
                  <a:moveTo>
                    <a:pt x="0" y="0"/>
                  </a:moveTo>
                  <a:lnTo>
                    <a:pt x="0" y="620"/>
                  </a:lnTo>
                  <a:lnTo>
                    <a:pt x="405" y="620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195">
              <a:extLst>
                <a:ext uri="{FF2B5EF4-FFF2-40B4-BE49-F238E27FC236}">
                  <a16:creationId xmlns:a16="http://schemas.microsoft.com/office/drawing/2014/main" id="{7FCD7706-B1DA-8448-A4EC-ADE2A4F09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3" y="3194050"/>
              <a:ext cx="933450" cy="887413"/>
            </a:xfrm>
            <a:custGeom>
              <a:avLst/>
              <a:gdLst>
                <a:gd name="T0" fmla="*/ 0 w 588"/>
                <a:gd name="T1" fmla="*/ 2147483646 h 559"/>
                <a:gd name="T2" fmla="*/ 2147483646 w 588"/>
                <a:gd name="T3" fmla="*/ 0 h 559"/>
                <a:gd name="T4" fmla="*/ 2147483646 w 588"/>
                <a:gd name="T5" fmla="*/ 2147483646 h 559"/>
                <a:gd name="T6" fmla="*/ 0 60000 65536"/>
                <a:gd name="T7" fmla="*/ 0 60000 65536"/>
                <a:gd name="T8" fmla="*/ 0 60000 65536"/>
                <a:gd name="T9" fmla="*/ 0 w 588"/>
                <a:gd name="T10" fmla="*/ 0 h 559"/>
                <a:gd name="T11" fmla="*/ 588 w 588"/>
                <a:gd name="T12" fmla="*/ 559 h 5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8" h="559">
                  <a:moveTo>
                    <a:pt x="0" y="559"/>
                  </a:moveTo>
                  <a:lnTo>
                    <a:pt x="588" y="0"/>
                  </a:lnTo>
                  <a:lnTo>
                    <a:pt x="520" y="55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187">
              <a:extLst>
                <a:ext uri="{FF2B5EF4-FFF2-40B4-BE49-F238E27FC236}">
                  <a16:creationId xmlns:a16="http://schemas.microsoft.com/office/drawing/2014/main" id="{7D4122F7-56C8-C64B-9DE9-F90C7EEB0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288" y="1514475"/>
              <a:ext cx="339725" cy="311150"/>
            </a:xfrm>
            <a:custGeom>
              <a:avLst/>
              <a:gdLst>
                <a:gd name="T0" fmla="*/ 2147483646 w 215"/>
                <a:gd name="T1" fmla="*/ 2147483646 h 196"/>
                <a:gd name="T2" fmla="*/ 2147483646 w 215"/>
                <a:gd name="T3" fmla="*/ 0 h 196"/>
                <a:gd name="T4" fmla="*/ 0 w 215"/>
                <a:gd name="T5" fmla="*/ 2147483646 h 196"/>
                <a:gd name="T6" fmla="*/ 0 60000 65536"/>
                <a:gd name="T7" fmla="*/ 0 60000 65536"/>
                <a:gd name="T8" fmla="*/ 0 60000 65536"/>
                <a:gd name="T9" fmla="*/ 0 w 215"/>
                <a:gd name="T10" fmla="*/ 0 h 196"/>
                <a:gd name="T11" fmla="*/ 215 w 215"/>
                <a:gd name="T12" fmla="*/ 196 h 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" h="196">
                  <a:moveTo>
                    <a:pt x="26" y="196"/>
                  </a:moveTo>
                  <a:lnTo>
                    <a:pt x="215" y="0"/>
                  </a:lnTo>
                  <a:lnTo>
                    <a:pt x="0" y="12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 194">
              <a:extLst>
                <a:ext uri="{FF2B5EF4-FFF2-40B4-BE49-F238E27FC236}">
                  <a16:creationId xmlns:a16="http://schemas.microsoft.com/office/drawing/2014/main" id="{09A7CE6F-D782-C442-94B8-0763C696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13" y="3194050"/>
              <a:ext cx="641350" cy="984250"/>
            </a:xfrm>
            <a:custGeom>
              <a:avLst/>
              <a:gdLst>
                <a:gd name="T0" fmla="*/ 0 w 405"/>
                <a:gd name="T1" fmla="*/ 0 h 620"/>
                <a:gd name="T2" fmla="*/ 0 w 405"/>
                <a:gd name="T3" fmla="*/ 2147483646 h 620"/>
                <a:gd name="T4" fmla="*/ 2147483646 w 405"/>
                <a:gd name="T5" fmla="*/ 2147483646 h 620"/>
                <a:gd name="T6" fmla="*/ 0 60000 65536"/>
                <a:gd name="T7" fmla="*/ 0 60000 65536"/>
                <a:gd name="T8" fmla="*/ 0 60000 65536"/>
                <a:gd name="T9" fmla="*/ 0 w 405"/>
                <a:gd name="T10" fmla="*/ 0 h 620"/>
                <a:gd name="T11" fmla="*/ 405 w 405"/>
                <a:gd name="T12" fmla="*/ 620 h 6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" h="620">
                  <a:moveTo>
                    <a:pt x="0" y="0"/>
                  </a:moveTo>
                  <a:lnTo>
                    <a:pt x="0" y="620"/>
                  </a:lnTo>
                  <a:lnTo>
                    <a:pt x="405" y="6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 195">
              <a:extLst>
                <a:ext uri="{FF2B5EF4-FFF2-40B4-BE49-F238E27FC236}">
                  <a16:creationId xmlns:a16="http://schemas.microsoft.com/office/drawing/2014/main" id="{19FBE5C1-5C6C-F340-8CCF-891EE7B3C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3" y="3194050"/>
              <a:ext cx="933450" cy="887413"/>
            </a:xfrm>
            <a:custGeom>
              <a:avLst/>
              <a:gdLst>
                <a:gd name="T0" fmla="*/ 0 w 588"/>
                <a:gd name="T1" fmla="*/ 2147483646 h 559"/>
                <a:gd name="T2" fmla="*/ 2147483646 w 588"/>
                <a:gd name="T3" fmla="*/ 0 h 559"/>
                <a:gd name="T4" fmla="*/ 2147483646 w 588"/>
                <a:gd name="T5" fmla="*/ 2147483646 h 559"/>
                <a:gd name="T6" fmla="*/ 0 60000 65536"/>
                <a:gd name="T7" fmla="*/ 0 60000 65536"/>
                <a:gd name="T8" fmla="*/ 0 60000 65536"/>
                <a:gd name="T9" fmla="*/ 0 w 588"/>
                <a:gd name="T10" fmla="*/ 0 h 559"/>
                <a:gd name="T11" fmla="*/ 588 w 588"/>
                <a:gd name="T12" fmla="*/ 559 h 5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8" h="559">
                  <a:moveTo>
                    <a:pt x="0" y="559"/>
                  </a:moveTo>
                  <a:lnTo>
                    <a:pt x="588" y="0"/>
                  </a:lnTo>
                  <a:lnTo>
                    <a:pt x="520" y="5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36">
              <a:extLst>
                <a:ext uri="{FF2B5EF4-FFF2-40B4-BE49-F238E27FC236}">
                  <a16:creationId xmlns:a16="http://schemas.microsoft.com/office/drawing/2014/main" id="{6487F17C-F3D3-0647-94F4-BA5381B07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906" y="2919413"/>
              <a:ext cx="1387969" cy="29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Sister chromatids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aligned on metaphase plate</a:t>
              </a:r>
            </a:p>
          </p:txBody>
        </p:sp>
        <p:sp>
          <p:nvSpPr>
            <p:cNvPr id="11" name="TextBox 37">
              <a:extLst>
                <a:ext uri="{FF2B5EF4-FFF2-40B4-BE49-F238E27FC236}">
                  <a16:creationId xmlns:a16="http://schemas.microsoft.com/office/drawing/2014/main" id="{081667FA-FC29-3F4D-8B6F-0AC2AFAE0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1063" y="3043238"/>
              <a:ext cx="732164" cy="163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Spindle fibers</a:t>
              </a:r>
            </a:p>
          </p:txBody>
        </p:sp>
        <p:sp>
          <p:nvSpPr>
            <p:cNvPr id="12" name="TextBox 38">
              <a:extLst>
                <a:ext uri="{FF2B5EF4-FFF2-40B4-BE49-F238E27FC236}">
                  <a16:creationId xmlns:a16="http://schemas.microsoft.com/office/drawing/2014/main" id="{02936DE2-DD9A-EA4B-8EAE-F18588502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113" y="1422400"/>
              <a:ext cx="732164" cy="163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Spindle fibers</a:t>
              </a:r>
            </a:p>
          </p:txBody>
        </p:sp>
        <p:sp>
          <p:nvSpPr>
            <p:cNvPr id="13" name="TextBox 43">
              <a:extLst>
                <a:ext uri="{FF2B5EF4-FFF2-40B4-BE49-F238E27FC236}">
                  <a16:creationId xmlns:a16="http://schemas.microsoft.com/office/drawing/2014/main" id="{D40D174D-04D4-B849-B40B-2840E25D6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0963" y="1266825"/>
              <a:ext cx="850254" cy="163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Metaphase plate</a:t>
              </a:r>
            </a:p>
          </p:txBody>
        </p:sp>
        <p:sp>
          <p:nvSpPr>
            <p:cNvPr id="14" name="Line 196">
              <a:extLst>
                <a:ext uri="{FF2B5EF4-FFF2-40B4-BE49-F238E27FC236}">
                  <a16:creationId xmlns:a16="http://schemas.microsoft.com/office/drawing/2014/main" id="{D7DB720C-DCBE-9A46-B38B-35699FD44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913" y="1409700"/>
              <a:ext cx="0" cy="65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197">
              <a:extLst>
                <a:ext uri="{FF2B5EF4-FFF2-40B4-BE49-F238E27FC236}">
                  <a16:creationId xmlns:a16="http://schemas.microsoft.com/office/drawing/2014/main" id="{4EEF27BC-212A-7246-A509-715CB98F0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563" y="1473200"/>
              <a:ext cx="266700" cy="46038"/>
            </a:xfrm>
            <a:custGeom>
              <a:avLst/>
              <a:gdLst>
                <a:gd name="T0" fmla="*/ 0 w 280"/>
                <a:gd name="T1" fmla="*/ 2147483646 h 33"/>
                <a:gd name="T2" fmla="*/ 0 w 280"/>
                <a:gd name="T3" fmla="*/ 0 h 33"/>
                <a:gd name="T4" fmla="*/ 2147483646 w 280"/>
                <a:gd name="T5" fmla="*/ 0 h 33"/>
                <a:gd name="T6" fmla="*/ 2147483646 w 280"/>
                <a:gd name="T7" fmla="*/ 2147483646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33"/>
                <a:gd name="T14" fmla="*/ 280 w 280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33">
                  <a:moveTo>
                    <a:pt x="0" y="33"/>
                  </a:moveTo>
                  <a:lnTo>
                    <a:pt x="0" y="0"/>
                  </a:lnTo>
                  <a:lnTo>
                    <a:pt x="280" y="0"/>
                  </a:lnTo>
                  <a:lnTo>
                    <a:pt x="280" y="3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Line 34">
            <a:extLst>
              <a:ext uri="{FF2B5EF4-FFF2-40B4-BE49-F238E27FC236}">
                <a16:creationId xmlns:a16="http://schemas.microsoft.com/office/drawing/2014/main" id="{CD346340-8744-6649-8A4F-3BB52A21C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2336" y="2509839"/>
            <a:ext cx="592664" cy="1094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TextBox 38">
            <a:extLst>
              <a:ext uri="{FF2B5EF4-FFF2-40B4-BE49-F238E27FC236}">
                <a16:creationId xmlns:a16="http://schemas.microsoft.com/office/drawing/2014/main" id="{27DA995C-903C-D54E-929E-9873C7955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511524"/>
            <a:ext cx="91627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cs typeface="Arial" panose="020B0604020202020204" pitchFamily="34" charset="0"/>
              </a:rPr>
              <a:t>Centrosome</a:t>
            </a:r>
          </a:p>
        </p:txBody>
      </p:sp>
      <p:sp>
        <p:nvSpPr>
          <p:cNvPr id="24" name="Line 6">
            <a:extLst>
              <a:ext uri="{FF2B5EF4-FFF2-40B4-BE49-F238E27FC236}">
                <a16:creationId xmlns:a16="http://schemas.microsoft.com/office/drawing/2014/main" id="{3030B420-7183-8D4A-97D9-03B07418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8BA65D5-6E5C-984D-A358-24E1863AE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METAPHASE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8019189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 descr="An actual cell in metaphas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70C9FEF6-67C1-3C42-985A-34C43524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786"/>
            <a:ext cx="7345362" cy="1339850"/>
          </a:xfrm>
        </p:spPr>
        <p:txBody>
          <a:bodyPr>
            <a:normAutofit fontScale="90000"/>
          </a:bodyPr>
          <a:lstStyle/>
          <a:p>
            <a:pPr algn="l"/>
            <a:r>
              <a:rPr lang="en-US" sz="5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MITOSIS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Metaphase</a:t>
            </a:r>
            <a:b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2477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naphase is when sister chromatids are pulled apart"/>
          <p:cNvPicPr>
            <a:picLocks noChangeAspect="1"/>
          </p:cNvPicPr>
          <p:nvPr/>
        </p:nvPicPr>
        <p:blipFill rotWithShape="1">
          <a:blip r:embed="rId3"/>
          <a:srcRect l="21754" r="21305"/>
          <a:stretch/>
        </p:blipFill>
        <p:spPr>
          <a:xfrm>
            <a:off x="6248400" y="1525516"/>
            <a:ext cx="2819400" cy="4951484"/>
          </a:xfrm>
          <a:prstGeom prst="rect">
            <a:avLst/>
          </a:prstGeom>
        </p:spPr>
      </p:pic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371600"/>
            <a:ext cx="6477000" cy="48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</a:pPr>
            <a:r>
              <a:rPr lang="en-US" sz="3600" b="1" dirty="0">
                <a:solidFill>
                  <a:schemeClr val="tx1"/>
                </a:solidFill>
                <a:latin typeface="+mj-lt"/>
              </a:rPr>
              <a:t>Sister chromatids 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are pulled apart</a:t>
            </a:r>
          </a:p>
          <a:p>
            <a:pPr lvl="1">
              <a:lnSpc>
                <a:spcPct val="114000"/>
              </a:lnSpc>
              <a:buClr>
                <a:schemeClr val="tx1"/>
              </a:buClr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This is the actual DIVISON!</a:t>
            </a:r>
          </a:p>
          <a:p>
            <a:pPr marL="350838" lvl="1" indent="0">
              <a:lnSpc>
                <a:spcPct val="114000"/>
              </a:lnSpc>
              <a:buNone/>
            </a:pP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114000"/>
              </a:lnSpc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Newly separated 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sister chromatids 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migrate to opposite sides of the cell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CA401B6-DC2B-CE43-8BC6-9676F2678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8718620-18F5-AD46-BFF5-D8B2BA28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ANAPHASE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8310308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Anaphase">
            <a:extLst>
              <a:ext uri="{FF2B5EF4-FFF2-40B4-BE49-F238E27FC236}">
                <a16:creationId xmlns:a16="http://schemas.microsoft.com/office/drawing/2014/main" id="{BE397CA0-E038-E44A-A457-F066071975B9}"/>
              </a:ext>
            </a:extLst>
          </p:cNvPr>
          <p:cNvGrpSpPr/>
          <p:nvPr/>
        </p:nvGrpSpPr>
        <p:grpSpPr>
          <a:xfrm>
            <a:off x="2947782" y="1226145"/>
            <a:ext cx="3834018" cy="5467363"/>
            <a:chOff x="3198812" y="1084719"/>
            <a:chExt cx="2848689" cy="4205963"/>
          </a:xfrm>
        </p:grpSpPr>
        <p:pic>
          <p:nvPicPr>
            <p:cNvPr id="8" name="Picture 2" descr="W:\08VOL4\Graphics\Powerpoint\MH_DCM\MH_DCM-TEXTEDIT PROJECTS\McKINLEY_5e\Processed files\chapt02\chapt00_textedit\mck85278_02_20b.jpg">
              <a:extLst>
                <a:ext uri="{FF2B5EF4-FFF2-40B4-BE49-F238E27FC236}">
                  <a16:creationId xmlns:a16="http://schemas.microsoft.com/office/drawing/2014/main" id="{2A8F2EB0-C7DA-1348-B029-29BFB155B9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69" t="14464" r="34599"/>
            <a:stretch/>
          </p:blipFill>
          <p:spPr bwMode="auto">
            <a:xfrm>
              <a:off x="3198812" y="1217613"/>
              <a:ext cx="2447927" cy="390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 192">
              <a:extLst>
                <a:ext uri="{FF2B5EF4-FFF2-40B4-BE49-F238E27FC236}">
                  <a16:creationId xmlns:a16="http://schemas.microsoft.com/office/drawing/2014/main" id="{3D084089-0E3C-7945-B31D-B2D1A435C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788" y="4065588"/>
              <a:ext cx="1047750" cy="985837"/>
            </a:xfrm>
            <a:custGeom>
              <a:avLst/>
              <a:gdLst>
                <a:gd name="T0" fmla="*/ 0 w 660"/>
                <a:gd name="T1" fmla="*/ 2147483646 h 621"/>
                <a:gd name="T2" fmla="*/ 2147483646 w 660"/>
                <a:gd name="T3" fmla="*/ 2147483646 h 621"/>
                <a:gd name="T4" fmla="*/ 2147483646 w 660"/>
                <a:gd name="T5" fmla="*/ 0 h 621"/>
                <a:gd name="T6" fmla="*/ 0 60000 65536"/>
                <a:gd name="T7" fmla="*/ 0 60000 65536"/>
                <a:gd name="T8" fmla="*/ 0 60000 65536"/>
                <a:gd name="T9" fmla="*/ 0 w 660"/>
                <a:gd name="T10" fmla="*/ 0 h 621"/>
                <a:gd name="T11" fmla="*/ 660 w 660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0" h="621">
                  <a:moveTo>
                    <a:pt x="0" y="49"/>
                  </a:moveTo>
                  <a:lnTo>
                    <a:pt x="386" y="621"/>
                  </a:lnTo>
                  <a:lnTo>
                    <a:pt x="660" y="0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0" name="Line 196">
              <a:extLst>
                <a:ext uri="{FF2B5EF4-FFF2-40B4-BE49-F238E27FC236}">
                  <a16:creationId xmlns:a16="http://schemas.microsoft.com/office/drawing/2014/main" id="{62D91E5E-879E-B743-AA2D-FCBED9A67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675" y="3219450"/>
              <a:ext cx="0" cy="73501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1" name="Freeform 197">
              <a:extLst>
                <a:ext uri="{FF2B5EF4-FFF2-40B4-BE49-F238E27FC236}">
                  <a16:creationId xmlns:a16="http://schemas.microsoft.com/office/drawing/2014/main" id="{C2E94048-24DF-CC41-8B51-CE287618B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013" y="3952875"/>
              <a:ext cx="444500" cy="52388"/>
            </a:xfrm>
            <a:custGeom>
              <a:avLst/>
              <a:gdLst>
                <a:gd name="T0" fmla="*/ 0 w 280"/>
                <a:gd name="T1" fmla="*/ 2147483646 h 33"/>
                <a:gd name="T2" fmla="*/ 0 w 280"/>
                <a:gd name="T3" fmla="*/ 0 h 33"/>
                <a:gd name="T4" fmla="*/ 2147483646 w 280"/>
                <a:gd name="T5" fmla="*/ 0 h 33"/>
                <a:gd name="T6" fmla="*/ 2147483646 w 280"/>
                <a:gd name="T7" fmla="*/ 2147483646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33"/>
                <a:gd name="T14" fmla="*/ 280 w 280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33">
                  <a:moveTo>
                    <a:pt x="0" y="33"/>
                  </a:moveTo>
                  <a:lnTo>
                    <a:pt x="0" y="0"/>
                  </a:lnTo>
                  <a:lnTo>
                    <a:pt x="280" y="0"/>
                  </a:lnTo>
                  <a:lnTo>
                    <a:pt x="280" y="3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2" name="Freeform 192">
              <a:extLst>
                <a:ext uri="{FF2B5EF4-FFF2-40B4-BE49-F238E27FC236}">
                  <a16:creationId xmlns:a16="http://schemas.microsoft.com/office/drawing/2014/main" id="{74956219-8C16-1645-9119-DF2D11516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788" y="4065588"/>
              <a:ext cx="1047750" cy="985837"/>
            </a:xfrm>
            <a:custGeom>
              <a:avLst/>
              <a:gdLst>
                <a:gd name="T0" fmla="*/ 0 w 660"/>
                <a:gd name="T1" fmla="*/ 2147483646 h 621"/>
                <a:gd name="T2" fmla="*/ 2147483646 w 660"/>
                <a:gd name="T3" fmla="*/ 2147483646 h 621"/>
                <a:gd name="T4" fmla="*/ 2147483646 w 660"/>
                <a:gd name="T5" fmla="*/ 0 h 621"/>
                <a:gd name="T6" fmla="*/ 0 60000 65536"/>
                <a:gd name="T7" fmla="*/ 0 60000 65536"/>
                <a:gd name="T8" fmla="*/ 0 60000 65536"/>
                <a:gd name="T9" fmla="*/ 0 w 660"/>
                <a:gd name="T10" fmla="*/ 0 h 621"/>
                <a:gd name="T11" fmla="*/ 660 w 660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0" h="621">
                  <a:moveTo>
                    <a:pt x="0" y="49"/>
                  </a:moveTo>
                  <a:lnTo>
                    <a:pt x="386" y="621"/>
                  </a:lnTo>
                  <a:lnTo>
                    <a:pt x="66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3" name="Line 196">
              <a:extLst>
                <a:ext uri="{FF2B5EF4-FFF2-40B4-BE49-F238E27FC236}">
                  <a16:creationId xmlns:a16="http://schemas.microsoft.com/office/drawing/2014/main" id="{9604A8BC-FB2E-D243-A761-1EC3F7FE1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263" y="3219450"/>
              <a:ext cx="0" cy="735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4" name="Freeform 197">
              <a:extLst>
                <a:ext uri="{FF2B5EF4-FFF2-40B4-BE49-F238E27FC236}">
                  <a16:creationId xmlns:a16="http://schemas.microsoft.com/office/drawing/2014/main" id="{B2627A54-5411-704D-8B25-B4791B041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013" y="3952875"/>
              <a:ext cx="444500" cy="52388"/>
            </a:xfrm>
            <a:custGeom>
              <a:avLst/>
              <a:gdLst>
                <a:gd name="T0" fmla="*/ 0 w 280"/>
                <a:gd name="T1" fmla="*/ 2147483646 h 33"/>
                <a:gd name="T2" fmla="*/ 0 w 280"/>
                <a:gd name="T3" fmla="*/ 0 h 33"/>
                <a:gd name="T4" fmla="*/ 2147483646 w 280"/>
                <a:gd name="T5" fmla="*/ 0 h 33"/>
                <a:gd name="T6" fmla="*/ 2147483646 w 280"/>
                <a:gd name="T7" fmla="*/ 2147483646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33"/>
                <a:gd name="T14" fmla="*/ 280 w 280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33">
                  <a:moveTo>
                    <a:pt x="0" y="33"/>
                  </a:moveTo>
                  <a:lnTo>
                    <a:pt x="0" y="0"/>
                  </a:lnTo>
                  <a:lnTo>
                    <a:pt x="280" y="0"/>
                  </a:lnTo>
                  <a:lnTo>
                    <a:pt x="280" y="3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5" name="TextBox 35">
              <a:extLst>
                <a:ext uri="{FF2B5EF4-FFF2-40B4-BE49-F238E27FC236}">
                  <a16:creationId xmlns:a16="http://schemas.microsoft.com/office/drawing/2014/main" id="{F2DFACCD-8D09-4345-A900-A64B9FB4A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794" y="3056165"/>
              <a:ext cx="253370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Sister chromatids being pulled apart</a:t>
              </a:r>
            </a:p>
          </p:txBody>
        </p:sp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id="{F1792A86-4659-8845-BB33-86219BF0D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441" y="1084719"/>
              <a:ext cx="2174584" cy="16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Sister chromatids being pulled apart</a:t>
              </a:r>
            </a:p>
          </p:txBody>
        </p:sp>
        <p:sp>
          <p:nvSpPr>
            <p:cNvPr id="17" name="TextBox 45">
              <a:extLst>
                <a:ext uri="{FF2B5EF4-FFF2-40B4-BE49-F238E27FC236}">
                  <a16:creationId xmlns:a16="http://schemas.microsoft.com/office/drawing/2014/main" id="{B2010BA3-58CE-024B-8049-C8B5FDF1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763" y="5075238"/>
              <a:ext cx="10236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Spindle fibers</a:t>
              </a:r>
            </a:p>
          </p:txBody>
        </p:sp>
        <p:sp>
          <p:nvSpPr>
            <p:cNvPr id="18" name="Line 196">
              <a:extLst>
                <a:ext uri="{FF2B5EF4-FFF2-40B4-BE49-F238E27FC236}">
                  <a16:creationId xmlns:a16="http://schemas.microsoft.com/office/drawing/2014/main" id="{26600EC8-3113-B54E-9070-9A4D8FD6F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1252538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19" name="Freeform 197">
              <a:extLst>
                <a:ext uri="{FF2B5EF4-FFF2-40B4-BE49-F238E27FC236}">
                  <a16:creationId xmlns:a16="http://schemas.microsoft.com/office/drawing/2014/main" id="{6CF5F313-BA7D-0549-87F6-8A0C5D7C9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688" y="1333500"/>
              <a:ext cx="519112" cy="57150"/>
            </a:xfrm>
            <a:custGeom>
              <a:avLst/>
              <a:gdLst>
                <a:gd name="T0" fmla="*/ 0 w 280"/>
                <a:gd name="T1" fmla="*/ 2147483646 h 33"/>
                <a:gd name="T2" fmla="*/ 0 w 280"/>
                <a:gd name="T3" fmla="*/ 0 h 33"/>
                <a:gd name="T4" fmla="*/ 2147483646 w 280"/>
                <a:gd name="T5" fmla="*/ 0 h 33"/>
                <a:gd name="T6" fmla="*/ 2147483646 w 280"/>
                <a:gd name="T7" fmla="*/ 2147483646 h 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33"/>
                <a:gd name="T14" fmla="*/ 280 w 280"/>
                <a:gd name="T15" fmla="*/ 33 h 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33">
                  <a:moveTo>
                    <a:pt x="0" y="33"/>
                  </a:moveTo>
                  <a:lnTo>
                    <a:pt x="0" y="0"/>
                  </a:lnTo>
                  <a:lnTo>
                    <a:pt x="280" y="0"/>
                  </a:lnTo>
                  <a:lnTo>
                    <a:pt x="280" y="3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/>
            </a:p>
          </p:txBody>
        </p:sp>
      </p:grpSp>
      <p:sp>
        <p:nvSpPr>
          <p:cNvPr id="20" name="Line 6">
            <a:extLst>
              <a:ext uri="{FF2B5EF4-FFF2-40B4-BE49-F238E27FC236}">
                <a16:creationId xmlns:a16="http://schemas.microsoft.com/office/drawing/2014/main" id="{AB01D4DD-4AD2-514D-9BF3-B83A814AC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A11B70E-689A-F049-92BE-9E64EDCC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ANAPHASE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279207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An actual cell in anaphas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D06999-C6DD-1C45-91C0-11DA8C6C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45362" cy="1339850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MITOSIS: Anaphase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4940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7" name="Picture 2" descr="Chromosomes being pulled apart during anaphas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"/>
          <a:stretch/>
        </p:blipFill>
        <p:spPr bwMode="auto">
          <a:xfrm>
            <a:off x="1066800" y="1143000"/>
            <a:ext cx="7098094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6">
            <a:extLst>
              <a:ext uri="{FF2B5EF4-FFF2-40B4-BE49-F238E27FC236}">
                <a16:creationId xmlns:a16="http://schemas.microsoft.com/office/drawing/2014/main" id="{F3EFAB65-5B63-1544-8417-DE060B2B8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DA3795-3230-6644-A1E4-36E3470EEDF2}"/>
              </a:ext>
            </a:extLst>
          </p:cNvPr>
          <p:cNvSpPr txBox="1">
            <a:spLocks/>
          </p:cNvSpPr>
          <p:nvPr/>
        </p:nvSpPr>
        <p:spPr bwMode="auto">
          <a:xfrm>
            <a:off x="83116" y="-152400"/>
            <a:ext cx="808177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sz="5400" b="1" kern="0">
                <a:solidFill>
                  <a:schemeClr val="tx1"/>
                </a:solidFill>
                <a:ea typeface="ＭＳ Ｐゴシック" charset="0"/>
              </a:rPr>
              <a:t>MITOSIS: ANAPHASE</a:t>
            </a:r>
            <a:endParaRPr lang="en-US" sz="5400" kern="0" dirty="0"/>
          </a:p>
        </p:txBody>
      </p:sp>
    </p:spTree>
    <p:extLst>
      <p:ext uri="{BB962C8B-B14F-4D97-AF65-F5344CB8AC3E}">
        <p14:creationId xmlns:p14="http://schemas.microsoft.com/office/powerpoint/2010/main" val="19345690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n-dysjunction"/>
          <p:cNvPicPr>
            <a:picLocks noChangeAspect="1"/>
          </p:cNvPicPr>
          <p:nvPr/>
        </p:nvPicPr>
        <p:blipFill rotWithShape="1">
          <a:blip r:embed="rId3"/>
          <a:srcRect l="50370" t="6188" b="17028"/>
          <a:stretch/>
        </p:blipFill>
        <p:spPr>
          <a:xfrm>
            <a:off x="304800" y="1139588"/>
            <a:ext cx="8534400" cy="5413612"/>
          </a:xfrm>
          <a:prstGeom prst="rect">
            <a:avLst/>
          </a:prstGeom>
        </p:spPr>
      </p:pic>
      <p:sp>
        <p:nvSpPr>
          <p:cNvPr id="9" name="Line 6">
            <a:extLst>
              <a:ext uri="{FF2B5EF4-FFF2-40B4-BE49-F238E27FC236}">
                <a16:creationId xmlns:a16="http://schemas.microsoft.com/office/drawing/2014/main" id="{3C461FCD-D549-6343-B39A-9E39BD3DC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A2AA08-546B-BF48-8C92-03BB24176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ANAPHASE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25194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38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8392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Daughter nuclei form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Spindle disappears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+mj-lt"/>
              </a:rPr>
              <a:t>Nuclear membrane reforms over the chromosomes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  <a:latin typeface="+mj-lt"/>
              </a:rPr>
              <a:t>Cytokinesis</a:t>
            </a:r>
            <a:r>
              <a:rPr lang="en-US" sz="3600" dirty="0">
                <a:solidFill>
                  <a:schemeClr val="tx1"/>
                </a:solidFill>
                <a:latin typeface="+mj-lt"/>
              </a:rPr>
              <a:t> occurs – division of everything within the cytoplasm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D97454D0-6450-064C-BBF0-CFC11B25D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19B04A-9A04-2144-A777-2F4A803B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MITOSIS: TELOPHASE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9603278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 descr="Telophase">
            <a:extLst>
              <a:ext uri="{FF2B5EF4-FFF2-40B4-BE49-F238E27FC236}">
                <a16:creationId xmlns:a16="http://schemas.microsoft.com/office/drawing/2014/main" id="{A5AF7DE7-421F-364C-B8CA-83DFDE117EFA}"/>
              </a:ext>
            </a:extLst>
          </p:cNvPr>
          <p:cNvGrpSpPr/>
          <p:nvPr/>
        </p:nvGrpSpPr>
        <p:grpSpPr>
          <a:xfrm>
            <a:off x="2667000" y="1137992"/>
            <a:ext cx="3652145" cy="5643808"/>
            <a:chOff x="5707063" y="925513"/>
            <a:chExt cx="2543174" cy="4314422"/>
          </a:xfrm>
        </p:grpSpPr>
        <p:pic>
          <p:nvPicPr>
            <p:cNvPr id="32" name="Picture 2" descr="W:\08VOL4\Graphics\Powerpoint\MH_DCM\MH_DCM-TEXTEDIT PROJECTS\McKINLEY_5e\Processed files\chapt02\chapt00_textedit\mck85278_02_20b.jpg">
              <a:extLst>
                <a:ext uri="{FF2B5EF4-FFF2-40B4-BE49-F238E27FC236}">
                  <a16:creationId xmlns:a16="http://schemas.microsoft.com/office/drawing/2014/main" id="{829D9465-7D2C-1841-8154-6D864F077C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93" t="15959"/>
            <a:stretch/>
          </p:blipFill>
          <p:spPr bwMode="auto">
            <a:xfrm>
              <a:off x="5751512" y="1285875"/>
              <a:ext cx="2498725" cy="383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188">
              <a:extLst>
                <a:ext uri="{FF2B5EF4-FFF2-40B4-BE49-F238E27FC236}">
                  <a16:creationId xmlns:a16="http://schemas.microsoft.com/office/drawing/2014/main" id="{CA49D016-1818-C344-8633-7038FED68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977900"/>
              <a:ext cx="193675" cy="658813"/>
            </a:xfrm>
            <a:custGeom>
              <a:avLst/>
              <a:gdLst>
                <a:gd name="T0" fmla="*/ 2147483646 w 122"/>
                <a:gd name="T1" fmla="*/ 0 h 415"/>
                <a:gd name="T2" fmla="*/ 2147483646 w 122"/>
                <a:gd name="T3" fmla="*/ 0 h 415"/>
                <a:gd name="T4" fmla="*/ 0 w 122"/>
                <a:gd name="T5" fmla="*/ 2147483646 h 415"/>
                <a:gd name="T6" fmla="*/ 0 60000 65536"/>
                <a:gd name="T7" fmla="*/ 0 60000 65536"/>
                <a:gd name="T8" fmla="*/ 0 60000 65536"/>
                <a:gd name="T9" fmla="*/ 0 w 122"/>
                <a:gd name="T10" fmla="*/ 0 h 415"/>
                <a:gd name="T11" fmla="*/ 122 w 122"/>
                <a:gd name="T12" fmla="*/ 415 h 4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" h="415">
                  <a:moveTo>
                    <a:pt x="122" y="0"/>
                  </a:moveTo>
                  <a:lnTo>
                    <a:pt x="25" y="0"/>
                  </a:lnTo>
                  <a:lnTo>
                    <a:pt x="0" y="415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190">
              <a:extLst>
                <a:ext uri="{FF2B5EF4-FFF2-40B4-BE49-F238E27FC236}">
                  <a16:creationId xmlns:a16="http://schemas.microsoft.com/office/drawing/2014/main" id="{EC47E9A7-2589-9143-A77C-D1755F55A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1425" y="993775"/>
              <a:ext cx="244475" cy="617538"/>
            </a:xfrm>
            <a:custGeom>
              <a:avLst/>
              <a:gdLst>
                <a:gd name="T0" fmla="*/ 0 w 154"/>
                <a:gd name="T1" fmla="*/ 0 h 389"/>
                <a:gd name="T2" fmla="*/ 2147483646 w 154"/>
                <a:gd name="T3" fmla="*/ 0 h 389"/>
                <a:gd name="T4" fmla="*/ 2147483646 w 154"/>
                <a:gd name="T5" fmla="*/ 2147483646 h 389"/>
                <a:gd name="T6" fmla="*/ 0 60000 65536"/>
                <a:gd name="T7" fmla="*/ 0 60000 65536"/>
                <a:gd name="T8" fmla="*/ 0 60000 65536"/>
                <a:gd name="T9" fmla="*/ 0 w 154"/>
                <a:gd name="T10" fmla="*/ 0 h 389"/>
                <a:gd name="T11" fmla="*/ 154 w 154"/>
                <a:gd name="T12" fmla="*/ 389 h 3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" h="389">
                  <a:moveTo>
                    <a:pt x="0" y="0"/>
                  </a:moveTo>
                  <a:lnTo>
                    <a:pt x="96" y="0"/>
                  </a:lnTo>
                  <a:lnTo>
                    <a:pt x="154" y="389"/>
                  </a:lnTo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198">
              <a:extLst>
                <a:ext uri="{FF2B5EF4-FFF2-40B4-BE49-F238E27FC236}">
                  <a16:creationId xmlns:a16="http://schemas.microsoft.com/office/drawing/2014/main" id="{9023189C-6FBD-9840-AA66-7AC2E222F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3938" y="1357313"/>
              <a:ext cx="0" cy="67151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200">
              <a:extLst>
                <a:ext uri="{FF2B5EF4-FFF2-40B4-BE49-F238E27FC236}">
                  <a16:creationId xmlns:a16="http://schemas.microsoft.com/office/drawing/2014/main" id="{539E6599-7841-D34B-907D-6E8B48009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3313" y="2152650"/>
              <a:ext cx="234950" cy="52546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Line 202">
              <a:extLst>
                <a:ext uri="{FF2B5EF4-FFF2-40B4-BE49-F238E27FC236}">
                  <a16:creationId xmlns:a16="http://schemas.microsoft.com/office/drawing/2014/main" id="{4A8225D5-DDE2-B543-BEE0-903F4A31F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31038" y="3233738"/>
              <a:ext cx="0" cy="79692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Line 203">
              <a:extLst>
                <a:ext uri="{FF2B5EF4-FFF2-40B4-BE49-F238E27FC236}">
                  <a16:creationId xmlns:a16="http://schemas.microsoft.com/office/drawing/2014/main" id="{D2CBD8CF-561F-664D-A54C-A731381E4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2150" y="4632325"/>
              <a:ext cx="0" cy="41433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188">
              <a:extLst>
                <a:ext uri="{FF2B5EF4-FFF2-40B4-BE49-F238E27FC236}">
                  <a16:creationId xmlns:a16="http://schemas.microsoft.com/office/drawing/2014/main" id="{BE0B7051-A7B4-5A4E-801B-94BD3C3E5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788" y="977900"/>
              <a:ext cx="193675" cy="658813"/>
            </a:xfrm>
            <a:custGeom>
              <a:avLst/>
              <a:gdLst>
                <a:gd name="T0" fmla="*/ 2147483646 w 122"/>
                <a:gd name="T1" fmla="*/ 0 h 415"/>
                <a:gd name="T2" fmla="*/ 2147483646 w 122"/>
                <a:gd name="T3" fmla="*/ 0 h 415"/>
                <a:gd name="T4" fmla="*/ 0 w 122"/>
                <a:gd name="T5" fmla="*/ 2147483646 h 415"/>
                <a:gd name="T6" fmla="*/ 0 60000 65536"/>
                <a:gd name="T7" fmla="*/ 0 60000 65536"/>
                <a:gd name="T8" fmla="*/ 0 60000 65536"/>
                <a:gd name="T9" fmla="*/ 0 w 122"/>
                <a:gd name="T10" fmla="*/ 0 h 415"/>
                <a:gd name="T11" fmla="*/ 122 w 122"/>
                <a:gd name="T12" fmla="*/ 415 h 4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" h="415">
                  <a:moveTo>
                    <a:pt x="122" y="0"/>
                  </a:moveTo>
                  <a:lnTo>
                    <a:pt x="25" y="0"/>
                  </a:lnTo>
                  <a:lnTo>
                    <a:pt x="0" y="4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190">
              <a:extLst>
                <a:ext uri="{FF2B5EF4-FFF2-40B4-BE49-F238E27FC236}">
                  <a16:creationId xmlns:a16="http://schemas.microsoft.com/office/drawing/2014/main" id="{69973107-0998-2A4D-AAE0-E95B4020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013" y="993775"/>
              <a:ext cx="244475" cy="617538"/>
            </a:xfrm>
            <a:custGeom>
              <a:avLst/>
              <a:gdLst>
                <a:gd name="T0" fmla="*/ 0 w 154"/>
                <a:gd name="T1" fmla="*/ 0 h 389"/>
                <a:gd name="T2" fmla="*/ 2147483646 w 154"/>
                <a:gd name="T3" fmla="*/ 0 h 389"/>
                <a:gd name="T4" fmla="*/ 2147483646 w 154"/>
                <a:gd name="T5" fmla="*/ 2147483646 h 389"/>
                <a:gd name="T6" fmla="*/ 0 60000 65536"/>
                <a:gd name="T7" fmla="*/ 0 60000 65536"/>
                <a:gd name="T8" fmla="*/ 0 60000 65536"/>
                <a:gd name="T9" fmla="*/ 0 w 154"/>
                <a:gd name="T10" fmla="*/ 0 h 389"/>
                <a:gd name="T11" fmla="*/ 154 w 154"/>
                <a:gd name="T12" fmla="*/ 389 h 3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" h="389">
                  <a:moveTo>
                    <a:pt x="0" y="0"/>
                  </a:moveTo>
                  <a:lnTo>
                    <a:pt x="96" y="0"/>
                  </a:lnTo>
                  <a:lnTo>
                    <a:pt x="154" y="3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Line 198">
              <a:extLst>
                <a:ext uri="{FF2B5EF4-FFF2-40B4-BE49-F238E27FC236}">
                  <a16:creationId xmlns:a16="http://schemas.microsoft.com/office/drawing/2014/main" id="{017964F2-B764-8645-AE80-D4D29B700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3938" y="1357313"/>
              <a:ext cx="0" cy="671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200">
              <a:extLst>
                <a:ext uri="{FF2B5EF4-FFF2-40B4-BE49-F238E27FC236}">
                  <a16:creationId xmlns:a16="http://schemas.microsoft.com/office/drawing/2014/main" id="{2AB4F71E-99B1-B74B-A2CB-DD5F8967D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83313" y="2152650"/>
              <a:ext cx="234950" cy="525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Line 202">
              <a:extLst>
                <a:ext uri="{FF2B5EF4-FFF2-40B4-BE49-F238E27FC236}">
                  <a16:creationId xmlns:a16="http://schemas.microsoft.com/office/drawing/2014/main" id="{34C29992-4A35-1542-B82F-A48CEB74A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31038" y="3206750"/>
              <a:ext cx="0" cy="823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203">
              <a:extLst>
                <a:ext uri="{FF2B5EF4-FFF2-40B4-BE49-F238E27FC236}">
                  <a16:creationId xmlns:a16="http://schemas.microsoft.com/office/drawing/2014/main" id="{5760DBC7-8D92-E246-A522-2356751B3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3738" y="4632325"/>
              <a:ext cx="0" cy="412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4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6A9E5CAE-771B-2046-A3DB-2293447B1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6838" y="3043238"/>
              <a:ext cx="1095714" cy="164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Cytokinesis occurring</a:t>
              </a:r>
            </a:p>
          </p:txBody>
        </p:sp>
        <p:sp>
          <p:nvSpPr>
            <p:cNvPr id="46" name="TextBox 34">
              <a:extLst>
                <a:ext uri="{FF2B5EF4-FFF2-40B4-BE49-F238E27FC236}">
                  <a16:creationId xmlns:a16="http://schemas.microsoft.com/office/drawing/2014/main" id="{6AB9A56C-BD15-9D4D-918A-11D2C0464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063" y="2681288"/>
              <a:ext cx="1003065" cy="164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Single chromosome</a:t>
              </a:r>
            </a:p>
          </p:txBody>
        </p:sp>
        <p:sp>
          <p:nvSpPr>
            <p:cNvPr id="47" name="TextBox 40">
              <a:extLst>
                <a:ext uri="{FF2B5EF4-FFF2-40B4-BE49-F238E27FC236}">
                  <a16:creationId xmlns:a16="http://schemas.microsoft.com/office/drawing/2014/main" id="{DCE86D2E-D441-0141-BC7A-4EEB40D11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1513" y="925513"/>
              <a:ext cx="587819" cy="423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Re-forming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nuclear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 dirty="0">
                  <a:cs typeface="Arial" panose="020B0604020202020204" pitchFamily="34" charset="0"/>
                </a:rPr>
                <a:t>envelope</a:t>
              </a:r>
            </a:p>
          </p:txBody>
        </p:sp>
        <p:sp>
          <p:nvSpPr>
            <p:cNvPr id="48" name="TextBox 41">
              <a:extLst>
                <a:ext uri="{FF2B5EF4-FFF2-40B4-BE49-F238E27FC236}">
                  <a16:creationId xmlns:a16="http://schemas.microsoft.com/office/drawing/2014/main" id="{1EA4D798-452C-3C4E-8509-B801B5C1A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8" y="925513"/>
              <a:ext cx="827813" cy="294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Cleavage furrow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of cytokinesis</a:t>
              </a:r>
            </a:p>
          </p:txBody>
        </p:sp>
        <p:sp>
          <p:nvSpPr>
            <p:cNvPr id="49" name="TextBox 42">
              <a:extLst>
                <a:ext uri="{FF2B5EF4-FFF2-40B4-BE49-F238E27FC236}">
                  <a16:creationId xmlns:a16="http://schemas.microsoft.com/office/drawing/2014/main" id="{EE409F05-4981-7D4C-9426-DAB1AAFCB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4863" y="1204913"/>
              <a:ext cx="534239" cy="164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Nucleolus</a:t>
              </a:r>
            </a:p>
          </p:txBody>
        </p:sp>
        <p:sp>
          <p:nvSpPr>
            <p:cNvPr id="50" name="TextBox 44">
              <a:extLst>
                <a:ext uri="{FF2B5EF4-FFF2-40B4-BE49-F238E27FC236}">
                  <a16:creationId xmlns:a16="http://schemas.microsoft.com/office/drawing/2014/main" id="{C609C0A5-7CF8-1842-9FE1-226216F73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863" y="5075238"/>
              <a:ext cx="827813" cy="164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cs typeface="Arial" panose="020B0604020202020204" pitchFamily="34" charset="0"/>
                </a:rPr>
                <a:t>Cleavage furrow</a:t>
              </a:r>
            </a:p>
          </p:txBody>
        </p:sp>
      </p:grpSp>
      <p:sp>
        <p:nvSpPr>
          <p:cNvPr id="28" name="Line 6">
            <a:extLst>
              <a:ext uri="{FF2B5EF4-FFF2-40B4-BE49-F238E27FC236}">
                <a16:creationId xmlns:a16="http://schemas.microsoft.com/office/drawing/2014/main" id="{3CE7D255-1F0F-3B4E-A007-3E54ECEA6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717837D7-BB22-414E-B830-04AA252B7231}"/>
              </a:ext>
            </a:extLst>
          </p:cNvPr>
          <p:cNvSpPr txBox="1">
            <a:spLocks/>
          </p:cNvSpPr>
          <p:nvPr/>
        </p:nvSpPr>
        <p:spPr bwMode="auto">
          <a:xfrm>
            <a:off x="83116" y="-152400"/>
            <a:ext cx="824808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sz="5400" b="1" kern="0">
                <a:solidFill>
                  <a:schemeClr val="tx1"/>
                </a:solidFill>
                <a:ea typeface="ＭＳ Ｐゴシック" charset="0"/>
              </a:rPr>
              <a:t>MITOSIS: TELOPHASE</a:t>
            </a:r>
            <a:endParaRPr lang="en-US" sz="5400" kern="0" dirty="0"/>
          </a:p>
        </p:txBody>
      </p:sp>
    </p:spTree>
    <p:extLst>
      <p:ext uri="{BB962C8B-B14F-4D97-AF65-F5344CB8AC3E}">
        <p14:creationId xmlns:p14="http://schemas.microsoft.com/office/powerpoint/2010/main" val="25250571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15400" cy="3124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One cell division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Two daughter cells produced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Daughter cells are genetically </a:t>
            </a:r>
            <a:r>
              <a:rPr lang="en-US" sz="2800" b="1" dirty="0">
                <a:solidFill>
                  <a:schemeClr val="tx1"/>
                </a:solidFill>
                <a:latin typeface="+mj-lt"/>
              </a:rPr>
              <a:t>identical</a:t>
            </a:r>
          </a:p>
          <a:p>
            <a:pPr eaLnBrk="1" hangingPunct="1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Mitosis goes to great lengths to preserve genetic information!</a:t>
            </a:r>
          </a:p>
        </p:txBody>
      </p:sp>
      <p:grpSp>
        <p:nvGrpSpPr>
          <p:cNvPr id="4" name="Group 3" descr="Mitosis meme">
            <a:extLst>
              <a:ext uri="{FF2B5EF4-FFF2-40B4-BE49-F238E27FC236}">
                <a16:creationId xmlns:a16="http://schemas.microsoft.com/office/drawing/2014/main" id="{1A32C12A-7D29-7C41-A939-D5AECCF0CBF4}"/>
              </a:ext>
            </a:extLst>
          </p:cNvPr>
          <p:cNvGrpSpPr/>
          <p:nvPr/>
        </p:nvGrpSpPr>
        <p:grpSpPr>
          <a:xfrm>
            <a:off x="2171700" y="3816028"/>
            <a:ext cx="4876800" cy="3041972"/>
            <a:chOff x="1712388" y="1527014"/>
            <a:chExt cx="5719224" cy="3803972"/>
          </a:xfrm>
        </p:grpSpPr>
        <p:pic>
          <p:nvPicPr>
            <p:cNvPr id="5" name="Picture 3" descr="A person smiling for the camera&#10;&#10;Description generated with very high confidence">
              <a:extLst>
                <a:ext uri="{FF2B5EF4-FFF2-40B4-BE49-F238E27FC236}">
                  <a16:creationId xmlns:a16="http://schemas.microsoft.com/office/drawing/2014/main" id="{E5785643-8F2E-504A-9A61-4EE19D518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2388" y="1527014"/>
              <a:ext cx="5719224" cy="3803972"/>
            </a:xfrm>
            <a:prstGeom prst="rect">
              <a:avLst/>
            </a:prstGeom>
          </p:spPr>
        </p:pic>
        <p:pic>
          <p:nvPicPr>
            <p:cNvPr id="6" name="Picture 5" descr="A person smiling for the camera&#10;&#10;Description generated with very high confidence">
              <a:extLst>
                <a:ext uri="{FF2B5EF4-FFF2-40B4-BE49-F238E27FC236}">
                  <a16:creationId xmlns:a16="http://schemas.microsoft.com/office/drawing/2014/main" id="{63300E50-885E-9041-8CB7-B63E4796D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6041" r="72650" b="11939"/>
            <a:stretch/>
          </p:blipFill>
          <p:spPr>
            <a:xfrm>
              <a:off x="1712388" y="4873786"/>
              <a:ext cx="1564212" cy="457200"/>
            </a:xfrm>
            <a:prstGeom prst="rect">
              <a:avLst/>
            </a:prstGeom>
          </p:spPr>
        </p:pic>
      </p:grpSp>
      <p:sp>
        <p:nvSpPr>
          <p:cNvPr id="11" name="Line 6">
            <a:extLst>
              <a:ext uri="{FF2B5EF4-FFF2-40B4-BE49-F238E27FC236}">
                <a16:creationId xmlns:a16="http://schemas.microsoft.com/office/drawing/2014/main" id="{EA165EBF-ADF6-AF41-BE9A-87C47DD72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991C2D-CF09-AC40-A5E3-8E8E4A5F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" y="-152400"/>
            <a:ext cx="8875146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  <a:ea typeface="ＭＳ Ｐゴシック" charset="0"/>
              </a:rPr>
              <a:t>MITOSIS SUMMARY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303482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Telophase">
            <a:hlinkClick r:id="rId2" action="ppaction://hlinksldjump"/>
            <a:extLst>
              <a:ext uri="{FF2B5EF4-FFF2-40B4-BE49-F238E27FC236}">
                <a16:creationId xmlns:a16="http://schemas.microsoft.com/office/drawing/2014/main" id="{AE904CCD-D5A2-2F49-9BB9-1E765DA3E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18" t="15960" r="2769" b="51022"/>
          <a:stretch/>
        </p:blipFill>
        <p:spPr bwMode="auto">
          <a:xfrm>
            <a:off x="4762499" y="4156147"/>
            <a:ext cx="3314701" cy="2092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Anaphase">
            <a:hlinkClick r:id="rId2" action="ppaction://hlinksldjump"/>
            <a:extLst>
              <a:ext uri="{FF2B5EF4-FFF2-40B4-BE49-F238E27FC236}">
                <a16:creationId xmlns:a16="http://schemas.microsoft.com/office/drawing/2014/main" id="{C4A4109F-079C-B945-B516-7B7E0FFE17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t="14464" r="36797" b="48762"/>
          <a:stretch/>
        </p:blipFill>
        <p:spPr bwMode="auto">
          <a:xfrm>
            <a:off x="1042782" y="4065895"/>
            <a:ext cx="3072018" cy="2182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 descr="Metaphase">
            <a:hlinkClick r:id="rId4" action="ppaction://hlinksldjump"/>
            <a:extLst>
              <a:ext uri="{FF2B5EF4-FFF2-40B4-BE49-F238E27FC236}">
                <a16:creationId xmlns:a16="http://schemas.microsoft.com/office/drawing/2014/main" id="{EB220FF1-4391-8F4F-8C61-65E1E8F0B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0" r="75374" b="48751"/>
          <a:stretch/>
        </p:blipFill>
        <p:spPr bwMode="auto">
          <a:xfrm>
            <a:off x="1295400" y="1634671"/>
            <a:ext cx="2590800" cy="194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38" descr="Prophase">
            <a:hlinkClick r:id="rId2" action="ppaction://hlinksldjump"/>
            <a:extLst>
              <a:ext uri="{FF2B5EF4-FFF2-40B4-BE49-F238E27FC236}">
                <a16:creationId xmlns:a16="http://schemas.microsoft.com/office/drawing/2014/main" id="{FE585252-90F0-9742-AB1B-552E578305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8" t="15884" r="16407" b="44684"/>
          <a:stretch/>
        </p:blipFill>
        <p:spPr bwMode="auto">
          <a:xfrm>
            <a:off x="5181600" y="1447800"/>
            <a:ext cx="2438400" cy="253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743E350-2424-CD4B-B545-A626F53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727" y="603182"/>
            <a:ext cx="9143999" cy="1339850"/>
          </a:xfrm>
        </p:spPr>
        <p:txBody>
          <a:bodyPr>
            <a:noAutofit/>
          </a:bodyPr>
          <a:lstStyle/>
          <a:p>
            <a:r>
              <a:rPr lang="en-US" sz="4000" b="1" i="1" dirty="0">
                <a:solidFill>
                  <a:schemeClr val="tx1"/>
                </a:solidFill>
                <a:latin typeface="+mj-ea"/>
              </a:rPr>
              <a:t>Which image that accurately depicts Metaphase?</a:t>
            </a:r>
            <a:br>
              <a:rPr lang="en-US" sz="4000" b="1" i="1" dirty="0">
                <a:solidFill>
                  <a:schemeClr val="tx1"/>
                </a:solidFill>
                <a:latin typeface="+mj-ea"/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663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Telophase">
            <a:hlinkClick r:id="rId2" action="ppaction://hlinksldjump"/>
            <a:extLst>
              <a:ext uri="{FF2B5EF4-FFF2-40B4-BE49-F238E27FC236}">
                <a16:creationId xmlns:a16="http://schemas.microsoft.com/office/drawing/2014/main" id="{AE904CCD-D5A2-2F49-9BB9-1E765DA3E7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18" t="15960" r="2769" b="51022"/>
          <a:stretch/>
        </p:blipFill>
        <p:spPr bwMode="auto">
          <a:xfrm>
            <a:off x="4762499" y="4156147"/>
            <a:ext cx="3314701" cy="2092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Anaphase">
            <a:hlinkClick r:id="rId2" action="ppaction://hlinksldjump"/>
            <a:extLst>
              <a:ext uri="{FF2B5EF4-FFF2-40B4-BE49-F238E27FC236}">
                <a16:creationId xmlns:a16="http://schemas.microsoft.com/office/drawing/2014/main" id="{C4A4109F-079C-B945-B516-7B7E0FFE17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t="14464" r="36797" b="48762"/>
          <a:stretch/>
        </p:blipFill>
        <p:spPr bwMode="auto">
          <a:xfrm>
            <a:off x="1042782" y="4065895"/>
            <a:ext cx="3072018" cy="2182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 descr="Metaphase">
            <a:hlinkClick r:id="rId2" action="ppaction://hlinksldjump"/>
            <a:extLst>
              <a:ext uri="{FF2B5EF4-FFF2-40B4-BE49-F238E27FC236}">
                <a16:creationId xmlns:a16="http://schemas.microsoft.com/office/drawing/2014/main" id="{EB220FF1-4391-8F4F-8C61-65E1E8F0B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0" r="75374" b="48751"/>
          <a:stretch/>
        </p:blipFill>
        <p:spPr bwMode="auto">
          <a:xfrm>
            <a:off x="1295400" y="1634671"/>
            <a:ext cx="2590800" cy="194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38" descr="Prophase">
            <a:hlinkClick r:id="rId4" action="ppaction://hlinksldjump"/>
            <a:extLst>
              <a:ext uri="{FF2B5EF4-FFF2-40B4-BE49-F238E27FC236}">
                <a16:creationId xmlns:a16="http://schemas.microsoft.com/office/drawing/2014/main" id="{FE585252-90F0-9742-AB1B-552E578305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8" t="15884" r="16407" b="44684"/>
          <a:stretch/>
        </p:blipFill>
        <p:spPr bwMode="auto">
          <a:xfrm>
            <a:off x="5181600" y="1447800"/>
            <a:ext cx="2438400" cy="253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26328-D806-C643-9204-8CDA0873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1059"/>
            <a:ext cx="9144000" cy="1339850"/>
          </a:xfrm>
        </p:spPr>
        <p:txBody>
          <a:bodyPr>
            <a:noAutofit/>
          </a:bodyPr>
          <a:lstStyle/>
          <a:p>
            <a:r>
              <a:rPr lang="en-US" sz="4000" b="1" i="1" dirty="0">
                <a:solidFill>
                  <a:schemeClr val="tx1"/>
                </a:solidFill>
                <a:latin typeface="+mj-ea"/>
              </a:rPr>
              <a:t>Which image accurately depicts Prophase:</a:t>
            </a:r>
            <a:br>
              <a:rPr lang="en-US" sz="4000" b="1" i="1" dirty="0">
                <a:solidFill>
                  <a:schemeClr val="tx1"/>
                </a:solidFill>
                <a:latin typeface="+mj-ea"/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53084"/>
      </p:ext>
    </p:extLst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14203</TotalTime>
  <Words>2126</Words>
  <Application>Microsoft Macintosh PowerPoint</Application>
  <PresentationFormat>On-screen Show (4:3)</PresentationFormat>
  <Paragraphs>571</Paragraphs>
  <Slides>72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4" baseType="lpstr">
      <vt:lpstr>ＭＳ Ｐゴシック</vt:lpstr>
      <vt:lpstr>ＭＳ Ｐゴシック</vt:lpstr>
      <vt:lpstr>ヒラギノ角ゴ Pro W3</vt:lpstr>
      <vt:lpstr>Arial</vt:lpstr>
      <vt:lpstr>Calibri</vt:lpstr>
      <vt:lpstr>Helvetica</vt:lpstr>
      <vt:lpstr>Symbol</vt:lpstr>
      <vt:lpstr>Times</vt:lpstr>
      <vt:lpstr>Times New Roman</vt:lpstr>
      <vt:lpstr>Verdana</vt:lpstr>
      <vt:lpstr>Wingdings</vt:lpstr>
      <vt:lpstr>Eclipse</vt:lpstr>
      <vt:lpstr>Lecture 3: The Cell and Cell Division</vt:lpstr>
      <vt:lpstr>OVERVIEW</vt:lpstr>
      <vt:lpstr>THE CELL</vt:lpstr>
      <vt:lpstr>THE CELL</vt:lpstr>
      <vt:lpstr>THE CELL</vt:lpstr>
      <vt:lpstr>THE CELL</vt:lpstr>
      <vt:lpstr>INTERCELLULAR JUNCTIONS</vt:lpstr>
      <vt:lpstr>INTERCELLULAR JUNCTIONS</vt:lpstr>
      <vt:lpstr>INTERCELLULAR JUNCTIONS</vt:lpstr>
      <vt:lpstr>INTERCELLULAR JUNCTIONS</vt:lpstr>
      <vt:lpstr>INTERCELLULAR JUNCTIONS</vt:lpstr>
      <vt:lpstr>CELL CHANGES</vt:lpstr>
      <vt:lpstr>CELL CHANGES</vt:lpstr>
      <vt:lpstr>CELL CHANGES</vt:lpstr>
      <vt:lpstr>CELL CHANGES</vt:lpstr>
      <vt:lpstr>CELL CHANGES</vt:lpstr>
      <vt:lpstr>CELL CHANGES</vt:lpstr>
      <vt:lpstr>CELL DEATH</vt:lpstr>
      <vt:lpstr>THE CELL</vt:lpstr>
      <vt:lpstr>THE CELL</vt:lpstr>
      <vt:lpstr>CYTOPLASM: CYTOSOL</vt:lpstr>
      <vt:lpstr>CYTOPLASM: ORGANELLES</vt:lpstr>
      <vt:lpstr>ORGANELLES: MITOCHONDRIA</vt:lpstr>
      <vt:lpstr>ORGANELLES:  ENDOPLASMIC RETICULUM</vt:lpstr>
      <vt:lpstr>ORGANELLES:  ENDOPLASMIC RETICULUM</vt:lpstr>
      <vt:lpstr>ORGANELLES:  ENDOPLASMIC RETICULUM</vt:lpstr>
      <vt:lpstr>ORGANELLES: GOLGI APPARATUS</vt:lpstr>
      <vt:lpstr>ORGANELLES: LYSOSOMES</vt:lpstr>
      <vt:lpstr>ORGANELLES: PEROXISOMES</vt:lpstr>
      <vt:lpstr>ORGANELLES: RIBOSOMES</vt:lpstr>
      <vt:lpstr>ORGANELLES: CYTOSKELETON</vt:lpstr>
      <vt:lpstr>MITOTIC SPINDLE</vt:lpstr>
      <vt:lpstr>ORGANELLES: CYTOSKELETON</vt:lpstr>
      <vt:lpstr>CASE STUDY</vt:lpstr>
      <vt:lpstr>CASE STUDY</vt:lpstr>
      <vt:lpstr>CASE STUDY</vt:lpstr>
      <vt:lpstr>CASE STUDY</vt:lpstr>
      <vt:lpstr>ORGANELLES: NUCLEUS</vt:lpstr>
      <vt:lpstr>ORGANELLES: NUCLEUS</vt:lpstr>
      <vt:lpstr>ORGANELLES: NUCLEUS</vt:lpstr>
      <vt:lpstr>ORGANELLES: NUCLEUS</vt:lpstr>
      <vt:lpstr>ORGANELLES: NUCLEUS</vt:lpstr>
      <vt:lpstr>ORGANELLES: NUCLEUS</vt:lpstr>
      <vt:lpstr>ORGANELLES: NUCLEUS</vt:lpstr>
      <vt:lpstr>ORGANELLES: NUCLEUS</vt:lpstr>
      <vt:lpstr>ORGANELLES: NUCLEUS</vt:lpstr>
      <vt:lpstr>THE CELL CYCLE</vt:lpstr>
      <vt:lpstr>THE CELL CYCLE</vt:lpstr>
      <vt:lpstr>PowerPoint Presentation</vt:lpstr>
      <vt:lpstr>CHROMOSOMES</vt:lpstr>
      <vt:lpstr>Homologous Pairs vs. Sisters</vt:lpstr>
      <vt:lpstr>THE CELL CYCLE: INTERPHASE</vt:lpstr>
      <vt:lpstr>THE CELL CYCLE</vt:lpstr>
      <vt:lpstr>THE CELL CYCLE: MITOSIS</vt:lpstr>
      <vt:lpstr>THE CELL CYCLE: Mitosis</vt:lpstr>
      <vt:lpstr>MITOSIS: PROPHASE</vt:lpstr>
      <vt:lpstr>MITOSIS: Prophase</vt:lpstr>
      <vt:lpstr>MITOSIS: Prophase</vt:lpstr>
      <vt:lpstr>MITOSIS: PROPHASE</vt:lpstr>
      <vt:lpstr>MITOSIS: METAPHASE</vt:lpstr>
      <vt:lpstr>MITOSIS: METAPHASE</vt:lpstr>
      <vt:lpstr>MITOSIS: Metaphase </vt:lpstr>
      <vt:lpstr>MITOSIS: ANAPHASE</vt:lpstr>
      <vt:lpstr>MITOSIS: ANAPHASE</vt:lpstr>
      <vt:lpstr>MITOSIS: Anaphase</vt:lpstr>
      <vt:lpstr>PowerPoint Presentation</vt:lpstr>
      <vt:lpstr>MITOSIS: ANAPHASE</vt:lpstr>
      <vt:lpstr>MITOSIS: TELOPHASE</vt:lpstr>
      <vt:lpstr>PowerPoint Presentation</vt:lpstr>
      <vt:lpstr>MITOSIS SUMMARY</vt:lpstr>
      <vt:lpstr>Which image that accurately depicts Metaphase? </vt:lpstr>
      <vt:lpstr>Which image accurately depicts Prophase: 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Cellular Structure and Function</dc:title>
  <dc:creator>Patty B. Smith</dc:creator>
  <cp:lastModifiedBy>Amanda Bailey</cp:lastModifiedBy>
  <cp:revision>688</cp:revision>
  <dcterms:created xsi:type="dcterms:W3CDTF">2014-01-23T04:55:42Z</dcterms:created>
  <dcterms:modified xsi:type="dcterms:W3CDTF">2023-01-21T16:34:26Z</dcterms:modified>
</cp:coreProperties>
</file>